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6"/>
  </p:notesMasterIdLst>
  <p:sldIdLst>
    <p:sldId id="256" r:id="rId2"/>
    <p:sldId id="258" r:id="rId3"/>
    <p:sldId id="257" r:id="rId4"/>
    <p:sldId id="259" r:id="rId5"/>
    <p:sldId id="314" r:id="rId6"/>
    <p:sldId id="260" r:id="rId7"/>
    <p:sldId id="262" r:id="rId8"/>
    <p:sldId id="263" r:id="rId9"/>
    <p:sldId id="264" r:id="rId10"/>
    <p:sldId id="265" r:id="rId11"/>
    <p:sldId id="267" r:id="rId12"/>
    <p:sldId id="374" r:id="rId13"/>
    <p:sldId id="268" r:id="rId14"/>
    <p:sldId id="269" r:id="rId15"/>
    <p:sldId id="318" r:id="rId16"/>
    <p:sldId id="319" r:id="rId17"/>
    <p:sldId id="320" r:id="rId18"/>
    <p:sldId id="321" r:id="rId19"/>
    <p:sldId id="324" r:id="rId20"/>
    <p:sldId id="325" r:id="rId21"/>
    <p:sldId id="326" r:id="rId22"/>
    <p:sldId id="327" r:id="rId23"/>
    <p:sldId id="328" r:id="rId24"/>
    <p:sldId id="329" r:id="rId25"/>
    <p:sldId id="330" r:id="rId26"/>
    <p:sldId id="331" r:id="rId27"/>
    <p:sldId id="332" r:id="rId28"/>
    <p:sldId id="333" r:id="rId29"/>
    <p:sldId id="334" r:id="rId30"/>
    <p:sldId id="335" r:id="rId31"/>
    <p:sldId id="346" r:id="rId32"/>
    <p:sldId id="337" r:id="rId33"/>
    <p:sldId id="338" r:id="rId34"/>
    <p:sldId id="339" r:id="rId35"/>
    <p:sldId id="341" r:id="rId36"/>
    <p:sldId id="342" r:id="rId37"/>
    <p:sldId id="347" r:id="rId38"/>
    <p:sldId id="343" r:id="rId39"/>
    <p:sldId id="344" r:id="rId40"/>
    <p:sldId id="345" r:id="rId41"/>
    <p:sldId id="348" r:id="rId42"/>
    <p:sldId id="349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10" r:id="rId53"/>
    <p:sldId id="312" r:id="rId54"/>
    <p:sldId id="311" r:id="rId55"/>
    <p:sldId id="313" r:id="rId56"/>
    <p:sldId id="364" r:id="rId57"/>
    <p:sldId id="316" r:id="rId58"/>
    <p:sldId id="373" r:id="rId59"/>
    <p:sldId id="315" r:id="rId60"/>
    <p:sldId id="350" r:id="rId61"/>
    <p:sldId id="367" r:id="rId62"/>
    <p:sldId id="351" r:id="rId63"/>
    <p:sldId id="352" r:id="rId64"/>
    <p:sldId id="354" r:id="rId65"/>
    <p:sldId id="371" r:id="rId66"/>
    <p:sldId id="355" r:id="rId67"/>
    <p:sldId id="370" r:id="rId68"/>
    <p:sldId id="361" r:id="rId69"/>
    <p:sldId id="369" r:id="rId70"/>
    <p:sldId id="372" r:id="rId71"/>
    <p:sldId id="362" r:id="rId72"/>
    <p:sldId id="358" r:id="rId73"/>
    <p:sldId id="360" r:id="rId74"/>
    <p:sldId id="353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5D1A4B22-3FEC-4960-9A14-732DCFBB8079}">
          <p14:sldIdLst>
            <p14:sldId id="256"/>
          </p14:sldIdLst>
        </p14:section>
        <p14:section name="Insertion Sort" id="{F96A28F4-CF0A-461E-B6C2-2CA6E949160D}">
          <p14:sldIdLst>
            <p14:sldId id="258"/>
            <p14:sldId id="257"/>
            <p14:sldId id="259"/>
            <p14:sldId id="314"/>
          </p14:sldIdLst>
        </p14:section>
        <p14:section name="Shell Sort - basics" id="{3E6DCF57-D4D1-42BA-A67D-E609F5B07C46}">
          <p14:sldIdLst>
            <p14:sldId id="260"/>
            <p14:sldId id="262"/>
          </p14:sldIdLst>
        </p14:section>
        <p14:section name="shell sort's math visualizer" id="{F06E3354-0EFB-461F-9A85-26DCD76A3985}">
          <p14:sldIdLst>
            <p14:sldId id="263"/>
            <p14:sldId id="264"/>
            <p14:sldId id="265"/>
            <p14:sldId id="267"/>
            <p14:sldId id="374"/>
            <p14:sldId id="268"/>
            <p14:sldId id="269"/>
            <p14:sldId id="318"/>
            <p14:sldId id="319"/>
            <p14:sldId id="320"/>
            <p14:sldId id="321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46"/>
            <p14:sldId id="337"/>
            <p14:sldId id="338"/>
            <p14:sldId id="339"/>
            <p14:sldId id="341"/>
            <p14:sldId id="342"/>
            <p14:sldId id="347"/>
            <p14:sldId id="343"/>
            <p14:sldId id="344"/>
            <p14:sldId id="345"/>
            <p14:sldId id="348"/>
            <p14:sldId id="349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10"/>
            <p14:sldId id="312"/>
            <p14:sldId id="311"/>
          </p14:sldIdLst>
        </p14:section>
        <p14:section name="shell sort code" id="{40440B52-AE49-4623-B4BA-3A7681245854}">
          <p14:sldIdLst>
            <p14:sldId id="313"/>
            <p14:sldId id="364"/>
            <p14:sldId id="316"/>
            <p14:sldId id="373"/>
            <p14:sldId id="315"/>
            <p14:sldId id="350"/>
            <p14:sldId id="367"/>
            <p14:sldId id="351"/>
            <p14:sldId id="352"/>
            <p14:sldId id="354"/>
            <p14:sldId id="371"/>
            <p14:sldId id="355"/>
            <p14:sldId id="370"/>
            <p14:sldId id="361"/>
            <p14:sldId id="369"/>
            <p14:sldId id="372"/>
            <p14:sldId id="362"/>
            <p14:sldId id="358"/>
            <p14:sldId id="360"/>
            <p14:sldId id="35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2D3AB9-6D09-48F5-8ECE-C6DCB325CA74}" v="3193" dt="2026-02-12T04:31:15.9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84078" autoAdjust="0"/>
  </p:normalViewPr>
  <p:slideViewPr>
    <p:cSldViewPr snapToGrid="0" showGuides="1">
      <p:cViewPr varScale="1">
        <p:scale>
          <a:sx n="98" d="100"/>
          <a:sy n="98" d="100"/>
        </p:scale>
        <p:origin x="1236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8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Gap</a:t>
            </a:r>
            <a:r>
              <a:rPr lang="en-US" baseline="0" dirty="0"/>
              <a:t> Sequence’s Comparison (</a:t>
            </a:r>
            <a:r>
              <a:rPr lang="en-US" baseline="0" dirty="0" err="1"/>
              <a:t>ms</a:t>
            </a:r>
            <a:r>
              <a:rPr lang="en-US" baseline="0" dirty="0"/>
              <a:t>)</a:t>
            </a:r>
            <a:endParaRPr lang="en-GB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GB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Shell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Sheet1!$B$1:$E$1</c:f>
              <c:strCache>
                <c:ptCount val="4"/>
                <c:pt idx="0">
                  <c:v>N = 10^4</c:v>
                </c:pt>
                <c:pt idx="1">
                  <c:v>N = 10^5</c:v>
                </c:pt>
                <c:pt idx="2">
                  <c:v>N = 5*10^5</c:v>
                </c:pt>
                <c:pt idx="3">
                  <c:v>N = 10^6</c:v>
                </c:pt>
              </c:strCache>
            </c:strRef>
          </c:cat>
          <c:val>
            <c:numRef>
              <c:f>Sheet1!$B$2:$E$2</c:f>
              <c:numCache>
                <c:formatCode>General</c:formatCode>
                <c:ptCount val="4"/>
                <c:pt idx="0">
                  <c:v>1.67</c:v>
                </c:pt>
                <c:pt idx="1">
                  <c:v>31</c:v>
                </c:pt>
                <c:pt idx="2">
                  <c:v>197</c:v>
                </c:pt>
                <c:pt idx="3">
                  <c:v>440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616-4913-969F-4382D6C41BA6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Hibbard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Sheet1!$B$1:$E$1</c:f>
              <c:strCache>
                <c:ptCount val="4"/>
                <c:pt idx="0">
                  <c:v>N = 10^4</c:v>
                </c:pt>
                <c:pt idx="1">
                  <c:v>N = 10^5</c:v>
                </c:pt>
                <c:pt idx="2">
                  <c:v>N = 5*10^5</c:v>
                </c:pt>
                <c:pt idx="3">
                  <c:v>N = 10^6</c:v>
                </c:pt>
              </c:strCache>
            </c:strRef>
          </c:cat>
          <c:val>
            <c:numRef>
              <c:f>Sheet1!$B$3:$E$3</c:f>
              <c:numCache>
                <c:formatCode>General</c:formatCode>
                <c:ptCount val="4"/>
                <c:pt idx="0">
                  <c:v>1.79</c:v>
                </c:pt>
                <c:pt idx="1">
                  <c:v>31</c:v>
                </c:pt>
                <c:pt idx="2">
                  <c:v>203</c:v>
                </c:pt>
                <c:pt idx="3">
                  <c:v>450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616-4913-969F-4382D6C41BA6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Pratt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Sheet1!$B$1:$E$1</c:f>
              <c:strCache>
                <c:ptCount val="4"/>
                <c:pt idx="0">
                  <c:v>N = 10^4</c:v>
                </c:pt>
                <c:pt idx="1">
                  <c:v>N = 10^5</c:v>
                </c:pt>
                <c:pt idx="2">
                  <c:v>N = 5*10^5</c:v>
                </c:pt>
                <c:pt idx="3">
                  <c:v>N = 10^6</c:v>
                </c:pt>
              </c:strCache>
            </c:strRef>
          </c:cat>
          <c:val>
            <c:numRef>
              <c:f>Sheet1!$B$4:$E$4</c:f>
              <c:numCache>
                <c:formatCode>General</c:formatCode>
                <c:ptCount val="4"/>
                <c:pt idx="0">
                  <c:v>3.12</c:v>
                </c:pt>
                <c:pt idx="1">
                  <c:v>51</c:v>
                </c:pt>
                <c:pt idx="2">
                  <c:v>339</c:v>
                </c:pt>
                <c:pt idx="3">
                  <c:v>730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CD7-47C7-BCE6-00A84D815AE6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Sedgewick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Sheet1!$B$1:$E$1</c:f>
              <c:strCache>
                <c:ptCount val="4"/>
                <c:pt idx="0">
                  <c:v>N = 10^4</c:v>
                </c:pt>
                <c:pt idx="1">
                  <c:v>N = 10^5</c:v>
                </c:pt>
                <c:pt idx="2">
                  <c:v>N = 5*10^5</c:v>
                </c:pt>
                <c:pt idx="3">
                  <c:v>N = 10^6</c:v>
                </c:pt>
              </c:strCache>
            </c:strRef>
          </c:cat>
          <c:val>
            <c:numRef>
              <c:f>Sheet1!$B$5:$E$5</c:f>
              <c:numCache>
                <c:formatCode>General</c:formatCode>
                <c:ptCount val="4"/>
                <c:pt idx="0">
                  <c:v>1.43</c:v>
                </c:pt>
                <c:pt idx="1">
                  <c:v>22</c:v>
                </c:pt>
                <c:pt idx="2">
                  <c:v>135</c:v>
                </c:pt>
                <c:pt idx="3">
                  <c:v>290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314-4CFA-A24A-F47D3471DFAB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Ciura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Sheet1!$B$1:$E$1</c:f>
              <c:strCache>
                <c:ptCount val="4"/>
                <c:pt idx="0">
                  <c:v>N = 10^4</c:v>
                </c:pt>
                <c:pt idx="1">
                  <c:v>N = 10^5</c:v>
                </c:pt>
                <c:pt idx="2">
                  <c:v>N = 5*10^5</c:v>
                </c:pt>
                <c:pt idx="3">
                  <c:v>N = 10^6</c:v>
                </c:pt>
              </c:strCache>
            </c:strRef>
          </c:cat>
          <c:val>
            <c:numRef>
              <c:f>Sheet1!$B$6:$E$6</c:f>
              <c:numCache>
                <c:formatCode>General</c:formatCode>
                <c:ptCount val="4"/>
                <c:pt idx="0">
                  <c:v>1.38</c:v>
                </c:pt>
                <c:pt idx="1">
                  <c:v>25</c:v>
                </c:pt>
                <c:pt idx="2">
                  <c:v>151</c:v>
                </c:pt>
                <c:pt idx="3">
                  <c:v>320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314-4CFA-A24A-F47D3471DF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37645904"/>
        <c:axId val="2137646384"/>
      </c:lineChart>
      <c:catAx>
        <c:axId val="21376459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37646384"/>
        <c:crosses val="autoZero"/>
        <c:auto val="1"/>
        <c:lblAlgn val="ctr"/>
        <c:lblOffset val="100"/>
        <c:noMultiLvlLbl val="0"/>
      </c:catAx>
      <c:valAx>
        <c:axId val="21376463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376459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1DEAEB-F923-4226-8BE3-CFA9DCE2444E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6E8E1B-683D-4636-A679-4455696B47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103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3289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 err="1"/>
              <a:t>Mảng</a:t>
            </a:r>
            <a:r>
              <a:rPr lang="en-US" dirty="0"/>
              <a:t>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0.</a:t>
            </a:r>
          </a:p>
          <a:p>
            <a:pPr marL="228600" indent="-228600">
              <a:buAutoNum type="arabicPeriod"/>
            </a:pPr>
            <a:r>
              <a:rPr lang="vi-V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Trong các dãy con là lấy các vị trí đã sắp xếp (Ví dụ k[10] = 25 là giá trị khi chưa sắp xếp nhưng khi đã sắp xếp thì nó ở k[3] tức vị trí thứ 4).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02871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Khá</a:t>
            </a:r>
            <a:r>
              <a:rPr lang="en-US" dirty="0"/>
              <a:t> xa so </a:t>
            </a:r>
            <a:r>
              <a:rPr lang="en-US" dirty="0" err="1"/>
              <a:t>với</a:t>
            </a:r>
            <a:r>
              <a:rPr lang="en-US" dirty="0"/>
              <a:t> log^2(N) </a:t>
            </a:r>
            <a:r>
              <a:rPr lang="en-US" dirty="0" err="1"/>
              <a:t>đấy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4422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5F505-9C50-C2A1-9682-47556904D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BE719A-4489-9396-C87B-39463A39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E87C3657-E27F-FBAF-4FBD-588DAB35B2F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2∙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/>
                  <a:t>)</a:t>
                </a:r>
                <a:endParaRPr lang="en-US" b="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:r>
                  <a:rPr lang="en-US" b="0" i="0">
                    <a:latin typeface="Cambria Math" panose="02040503050406030204" pitchFamily="18" charset="0"/>
                  </a:rPr>
                  <a:t>1</a:t>
                </a:r>
                <a:r>
                  <a:rPr lang="en-US" dirty="0"/>
                  <a:t>s </a:t>
                </a:r>
                <a:r>
                  <a:rPr lang="en-US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≈</a:t>
                </a:r>
                <a:r>
                  <a:rPr lang="en-US" b="0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2∙10^8</a:t>
                </a:r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/>
                  <a:t>)</a:t>
                </a:r>
                <a:endParaRPr lang="en-US" b="0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9B55B-1E0B-791B-E301-4222E8E8D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39806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2∙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/>
                  <a:t>)</a:t>
                </a:r>
                <a:endParaRPr lang="en-US" b="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:r>
                  <a:rPr lang="en-US" b="0" i="0">
                    <a:latin typeface="Cambria Math" panose="02040503050406030204" pitchFamily="18" charset="0"/>
                  </a:rPr>
                  <a:t>1</a:t>
                </a:r>
                <a:r>
                  <a:rPr lang="en-US" dirty="0"/>
                  <a:t>s </a:t>
                </a:r>
                <a:r>
                  <a:rPr lang="en-US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≈</a:t>
                </a:r>
                <a:r>
                  <a:rPr lang="en-US" b="0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2∙10^8</a:t>
                </a:r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/>
                  <a:t>)</a:t>
                </a:r>
                <a:endParaRPr lang="en-US" b="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62117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−3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14:m>
                  <m:oMath xmlns:m="http://schemas.openxmlformats.org/officeDocument/2006/math">
                    <m:r>
                      <a:rPr lang="en-US" b="0" i="1" baseline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−3</m:t>
                        </m:r>
                      </m:e>
                    </m:d>
                  </m:oMath>
                </a14:m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−3)</m:t>
                    </m:r>
                  </m:oMath>
                </a14:m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≈79</m:t>
                    </m:r>
                  </m:oMath>
                </a14:m>
                <a:endParaRPr lang="en-GB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Khác </a:t>
                </a:r>
                <a:r>
                  <a:rPr lang="en-US" dirty="0" err="1"/>
                  <a:t>với</a:t>
                </a:r>
                <a:r>
                  <a:rPr lang="en-US" dirty="0"/>
                  <a:t> Shell,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tính</a:t>
                </a:r>
                <a:r>
                  <a:rPr lang="en-US" dirty="0"/>
                  <a:t> </a:t>
                </a:r>
                <a:r>
                  <a:rPr lang="en-US" dirty="0" err="1"/>
                  <a:t>chất</a:t>
                </a:r>
                <a:r>
                  <a:rPr lang="en-US" dirty="0"/>
                  <a:t> </a:t>
                </a:r>
                <a:r>
                  <a:rPr lang="en-US" dirty="0" err="1"/>
                  <a:t>nguyên</a:t>
                </a:r>
                <a:r>
                  <a:rPr lang="en-US" dirty="0"/>
                  <a:t> </a:t>
                </a:r>
                <a:r>
                  <a:rPr lang="en-US" dirty="0" err="1"/>
                  <a:t>tố</a:t>
                </a:r>
                <a:r>
                  <a:rPr lang="en-US" dirty="0"/>
                  <a:t> </a:t>
                </a:r>
                <a:r>
                  <a:rPr lang="en-US" dirty="0" err="1"/>
                  <a:t>cùng</a:t>
                </a:r>
                <a:r>
                  <a:rPr lang="en-US" dirty="0"/>
                  <a:t> </a:t>
                </a:r>
                <a:r>
                  <a:rPr lang="en-US" dirty="0" err="1"/>
                  <a:t>nhau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gcd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=1.</m:t>
                    </m:r>
                  </m:oMath>
                </a14:m>
                <a:endParaRPr lang="en-US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4636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22E14-6DD8-C4B2-82AD-B1B54B9FA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E8FA17-28DA-B47A-E9AF-6C33D5CDD5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5404627B-F0F6-9B03-0F66-10D961BF9D4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GB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5404627B-F0F6-9B03-0F66-10D961BF9D4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3A677C-F69F-5FEC-2DE6-8C7B9312B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12597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17672-458C-6E84-79CD-6D545390C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EABA53-027B-8B6C-18F9-A1595DB8C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9A97A72A-9525-CB5E-1257-DE4D60DADDC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9A97A72A-9525-CB5E-1257-DE4D60DADDC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34394-925E-90AF-5422-996C9EE9F9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15823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768C7-521A-425F-EE4A-255CFD0B5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BE7A8D-DE0B-B2B9-6F89-EB0BE198B5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4C176999-3C0D-F582-2D36-246FA8022BD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9A97A72A-9525-CB5E-1257-DE4D60DADDC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1D059-A8DA-9589-846A-D25EA08EDF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940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D8759-1D10-0035-761E-56C93E9235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8AF85B-D66E-7A90-9F89-3335B8F9D8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9A027-9404-5843-118A-4DD6C158F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22474-282B-F1A8-D0A5-F2985E846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EA35A3-CFA9-0AF6-DCCD-94572E1AA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9869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11ADE-1C8A-26B7-2543-B3AE36439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1FABB-4919-D35D-B516-0DFE4C319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44D4DC-2295-9413-A25D-27BBD22A1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B9DBF-6A0C-3C80-6FC4-9768F1EC6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5AD8A-66F9-6D64-BE5C-D253928A3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0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15CE1-A93C-46EB-106A-2BBCDAEB9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C4A956-436F-7FBA-0364-4EF70B7AA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DC012-68A4-8D92-D9BA-F17D256A4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E6E2E7-85E8-A152-5551-FCF248319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CA58D-CCDC-0D49-92EB-065EC44DD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991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D0F85-78DE-B96B-A688-8E717AA03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59DA9-37E1-B582-378F-7E952E8094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03349C-652D-6E2C-F435-EA0726BB5E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E4FC03-D1CA-5FA5-D2CD-09722544D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8F7156-976C-D306-9CE3-41FF90402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6369A0-04BB-5522-0529-63D481B2E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2696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14D2C-7F2C-5945-F05A-FEB54F5F6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0AB65D-8595-3930-3116-E0A9DEB17B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969E4D-8483-94E4-2BE5-C0D624B103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131963-8AF4-C031-749F-7CE2331BBF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07C639-BEF1-A095-BB5D-A16211E845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16CF6B-D3F0-B7E7-D46B-EB29F4F38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330F29-0308-D320-DF7A-82FA00777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84DD0F-736B-EB15-59C2-CD9A1E293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9966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7F227-7E01-2403-6002-FC25094ED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ABC696-797A-3B06-23A5-A83B7B2AF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2F6AB7-55C2-5A96-B4D1-3FE932CCF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B7D489-150C-556B-F433-6FA6400BD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2807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1C96C1-4867-C2F7-64B8-661AA498C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95A206-D97E-79F9-90FB-50995E11F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9197F-AF8A-99ED-16BE-591B3FBB2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8057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B9E60-E9E1-9F36-95FA-EFAFEDA62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76F76-6AB4-AE8D-85A2-A85EE7D8D8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5FE531-3729-AA6C-BCA0-AD34D5694E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A481D7-336B-9AF6-C092-619089DBF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42D8CC-2968-009A-EB99-D7A61B8C1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91BADD-6D3E-42AF-90BD-3ECFDC286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0322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F894D-0E46-C2A3-A54A-EC6E4FB0A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DDC247-17B7-8E94-D26D-7001D974C8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EF1747-2395-0C08-C533-68F064CD7C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368C87-EAA0-250D-329B-52E768A2B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BFB651-E9ED-0C52-B704-E10D15716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8C7BB-1C35-EA8F-5064-4644E055D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17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8CC69-00C5-98E9-1B5F-EFDFAB110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946A3F-9BF6-E17E-2B16-6A5FB77F41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36D4CD-4C4D-9754-B4EB-B86EB87E8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2AA2B-53D6-DC7F-07A4-F483B2C9A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AA4E1-7A4F-B5E5-34F5-865977C57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32636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9814D9-92F3-7DC4-EE42-BAA78DB417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ACA4C1-EF8B-0949-1237-69A9CE3189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3D388-DEB4-0F68-75BA-8AB3A621B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6DD612-97AB-BAF6-7415-D43B923FE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D80E4-A90E-EE5A-B85D-F7A97167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509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B1428C-D317-E003-C524-02F9159DE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79243C-9C6C-E30D-F6C2-B68C404EA3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10F53-9919-9AAD-35DC-F1EBA18941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ABC7D9-450E-4864-A5F6-E7AD5F4B662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87782-4693-25AA-A258-2249C7CE1A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76AA7-45BB-E463-4005-3BE7280C2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155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EF3E4-82B9-1823-4CF7-D0BE8BD75D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Sắp</a:t>
            </a:r>
            <a:r>
              <a:rPr lang="en-US" dirty="0"/>
              <a:t> </a:t>
            </a:r>
            <a:r>
              <a:rPr lang="en-US" dirty="0" err="1"/>
              <a:t>xếp</a:t>
            </a:r>
            <a:r>
              <a:rPr lang="en-US" dirty="0"/>
              <a:t> </a:t>
            </a:r>
            <a:r>
              <a:rPr lang="en-US" dirty="0" err="1"/>
              <a:t>chèn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bước</a:t>
            </a:r>
            <a:r>
              <a:rPr lang="en-US" dirty="0"/>
              <a:t>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dần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ubtitle 2">
                <a:extLst>
                  <a:ext uri="{FF2B5EF4-FFF2-40B4-BE49-F238E27FC236}">
                    <a16:creationId xmlns:a16="http://schemas.microsoft.com/office/drawing/2014/main" id="{6167B35D-72C7-3409-0DB2-FE84EC95FD35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/>
            <p:txBody>
              <a:bodyPr/>
              <a:lstStyle/>
              <a:p>
                <a:r>
                  <a:rPr lang="en-US" dirty="0"/>
                  <a:t>Lê Văn Minh</a:t>
                </a:r>
              </a:p>
              <a:p>
                <a:r>
                  <a:rPr lang="en-US" dirty="0" err="1"/>
                  <a:t>Trần</a:t>
                </a:r>
                <a:r>
                  <a:rPr lang="en-US" dirty="0"/>
                  <a:t> Hoàng Đức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dirty="0"/>
                  <a:t> Nguyễn Anh </a:t>
                </a:r>
                <a:r>
                  <a:rPr lang="en-GB" dirty="0" err="1"/>
                  <a:t>Phú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dirty="0"/>
                  <a:t> Lê Nguyễn Minh </a:t>
                </a:r>
                <a:r>
                  <a:rPr lang="en-GB" dirty="0" err="1"/>
                  <a:t>Khôi</a:t>
                </a:r>
                <a:endParaRPr lang="en-GB" dirty="0"/>
              </a:p>
              <a:p>
                <a:r>
                  <a:rPr lang="en-GB" dirty="0"/>
                  <a:t>Phạm Dương </a:t>
                </a:r>
                <a:r>
                  <a:rPr lang="en-GB" dirty="0" err="1"/>
                  <a:t>Toàn</a:t>
                </a:r>
                <a:r>
                  <a:rPr lang="en-GB" dirty="0"/>
                  <a:t> Long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Tô</a:t>
                </a:r>
                <a:r>
                  <a:rPr lang="en-GB" dirty="0"/>
                  <a:t> Anh </a:t>
                </a:r>
                <a:r>
                  <a:rPr lang="en-GB" dirty="0" err="1"/>
                  <a:t>Tần</a:t>
                </a:r>
                <a:endParaRPr lang="en-GB" dirty="0"/>
              </a:p>
            </p:txBody>
          </p:sp>
        </mc:Choice>
        <mc:Fallback xmlns="">
          <p:sp>
            <p:nvSpPr>
              <p:cNvPr id="3" name="Subtitle 2">
                <a:extLst>
                  <a:ext uri="{FF2B5EF4-FFF2-40B4-BE49-F238E27FC236}">
                    <a16:creationId xmlns:a16="http://schemas.microsoft.com/office/drawing/2014/main" id="{6167B35D-72C7-3409-0DB2-FE84EC95FD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blipFill>
                <a:blip r:embed="rId2"/>
                <a:stretch>
                  <a:fillRect t="-47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4044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56C8C-3E33-95CB-3E14-CABCC689D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 Insertion Sort</a:t>
            </a:r>
            <a:br>
              <a:rPr lang="en-GB" dirty="0"/>
            </a:br>
            <a:r>
              <a:rPr lang="en-US" i="1" dirty="0"/>
              <a:t>1.1.</a:t>
            </a:r>
            <a:r>
              <a:rPr lang="vi-VN" i="1" dirty="0"/>
              <a:t> Tóm tắt ý tưởng và thuật toán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49880B-50D9-53F1-975E-2BEB5A7062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r>
                  <a:rPr lang="vi-VN" dirty="0"/>
                  <a:t>Ý tưởng chính: ta sẽ sắp xếp lần lượt từng đoạn gồm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vi-VN" dirty="0"/>
                  <a:t> phần tử đầu tiên,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vi-VN" dirty="0"/>
                  <a:t> phần tử đầu tiên, ...,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vi-VN" dirty="0"/>
                  <a:t> phần tử.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Giả sử ta đã sắp xếp xong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vi-VN" dirty="0"/>
                  <a:t> phần tử của mảng. Để sắp xếp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vi-VN" dirty="0"/>
                  <a:t> phần tử đầu tiên, ta tìm vị trí phù hợp của phần tử thứ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vi-VN" dirty="0"/>
                  <a:t> và "chèn" nó vào đó.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49880B-50D9-53F1-975E-2BEB5A7062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1043" t="-2381" r="-15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930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5992E22-23B3-567D-7D56-BF5A9A7FD06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Cài </a:t>
                </a:r>
                <a:r>
                  <a:rPr lang="en-GB" dirty="0" err="1"/>
                  <a:t>đặt</a:t>
                </a:r>
                <a:r>
                  <a:rPr lang="en-GB" dirty="0"/>
                  <a:t> Insertion Sort (</a:t>
                </a:r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 </a:t>
                </a:r>
                <a:r>
                  <a:rPr lang="en-GB" dirty="0" err="1"/>
                  <a:t>trong</a:t>
                </a:r>
                <a:r>
                  <a:rPr lang="en-GB" dirty="0"/>
                  <a:t> </a:t>
                </a:r>
                <a:r>
                  <a:rPr lang="en-GB" dirty="0" err="1"/>
                  <a:t>đoạn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𝑙𝑒𝑓𝑡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𝑟𝑖𝑔h𝑡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GB" dirty="0"/>
                  <a:t>):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5992E22-23B3-567D-7D56-BF5A9A7FD0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903" b="-216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BE04F01-23F7-CE89-79AD-DD3AB79E3D09}"/>
              </a:ext>
            </a:extLst>
          </p:cNvPr>
          <p:cNvSpPr txBox="1"/>
          <p:nvPr/>
        </p:nvSpPr>
        <p:spPr>
          <a:xfrm>
            <a:off x="838200" y="1690688"/>
            <a:ext cx="10515600" cy="45243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void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InsertionSort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: 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IComparable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8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{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&amp;&amp;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8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CompareTo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en-US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vi-VN" sz="18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// arr[j] &gt; key tương đương với arr[j].CompareTo(key) &gt; 0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{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--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}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}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vi-VN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0537679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BA4EF-F5A9-F49B-C641-2FCDBCE6A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4550"/>
          </a:xfrm>
        </p:spPr>
        <p:txBody>
          <a:bodyPr/>
          <a:lstStyle/>
          <a:p>
            <a:r>
              <a:rPr lang="en-US" dirty="0"/>
              <a:t>1.2.</a:t>
            </a:r>
            <a:r>
              <a:rPr lang="vi-VN" dirty="0"/>
              <a:t> Ưu điểm: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A22283-CB76-8297-0669-0072FB12D8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69677"/>
                <a:ext cx="10515600" cy="2596550"/>
              </a:xfrm>
            </p:spPr>
            <p:txBody>
              <a:bodyPr/>
              <a:lstStyle/>
              <a:p>
                <a:r>
                  <a:rPr lang="en-GB" dirty="0" err="1"/>
                  <a:t>Dễ</a:t>
                </a:r>
                <a:r>
                  <a:rPr lang="en-GB" dirty="0"/>
                  <a:t> </a:t>
                </a:r>
                <a:r>
                  <a:rPr lang="en-GB" dirty="0" err="1"/>
                  <a:t>cài</a:t>
                </a:r>
                <a:r>
                  <a:rPr lang="en-GB" dirty="0"/>
                  <a:t> </a:t>
                </a:r>
                <a:r>
                  <a:rPr lang="en-GB" dirty="0" err="1"/>
                  <a:t>đặt</a:t>
                </a:r>
                <a:r>
                  <a:rPr lang="en-GB" dirty="0"/>
                  <a:t>.</a:t>
                </a:r>
              </a:p>
              <a:p>
                <a:r>
                  <a:rPr lang="en-GB" dirty="0" err="1"/>
                  <a:t>Tính</a:t>
                </a:r>
                <a:r>
                  <a:rPr lang="en-GB" dirty="0"/>
                  <a:t> </a:t>
                </a:r>
                <a:r>
                  <a:rPr lang="en-GB" dirty="0" err="1"/>
                  <a:t>ổn</a:t>
                </a:r>
                <a:r>
                  <a:rPr lang="en-GB" dirty="0"/>
                  <a:t> </a:t>
                </a:r>
                <a:r>
                  <a:rPr lang="en-GB" dirty="0" err="1"/>
                  <a:t>định</a:t>
                </a:r>
                <a:r>
                  <a:rPr lang="en-GB" dirty="0"/>
                  <a:t> </a:t>
                </a:r>
                <a:r>
                  <a:rPr lang="en-GB" dirty="0" err="1"/>
                  <a:t>cao</a:t>
                </a:r>
                <a:r>
                  <a:rPr lang="en-GB" dirty="0"/>
                  <a:t>.</a:t>
                </a:r>
              </a:p>
              <a:p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không</a:t>
                </a:r>
                <a:r>
                  <a:rPr lang="en-GB" dirty="0"/>
                  <a:t> </a:t>
                </a:r>
                <a:r>
                  <a:rPr lang="en-GB" dirty="0" err="1"/>
                  <a:t>gian</a:t>
                </a:r>
                <a:r>
                  <a:rPr lang="en-GB" dirty="0"/>
                  <a:t> </a:t>
                </a:r>
                <a:r>
                  <a:rPr lang="en-GB" dirty="0" err="1"/>
                  <a:t>hằng</a:t>
                </a:r>
                <a:r>
                  <a:rPr lang="en-GB" dirty="0"/>
                  <a:t> </a:t>
                </a:r>
                <a:r>
                  <a:rPr lang="en-GB" dirty="0" err="1"/>
                  <a:t>số</a:t>
                </a:r>
                <a:r>
                  <a:rPr lang="en-GB" dirty="0"/>
                  <a:t> -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sẽ</a:t>
                </a:r>
                <a:r>
                  <a:rPr lang="en-GB" dirty="0"/>
                  <a:t> </a:t>
                </a:r>
                <a:r>
                  <a:rPr lang="en-GB" dirty="0" err="1"/>
                  <a:t>sắp</a:t>
                </a:r>
                <a:r>
                  <a:rPr lang="en-GB" dirty="0"/>
                  <a:t> </a:t>
                </a:r>
                <a:r>
                  <a:rPr lang="en-GB" dirty="0" err="1"/>
                  <a:t>xếp</a:t>
                </a:r>
                <a:r>
                  <a:rPr lang="en-GB" dirty="0"/>
                  <a:t> </a:t>
                </a:r>
                <a:r>
                  <a:rPr lang="en-GB" dirty="0" err="1"/>
                  <a:t>cực</a:t>
                </a:r>
                <a:r>
                  <a:rPr lang="en-GB" dirty="0"/>
                  <a:t> </a:t>
                </a:r>
                <a:r>
                  <a:rPr lang="en-GB" dirty="0" err="1"/>
                  <a:t>nhanh</a:t>
                </a:r>
                <a:r>
                  <a:rPr lang="en-GB" dirty="0"/>
                  <a:t> </a:t>
                </a:r>
                <a:r>
                  <a:rPr lang="en-GB" dirty="0" err="1"/>
                  <a:t>nếu</a:t>
                </a:r>
                <a:r>
                  <a:rPr lang="en-GB" dirty="0"/>
                  <a:t> </a:t>
                </a:r>
                <a:r>
                  <a:rPr lang="en-GB" dirty="0" err="1"/>
                  <a:t>kích</a:t>
                </a:r>
                <a:r>
                  <a:rPr lang="en-GB" dirty="0"/>
                  <a:t> </a:t>
                </a:r>
                <a:r>
                  <a:rPr lang="en-GB" dirty="0" err="1"/>
                  <a:t>thước</a:t>
                </a:r>
                <a:r>
                  <a:rPr lang="en-GB" dirty="0"/>
                  <a:t> </a:t>
                </a:r>
                <a:r>
                  <a:rPr lang="en-GB" dirty="0" err="1"/>
                  <a:t>của</a:t>
                </a:r>
                <a:r>
                  <a:rPr lang="en-GB" dirty="0"/>
                  <a:t> </a:t>
                </a:r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trong</a:t>
                </a:r>
                <a:r>
                  <a:rPr lang="en-GB" dirty="0"/>
                  <a:t> </a:t>
                </a:r>
                <a:r>
                  <a:rPr lang="en-GB" dirty="0" err="1"/>
                  <a:t>khoảng</a:t>
                </a:r>
                <a:r>
                  <a:rPr lang="en-GB" dirty="0"/>
                  <a:t> 16 </a:t>
                </a:r>
                <a:r>
                  <a:rPr lang="en-GB" dirty="0" err="1"/>
                  <a:t>phần</a:t>
                </a:r>
                <a:r>
                  <a:rPr lang="en-GB" dirty="0"/>
                  <a:t> </a:t>
                </a:r>
                <a:r>
                  <a:rPr lang="en-GB" dirty="0" err="1"/>
                  <a:t>tử</a:t>
                </a:r>
                <a:r>
                  <a:rPr lang="en-GB" dirty="0"/>
                  <a:t> </a:t>
                </a:r>
                <a:r>
                  <a:rPr lang="en-GB" dirty="0" err="1"/>
                  <a:t>trở</a:t>
                </a:r>
                <a:r>
                  <a:rPr lang="en-GB" dirty="0"/>
                  <a:t> </a:t>
                </a:r>
                <a:r>
                  <a:rPr lang="en-GB" dirty="0" err="1"/>
                  <a:t>xuống</a:t>
                </a:r>
                <a:r>
                  <a:rPr lang="en-GB" dirty="0"/>
                  <a:t> </a:t>
                </a:r>
                <a:r>
                  <a:rPr lang="en-GB" dirty="0" err="1"/>
                  <a:t>hoặc</a:t>
                </a:r>
                <a:r>
                  <a:rPr lang="en-GB" dirty="0"/>
                  <a:t> </a:t>
                </a:r>
                <a:r>
                  <a:rPr lang="en-GB" dirty="0" err="1"/>
                  <a:t>là</a:t>
                </a:r>
                <a:r>
                  <a:rPr lang="en-GB" dirty="0"/>
                  <a:t> </a:t>
                </a:r>
                <a:r>
                  <a:rPr lang="en-GB" dirty="0" err="1"/>
                  <a:t>khi</a:t>
                </a:r>
                <a:r>
                  <a:rPr lang="en-GB" dirty="0"/>
                  <a:t> </a:t>
                </a:r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gần</a:t>
                </a:r>
                <a:r>
                  <a:rPr lang="en-GB" dirty="0"/>
                  <a:t> </a:t>
                </a:r>
                <a:r>
                  <a:rPr lang="en-GB" dirty="0" err="1"/>
                  <a:t>như</a:t>
                </a:r>
                <a:r>
                  <a:rPr lang="en-GB" dirty="0"/>
                  <a:t> </a:t>
                </a:r>
                <a:r>
                  <a:rPr lang="en-GB" dirty="0" err="1"/>
                  <a:t>đã</a:t>
                </a:r>
                <a:r>
                  <a:rPr lang="en-GB" dirty="0"/>
                  <a:t> </a:t>
                </a:r>
                <a:r>
                  <a:rPr lang="en-GB" dirty="0" err="1"/>
                  <a:t>sắp</a:t>
                </a:r>
                <a:r>
                  <a:rPr lang="en-GB" dirty="0"/>
                  <a:t> </a:t>
                </a:r>
                <a:r>
                  <a:rPr lang="en-GB" dirty="0" err="1"/>
                  <a:t>xếp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A22283-CB76-8297-0669-0072FB12D8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69677"/>
                <a:ext cx="10515600" cy="2596550"/>
              </a:xfrm>
              <a:blipFill>
                <a:blip r:embed="rId3"/>
                <a:stretch>
                  <a:fillRect l="-1043" t="-3991" r="-11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40F32EA1-F322-6D47-23CB-1F1C73ED4836}"/>
              </a:ext>
            </a:extLst>
          </p:cNvPr>
          <p:cNvSpPr txBox="1">
            <a:spLocks/>
          </p:cNvSpPr>
          <p:nvPr/>
        </p:nvSpPr>
        <p:spPr>
          <a:xfrm>
            <a:off x="843954" y="3450503"/>
            <a:ext cx="10515600" cy="7045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i="1" dirty="0"/>
              <a:t>1.3.</a:t>
            </a:r>
            <a:r>
              <a:rPr lang="vi-VN" i="1" dirty="0"/>
              <a:t> Nhược điểm: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BE338005-D50B-A9A2-F7F2-FE5AC8B75BC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3954" y="4155054"/>
                <a:ext cx="10515600" cy="259655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Độ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thời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 </a:t>
                </a:r>
                <a:r>
                  <a:rPr lang="en-US" dirty="0" err="1"/>
                  <a:t>cao</a:t>
                </a:r>
                <a:r>
                  <a:rPr lang="en-US" dirty="0"/>
                  <a:t> </a:t>
                </a:r>
                <a:r>
                  <a:rPr lang="en-US" dirty="0" err="1"/>
                  <a:t>trong</a:t>
                </a:r>
                <a:r>
                  <a:rPr lang="en-US" dirty="0"/>
                  <a:t> </a:t>
                </a:r>
                <a:r>
                  <a:rPr lang="en-US" dirty="0" err="1"/>
                  <a:t>trường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bình</a:t>
                </a:r>
                <a:r>
                  <a:rPr lang="en-US" dirty="0"/>
                  <a:t> </a:t>
                </a:r>
                <a:r>
                  <a:rPr lang="en-US" dirty="0" err="1"/>
                  <a:t>và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-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0" dirty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BE338005-D50B-A9A2-F7F2-FE5AC8B75B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954" y="4155054"/>
                <a:ext cx="10515600" cy="2596550"/>
              </a:xfrm>
              <a:prstGeom prst="rect">
                <a:avLst/>
              </a:prstGeom>
              <a:blipFill>
                <a:blip r:embed="rId4"/>
                <a:stretch>
                  <a:fillRect l="-1043" t="-42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9596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BE8A5E-60F1-CF8C-A733-FE15D275C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</a:t>
            </a:r>
            <a:r>
              <a:rPr lang="en-GB" dirty="0" err="1"/>
              <a:t>Sự</a:t>
            </a:r>
            <a:r>
              <a:rPr lang="en-GB" dirty="0"/>
              <a:t> </a:t>
            </a:r>
            <a:r>
              <a:rPr lang="en-GB" dirty="0" err="1"/>
              <a:t>ra</a:t>
            </a:r>
            <a:r>
              <a:rPr lang="en-GB" dirty="0"/>
              <a:t> </a:t>
            </a:r>
            <a:r>
              <a:rPr lang="en-GB" dirty="0" err="1"/>
              <a:t>đời</a:t>
            </a:r>
            <a:r>
              <a:rPr lang="en-GB" dirty="0"/>
              <a:t> </a:t>
            </a:r>
            <a:r>
              <a:rPr lang="en-GB" dirty="0" err="1"/>
              <a:t>của</a:t>
            </a:r>
            <a:r>
              <a:rPr lang="en-GB" dirty="0"/>
              <a:t> Shell Sort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5800019-2584-E1B1-D97B-58F30784C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4251"/>
            <a:ext cx="10515600" cy="4351338"/>
          </a:xfrm>
        </p:spPr>
        <p:txBody>
          <a:bodyPr/>
          <a:lstStyle/>
          <a:p>
            <a:r>
              <a:rPr lang="vi-VN" dirty="0"/>
              <a:t>Nhược điểm </a:t>
            </a:r>
            <a:r>
              <a:rPr lang="en-US" dirty="0" err="1"/>
              <a:t>khác</a:t>
            </a:r>
            <a:r>
              <a:rPr lang="en-US" dirty="0"/>
              <a:t> </a:t>
            </a:r>
            <a:r>
              <a:rPr lang="vi-VN" dirty="0"/>
              <a:t>của thuật toán Insertion Sort thể hiện khi mà ta luôn phải chèn một khoá vào vị trí gần đầu dãy.</a:t>
            </a:r>
            <a:endParaRPr lang="en-US" dirty="0"/>
          </a:p>
          <a:p>
            <a:r>
              <a:rPr lang="en-US" dirty="0" err="1"/>
              <a:t>Năm</a:t>
            </a:r>
            <a:r>
              <a:rPr lang="en-US" dirty="0"/>
              <a:t> 1959, Donald L. Shell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đưa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sắp</a:t>
            </a:r>
            <a:r>
              <a:rPr lang="en-US" dirty="0"/>
              <a:t> </a:t>
            </a:r>
            <a:r>
              <a:rPr lang="en-US" dirty="0" err="1"/>
              <a:t>xếp</a:t>
            </a:r>
            <a:r>
              <a:rPr lang="en-US" dirty="0"/>
              <a:t> </a:t>
            </a:r>
            <a:r>
              <a:rPr lang="en-US" dirty="0" err="1"/>
              <a:t>chèn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bước</a:t>
            </a:r>
            <a:r>
              <a:rPr lang="en-US" dirty="0"/>
              <a:t>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dần</a:t>
            </a:r>
            <a:r>
              <a:rPr lang="en-US" dirty="0"/>
              <a:t>, hay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gọi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Shell Sort </a:t>
            </a:r>
            <a:r>
              <a:rPr lang="en-US" dirty="0" err="1"/>
              <a:t>nhằm</a:t>
            </a:r>
            <a:r>
              <a:rPr lang="en-US" dirty="0"/>
              <a:t> </a:t>
            </a:r>
            <a:r>
              <a:rPr lang="en-US" dirty="0" err="1"/>
              <a:t>khắc</a:t>
            </a:r>
            <a:r>
              <a:rPr lang="en-US" dirty="0"/>
              <a:t> </a:t>
            </a:r>
            <a:r>
              <a:rPr lang="en-US" dirty="0" err="1"/>
              <a:t>phục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 </a:t>
            </a:r>
            <a:r>
              <a:rPr lang="en-US" dirty="0" err="1"/>
              <a:t>yếu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Insertion Sort.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7743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B562F-7B07-1386-6C18-2B36C8E48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dirty="0"/>
              <a:t>2. THUẬT TOÁN SHELL SORT</a:t>
            </a:r>
            <a:br>
              <a:rPr lang="vi-VN" b="0" dirty="0">
                <a:effectLst/>
              </a:rPr>
            </a:br>
            <a:r>
              <a:rPr lang="vi-VN" dirty="0"/>
              <a:t>2.1. Tư tưởng thuật toán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AE7E5-01B4-E318-6CF3-3EB705981B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1503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vi-VN" dirty="0"/>
                  <a:t>Với một bước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vi-VN" dirty="0"/>
                  <a:t>, áp dụng thuật toán sắp xếp kiểu chèn từng dãy con độc lập để làm mịn dần dãy khoá chính. Rồi lại làm tương tự đối với bước h thấp hơn, cho tới khi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vi-VN" dirty="0"/>
                  <a:t> thì ta được dãy khoá sắp xếp.</a:t>
                </a:r>
                <a:endParaRPr lang="vi-VN" b="0" dirty="0">
                  <a:effectLst/>
                </a:endParaRPr>
              </a:p>
              <a:p>
                <a:pPr marL="0" indent="0">
                  <a:buNone/>
                </a:pPr>
                <a:r>
                  <a:rPr lang="vi-VN" dirty="0"/>
                  <a:t>Xét dãy khoá: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. Với một số nguyên dương h: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vi-VN" dirty="0"/>
                  <a:t>, ta có thể chia dãy đó thành h dãy con:</a:t>
                </a:r>
                <a:endParaRPr lang="vi-VN" b="0" dirty="0">
                  <a:effectLst/>
                </a:endParaRPr>
              </a:p>
              <a:p>
                <a:r>
                  <a:rPr lang="en-US" dirty="0"/>
                  <a:t>    </a:t>
                </a:r>
                <a:r>
                  <a:rPr lang="vi-VN" dirty="0"/>
                  <a:t>Dãy con 1: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,...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   Dãy con 2: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1+2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,...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   ...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   Dãy con h: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,...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AE7E5-01B4-E318-6CF3-3EB705981B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1503"/>
                <a:ext cx="10515600" cy="4351338"/>
              </a:xfrm>
              <a:blipFill>
                <a:blip r:embed="rId2"/>
                <a:stretch>
                  <a:fillRect l="-1217" t="-3501" r="-11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3339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E8B9429-C863-4D6C-76BB-C801D44ECF8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515600" cy="799441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Ví dụ: dãy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[62, 83, 18, 53, 7, 17, 95, 86, 47, 69, 25, 28]</m:t>
                    </m:r>
                  </m:oMath>
                </a14:m>
                <a:r>
                  <a:rPr lang="pt-B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=12</m:t>
                    </m:r>
                  </m:oMath>
                </a14:m>
                <a:r>
                  <a:rPr lang="pt-B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Chọn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5</m:t>
                    </m:r>
                  </m:oMath>
                </a14:m>
                <a:r>
                  <a:rPr lang="pt-B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ta có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pt-B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dãy con:</a:t>
                </a:r>
                <a:endParaRPr lang="en-GB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E8B9429-C863-4D6C-76BB-C801D44ECF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515600" cy="799441"/>
              </a:xfrm>
              <a:blipFill>
                <a:blip r:embed="rId3"/>
                <a:stretch>
                  <a:fillRect l="-928" t="-7634" b="-1450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16773FF-5063-6F0A-473D-88454D44B3A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2146794"/>
                  </p:ext>
                </p:extLst>
              </p:nvPr>
            </p:nvGraphicFramePr>
            <p:xfrm>
              <a:off x="838199" y="1549669"/>
              <a:ext cx="10515601" cy="2209800"/>
            </p:xfrm>
            <a:graphic>
              <a:graphicData uri="http://schemas.openxmlformats.org/drawingml/2006/table">
                <a:tbl>
                  <a:tblPr/>
                  <a:tblGrid>
                    <a:gridCol w="2188525">
                      <a:extLst>
                        <a:ext uri="{9D8B030D-6E8A-4147-A177-3AD203B41FA5}">
                          <a16:colId xmlns:a16="http://schemas.microsoft.com/office/drawing/2014/main" val="402675120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69601697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11332114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3056669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04864037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342285931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55318230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424738771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275603743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87017295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65402214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339109412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396564617"/>
                        </a:ext>
                      </a:extLst>
                    </a:gridCol>
                  </a:tblGrid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Dãy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khoá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chính</a:t>
                          </a: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62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83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53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17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95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86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47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69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28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03417232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Dãy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 con </a:t>
                          </a:r>
                          <a14:m>
                            <m:oMath xmlns:m="http://schemas.openxmlformats.org/officeDocument/2006/math">
                              <m:r>
                                <a:rPr lang="en-GB" sz="20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[7]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[1]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[3]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8922799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Dãy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 con </a:t>
                          </a:r>
                          <a14:m>
                            <m:oMath xmlns:m="http://schemas.openxmlformats.org/officeDocument/2006/math">
                              <m:r>
                                <a:rPr lang="en-GB" sz="20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oMath>
                          </a14:m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[9]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[11]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[4]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446952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16773FF-5063-6F0A-473D-88454D44B3A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2146794"/>
                  </p:ext>
                </p:extLst>
              </p:nvPr>
            </p:nvGraphicFramePr>
            <p:xfrm>
              <a:off x="838199" y="1549669"/>
              <a:ext cx="10515601" cy="2209800"/>
            </p:xfrm>
            <a:graphic>
              <a:graphicData uri="http://schemas.openxmlformats.org/drawingml/2006/table">
                <a:tbl>
                  <a:tblPr/>
                  <a:tblGrid>
                    <a:gridCol w="2188525">
                      <a:extLst>
                        <a:ext uri="{9D8B030D-6E8A-4147-A177-3AD203B41FA5}">
                          <a16:colId xmlns:a16="http://schemas.microsoft.com/office/drawing/2014/main" val="402675120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69601697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11332114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3056669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04864037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342285931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55318230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424738771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275603743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87017295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65402214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339109412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396564617"/>
                        </a:ext>
                      </a:extLst>
                    </a:gridCol>
                  </a:tblGrid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Dãy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khoá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chính</a:t>
                          </a: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15789" t="-826" r="-11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415789" t="-826" r="-10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5789" t="-826" r="-9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615789" t="-826" r="-8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715789" t="-826" r="-7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5789" t="-826" r="-6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15789" t="-826" r="-5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24779" t="-826" r="-405310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4912" t="-826" r="-301754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214912" t="-826" r="-201754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314912" t="-826" r="-101754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14912" t="-826" r="-1754" b="-2016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3417232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79" t="-100826" r="-38133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15789" t="-100826" r="-11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415789" t="-100826" r="-10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5789" t="-100826" r="-9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615789" t="-100826" r="-8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715789" t="-100826" r="-7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5789" t="-100826" r="-6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15789" t="-100826" r="-5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24779" t="-100826" r="-405310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4912" t="-100826" r="-301754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214912" t="-100826" r="-201754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314912" t="-100826" r="-101754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14912" t="-100826" r="-1754" b="-1016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922799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79" t="-200826" r="-38133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15789" t="-200826" r="-11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415789" t="-200826" r="-10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5789" t="-200826" r="-9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615789" t="-200826" r="-8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715789" t="-200826" r="-7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5789" t="-200826" r="-6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15789" t="-200826" r="-5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24779" t="-200826" r="-405310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4912" t="-200826" r="-301754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214912" t="-200826" r="-201754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314912" t="-200826" r="-101754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14912" t="-200826" r="-1754" b="-16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446952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81F6FFCD-E341-3132-AF7B-E9B11E0091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59468"/>
                <a:ext cx="10515600" cy="3098531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d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h𝑖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ệ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ạ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=17=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𝑠𝑎𝑢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ắ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ế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400" dirty="0"/>
              </a:p>
              <a:p>
                <a:r>
                  <a:rPr lang="en-US" sz="2400" dirty="0" err="1"/>
                  <a:t>Nếu</a:t>
                </a:r>
                <a:r>
                  <a:rPr lang="en-US" sz="2400" dirty="0"/>
                  <a:t> </a:t>
                </a:r>
                <a:r>
                  <a:rPr lang="en-US" sz="2400" dirty="0" err="1"/>
                  <a:t>dùng</a:t>
                </a:r>
                <a:r>
                  <a:rPr lang="en-US" sz="2400" dirty="0"/>
                  <a:t> Insertion Sort: </a:t>
                </a:r>
                <a:r>
                  <a:rPr lang="en-US" sz="2400" dirty="0" err="1"/>
                  <a:t>phải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thao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tác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trên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khoá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[18, 53, 62, 83]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r>
                  <a:rPr lang="en-US" sz="2400" dirty="0" err="1"/>
                  <a:t>Nếu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[5]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là</a:t>
                </a:r>
                <a:r>
                  <a:rPr lang="en-US" sz="2400" dirty="0"/>
                  <a:t> </a:t>
                </a:r>
                <a:r>
                  <a:rPr lang="en-US" sz="2400" dirty="0" err="1"/>
                  <a:t>khoá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của</a:t>
                </a:r>
                <a:r>
                  <a:rPr lang="en-US" sz="2400" dirty="0"/>
                  <a:t> </a:t>
                </a:r>
                <a:r>
                  <a:rPr lang="en-US" sz="2400" dirty="0" err="1"/>
                  <a:t>dãy</a:t>
                </a:r>
                <a:r>
                  <a:rPr lang="en-US" sz="2400" dirty="0"/>
                  <a:t> con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 -&gt; </a:t>
                </a:r>
                <a:r>
                  <a:rPr lang="en-US" sz="2400" dirty="0" err="1"/>
                  <a:t>chèn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vào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[0]=62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[10]=25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cũng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được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chèn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vào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[5]=62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Shell Sort </a:t>
                </a:r>
                <a:r>
                  <a:rPr lang="en-US" sz="2400" dirty="0" err="1"/>
                  <a:t>hiệu</a:t>
                </a:r>
                <a:r>
                  <a:rPr lang="en-US" sz="2400" dirty="0"/>
                  <a:t> </a:t>
                </a:r>
                <a:r>
                  <a:rPr lang="en-US" sz="2400" dirty="0" err="1"/>
                  <a:t>quả</a:t>
                </a:r>
                <a:r>
                  <a:rPr lang="en-US" sz="2400" dirty="0"/>
                  <a:t> </a:t>
                </a:r>
                <a:r>
                  <a:rPr lang="en-US" sz="2400" dirty="0" err="1"/>
                  <a:t>hơn</a:t>
                </a:r>
                <a:r>
                  <a:rPr lang="en-US" sz="2400" dirty="0"/>
                  <a:t> Insertion Sort: </a:t>
                </a:r>
                <a:r>
                  <a:rPr lang="en-US" sz="2400" dirty="0" err="1"/>
                  <a:t>Khoá</a:t>
                </a:r>
                <a:r>
                  <a:rPr lang="en-US" sz="2400" dirty="0"/>
                  <a:t> </a:t>
                </a:r>
                <a:r>
                  <a:rPr lang="en-US" sz="2400" dirty="0" err="1"/>
                  <a:t>nhỏ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được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nhanh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chóng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đưa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về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vị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trí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đúng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hoặc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gần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đúng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của</a:t>
                </a:r>
                <a:r>
                  <a:rPr lang="en-US" sz="2400" dirty="0"/>
                  <a:t> </a:t>
                </a:r>
                <a:r>
                  <a:rPr lang="en-US" sz="2400" dirty="0" err="1"/>
                  <a:t>nó</a:t>
                </a:r>
                <a:r>
                  <a:rPr lang="en-US" sz="2400" dirty="0"/>
                  <a:t>.</a:t>
                </a:r>
                <a:endParaRPr lang="en-GB" sz="240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81F6FFCD-E341-3132-AF7B-E9B11E0091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759468"/>
                <a:ext cx="10515600" cy="3098531"/>
              </a:xfrm>
              <a:blipFill>
                <a:blip r:embed="rId5"/>
                <a:stretch>
                  <a:fillRect l="-812" t="-177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42669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3609E1F-2BD3-3812-AF41-A2C2927037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513206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B0AFF43-B499-6DEC-17E5-AB175465090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5521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42B0E-9524-02E3-9458-9672A8BB1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DC20B5-AC3E-05FF-A470-9681C0AA5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40266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1A83949-3C46-DDF3-B40E-C364F777501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52567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2000"/>
    </mc:Choice>
    <mc:Fallback xmlns="">
      <p:transition advClick="0" advTm="2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5ABF2-FFFA-6C3E-5699-5D6C3F81C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C39816-FBD5-CE50-F13D-2B5C4A3EB4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48323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E4F33A88-22E8-7C3E-C700-7F4E2DFDAE1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740786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2000"/>
    </mc:Choice>
    <mc:Fallback xmlns="">
      <p:transition advClick="0" advTm="2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5175-5611-F5B0-68E9-C2EFCD4D1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E9859E-7554-444C-0AC9-2561067452EC}"/>
              </a:ext>
            </a:extLst>
          </p:cNvPr>
          <p:cNvGraphicFramePr>
            <a:graphicFrameLocks noGrp="1"/>
          </p:cNvGraphicFramePr>
          <p:nvPr/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35CDF6B-5C5E-1ADF-C4F5-D00731BA2BD9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826312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2000"/>
    </mc:Choice>
    <mc:Fallback xmlns="">
      <p:transition advClick="0" advTm="2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0F688-10F8-81E0-B484-3AEF94CC2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0221529-B615-E1F5-5D14-0DA3267C75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0562860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C26BD58-51FA-1D16-4AE1-C51DFC84D38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762509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2000"/>
    </mc:Choice>
    <mc:Fallback xmlns="">
      <p:transition advClick="0" advTm="2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7C180-3A00-2E3D-FFF4-B7420ADDA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A075BD0-1E9E-3670-5B18-98D71BA9F9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59410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CE02E99-8E78-A76B-57E6-7054A1396523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39901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2000"/>
    </mc:Choice>
    <mc:Fallback xmlns="">
      <p:transition advClick="0" advTm="2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E5042-B541-F910-33F7-BD3920F6C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7DDEA2-F01A-9629-C261-C0175389AA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8244150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F456939-1986-96D5-C6C2-79FC8AB002D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352245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2000"/>
    </mc:Choice>
    <mc:Fallback xmlns="">
      <p:transition advClick="0" advTm="2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29353-F53C-704D-DE56-3960A32F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7D2EBFD-05D9-5680-1250-504B5D5AA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658624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A7CC93-C109-A35C-24A5-006F5CD62E8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937270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2000"/>
    </mc:Choice>
    <mc:Fallback xmlns="">
      <p:transition advClick="0" advTm="2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661A8-0154-4C4B-9E26-C9E772B54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6294E88-0A3A-9DBB-5899-99214597B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8484610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0B5BB9C-B900-32F6-CC30-F662C97D0C9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793929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2000"/>
    </mc:Choice>
    <mc:Fallback xmlns="">
      <p:transition advClick="0" advTm="2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E037A-7DD6-8EBE-908C-784556072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B2A2B04-E22D-28A3-D900-28407A0C3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427389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82616C4-63D5-24C9-705E-AC9AA0FAC876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033908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2000"/>
    </mc:Choice>
    <mc:Fallback xmlns="">
      <p:transition advClick="0" advTm="2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62BA2-F5E4-DA3D-4A7F-EAC9794B7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5E707DB-A96D-7606-E620-1AF8C33216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1709365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9B2710F-2914-72AF-CE84-18E90E030DFF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73404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2000"/>
    </mc:Choice>
    <mc:Fallback xmlns="">
      <p:transition advClick="0" advTm="2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63941-B208-0D0B-C6FC-A673F11D4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CB6AFD9-8BE0-AE71-E66D-252280A70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09650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C4CD154-2CB8-066E-7DB6-68360E3E186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919726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00"/>
    </mc:Choice>
    <mc:Fallback xmlns="">
      <p:transition advClick="0" advTm="1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6B4CE-9B55-441F-B227-19F44DB7E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B1D8C95-9243-8793-81FC-3EFDEF2577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865231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B81C71-F7D9-E84F-ADE5-F4EFBDEF6902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247788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00"/>
    </mc:Choice>
    <mc:Fallback xmlns="">
      <p:transition advClick="0" advTm="1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0DA76-1EA6-CE18-361C-49E6AAFB1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E9D126D-B6C2-EB71-7ADE-262D3BCAA3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2951885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72BC43F-88F6-CB7A-C97C-8044B742917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225448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00"/>
    </mc:Choice>
    <mc:Fallback xmlns="">
      <p:transition advClick="0" advTm="1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BE54A-0DCC-915B-8194-F8B54A82C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7C713AF-BB59-099D-EBD1-5FC4D4BE26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09147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9A301E3-56CA-44E5-9F17-E3A149104CEB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81222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00"/>
    </mc:Choice>
    <mc:Fallback xmlns="">
      <p:transition advClick="0" advTm="1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18D39-09CE-EF5F-1BA4-02CA34F49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69EA6C6-4577-2DE1-08F4-378AD94E19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500557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9067E28-23B6-4B6C-3B10-48FD904C956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146529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00"/>
    </mc:Choice>
    <mc:Fallback xmlns="">
      <p:transition advClick="0" advTm="1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D3380-701A-5921-13CC-301E88A04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1B12CD9-BCEF-C7D2-4D9B-512FB9D350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626482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CA315E-AAAD-6DF2-4B65-DF0C8D300D33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650962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00"/>
    </mc:Choice>
    <mc:Fallback xmlns="">
      <p:transition advClick="0" advTm="1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815F7-590D-9CD3-07F8-D8F4708F3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688765B-F416-60EF-58D1-B65CF2BE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20814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EDB2768-07B0-50F0-BCC1-9A1255F22E4A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832593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6AE56-5F7D-ACEC-9C34-20B2D0237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B9E9AF6-9E4D-9C76-9693-E48DD56459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045841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661D0EC-D93B-8229-54F3-FE9F0B36D0C1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45073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4DDB7-774B-8044-6E81-BBB644D04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69E1BF2-3507-81DC-C0DD-03F23A318B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04049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CA627F8-12E2-8F22-7906-7475D6B68698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05448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0AED4-5D6B-DDF4-E9FA-11758EA7C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1E9E69C-1BBC-B87C-4FE8-2800344F53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17782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65044A2-AE70-0CCB-DE13-AA67492841AC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26645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0A9D1-2B69-D5ED-52DB-D6F513ED2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696D5F9-FF07-6C69-66DD-766998CED2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11512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F3CF198-DA55-7F6F-88C3-3538195626D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21720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84B82-1D6D-94D3-2E43-AF66C925A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27FFB8-FC54-774D-E5B6-077BA57EE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251251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33E9B34-B4E4-B7A6-314C-1604BC021AA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932921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00F95-F925-C8D8-01BB-A54D70879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F396C-3950-9DB4-66C9-ABC5BDBD94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82498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C4AC92-15FD-1512-5EA8-9D0891B1082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380524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1C560-D950-848E-0A14-EF1AC5A0C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727322A-F7F1-FCC4-B13B-1C4D535B2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24046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1CD16A1-BF69-DD09-D29A-1A00F5DD730D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47756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76693-28DE-FD58-C376-480690D84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59BCACB-3AF6-90E5-D303-0184AB217D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159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4CE970-7362-0A91-9511-E82F33FA8678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469221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1C85D-99DF-BCEF-3682-E0B2CAED9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BE4A428-C11E-B9E2-D27B-257D6C10CF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357336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6664DE-594A-D249-46BB-B16F324DBFA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126776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02FC0-7BA4-6218-C5D6-15BFDB67F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0ACE169-ED23-7570-14D1-1352909017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667824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F957D8E-F131-1202-44EE-92A53397A7A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302029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AF32-3924-1630-3944-53253416E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7D45442-C819-DD2F-D3AA-1F9385B010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80282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1E933E8-7138-D6A8-7308-781D49F977A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733507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08214-B599-1D9D-0B40-70518A144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AB4D13-8A31-AE69-687A-B842923AC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079374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B5286C1-5393-4DB6-30C0-8412CCB966D3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687578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FA5A9-003E-F2AE-12D8-05D9EE6D1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C40A9D-DC54-D65C-7D82-04608582DE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99667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09B6FA2-8DC3-4086-C7FC-714389C5F36F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24765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1A761-3F63-BBE9-EDA4-CF3E6862F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55797A-9A59-F024-2897-48C27662BA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450165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2D0569C-6E2A-B8B1-8984-5029AD7121BE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340149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46044-B4ED-DB60-1FD4-0FD059A8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4B84E4-78B6-5397-4D34-F0A0C6666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03491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72FB2EF-2088-8305-B796-8B7243B28C6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2744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9E415-7FD1-5F00-6D6F-1AF43D811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BF565B3-4A93-7A5A-8274-B18EB4FD13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9687715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C1D9414-70B8-5375-07F0-C1C6B18163A6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125101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5812D-765D-4373-E9C5-0C94C19B1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1729E8-DBE1-CF1E-DA98-FE95B59A30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789207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2B23A1B-122B-77D4-786A-6E54C765ED0C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080166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F0079-4516-3B23-1389-AEB923030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36D7EC0-7BAA-6B68-9AEE-C6FDFF34BC71}"/>
              </a:ext>
            </a:extLst>
          </p:cNvPr>
          <p:cNvGraphicFramePr>
            <a:graphicFrameLocks noGrp="1"/>
          </p:cNvGraphicFramePr>
          <p:nvPr/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0CFE97E-7F1A-0D07-5D13-FD6689D87F6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29930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39A28-103C-3A46-1EE8-FB33FD291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1FBD945-2E78-97CB-23F3-27CC33FB76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80775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B9F32A76-7CC8-92E1-9ED7-4D6A66870F1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549447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CD675-F499-AFDE-9CF6-1540BA25F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123B79-AA5F-2A62-8F3D-97F6F440E1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918878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41BEEC5-3BBF-D210-0132-026CA8867EA9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527754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D8421-0F74-9D2C-E865-2C6528305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065FCDD-85B7-E234-6D81-B31F087C9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147997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9B3AF9C-5A62-D4AB-43BE-BC90F9055AD2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512579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129B1-3524-B0DE-0BCC-D4F84E2F4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E400CD9-6466-22B5-5637-809F6CDC4F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81073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C9E5C4A-0038-8ADD-2945-01E81166367B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657688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417BE-E33B-8049-5980-C8D1D81CC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1ACF0B-0735-1D18-EBE4-06AC0201DD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95240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274BE0CA-3803-0AAE-16C1-5BD864B8658A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91618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C1218-C387-693E-9DB1-DD6F3787D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C828663-32A8-81CF-29DF-8C9948FF76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41641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CF88BC2F-1DF8-FC91-5292-72B4EE2ADF01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854623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E2CB6-9BCC-75E1-41AC-7DE2F53D4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2E1C860-8085-CF9C-9547-FB9B30F552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11948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45361A9-D0BC-7C93-2900-12C6BFBCF36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002536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167D9-C85A-D6EB-BCA8-2CB81134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F890D9-06F5-8D0C-2D9E-9AAE67F06D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633914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BFBC711-5C54-153B-6CCE-CDCB9BAAC53E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032634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B679-517A-6828-273F-72AED2CFD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6207176-AA23-99CA-8F6E-1B6CE8733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668820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EF67DDFA-7E22-8678-74E7-874862E2B16F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199249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9BC96-C253-1C87-8C2A-397EB1389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BB785A0-B112-FDC1-0AA3-9D18F8CE13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465930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FDD4B14-6D32-3D96-6116-4DD72F0C5131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97896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EA5E-FF94-BB25-8F3F-293A32101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3BFDEC2-90FF-4DA8-2C02-B998488EDF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554499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F995A97-73A4-F26A-C1EF-7E7B65D97623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805079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CB84A-D9EB-DA03-C2D0-80B1BDB7C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Cài </a:t>
            </a:r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quát</a:t>
            </a:r>
            <a:r>
              <a:rPr lang="en-US" dirty="0"/>
              <a:t> (Generic)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A8A041-1FE5-402F-9A92-0F9917434096}"/>
              </a:ext>
            </a:extLst>
          </p:cNvPr>
          <p:cNvSpPr txBox="1"/>
          <p:nvPr/>
        </p:nvSpPr>
        <p:spPr>
          <a:xfrm>
            <a:off x="1141379" y="1810464"/>
            <a:ext cx="9909241" cy="483209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void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ShellSort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: </a:t>
            </a:r>
            <a:r>
              <a:rPr lang="en-GB" sz="1400" b="0" i="0" u="none" strike="noStrike" dirty="0" err="1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IComparable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    </a:t>
            </a:r>
            <a:endParaRPr lang="en-GB" sz="1400" b="0" dirty="0">
              <a:effectLst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400" dirty="0">
                <a:solidFill>
                  <a:srgbClr val="569CD6"/>
                </a:solidFill>
                <a:latin typeface="Courier New" panose="02070309020205020404" pitchFamily="49" charset="0"/>
              </a:rPr>
              <a:t>bool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greater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=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left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&gt;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 right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;</a:t>
            </a:r>
            <a:endParaRPr lang="en-GB" sz="14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    if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greater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 </a:t>
            </a:r>
            <a:r>
              <a:rPr lang="en-GB" sz="1400" dirty="0">
                <a:solidFill>
                  <a:srgbClr val="DCDCAA"/>
                </a:solidFill>
                <a:latin typeface="Courier New" panose="02070309020205020404" pitchFamily="49" charset="0"/>
              </a:rPr>
              <a:t>Swap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569CD6"/>
                </a:solidFill>
                <a:latin typeface="Courier New" panose="02070309020205020404" pitchFamily="49" charset="0"/>
              </a:rPr>
              <a:t>ref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left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,</a:t>
            </a:r>
            <a:r>
              <a:rPr lang="en-GB" sz="1400" dirty="0">
                <a:solidFill>
                  <a:srgbClr val="569CD6"/>
                </a:solidFill>
                <a:latin typeface="Courier New" panose="02070309020205020404" pitchFamily="49" charset="0"/>
              </a:rPr>
              <a:t> ref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right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  <a:endParaRPr lang="en-GB" sz="1400" b="0" i="0" u="none" strike="noStrike" dirty="0">
              <a:solidFill>
                <a:srgbClr val="C586C0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    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foreach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400" b="0" dirty="0">
              <a:effectLst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{</a:t>
            </a:r>
            <a:endParaRPr lang="en-GB" sz="14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    </a:t>
            </a:r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if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h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&gt;=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 right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–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 left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+ </a:t>
            </a:r>
            <a:r>
              <a:rPr lang="en-GB" sz="14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 </a:t>
            </a:r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continue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;</a:t>
            </a:r>
            <a:endParaRPr lang="en-GB" sz="14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{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400" b="0" dirty="0">
              <a:effectLst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&amp;&amp;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greater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? </a:t>
            </a: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                 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4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CompareTo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0 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: </a:t>
            </a:r>
            <a:r>
              <a:rPr lang="en-GB" sz="1400" dirty="0" err="1">
                <a:solidFill>
                  <a:srgbClr val="9CDCFE"/>
                </a:solidFill>
                <a:latin typeface="Courier New" panose="02070309020205020404" pitchFamily="49" charset="0"/>
              </a:rPr>
              <a:t>arr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[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j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-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h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]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.</a:t>
            </a:r>
            <a:r>
              <a:rPr lang="en-GB" sz="1400" dirty="0" err="1">
                <a:solidFill>
                  <a:srgbClr val="DCDCAA"/>
                </a:solidFill>
                <a:latin typeface="Courier New" panose="02070309020205020404" pitchFamily="49" charset="0"/>
              </a:rPr>
              <a:t>CompareTo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key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 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&lt;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B5CEA8"/>
                </a:solidFill>
                <a:latin typeface="Courier New" panose="02070309020205020404" pitchFamily="49" charset="0"/>
              </a:rPr>
              <a:t>0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))   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{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    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    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}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}</a:t>
            </a:r>
            <a:endParaRPr lang="en-GB" sz="1400" b="0" dirty="0">
              <a:effectLst/>
            </a:endParaRPr>
          </a:p>
          <a:p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   }</a:t>
            </a:r>
          </a:p>
          <a:p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7784585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FD408-25A3-2708-CCB0-8B7B0AAF2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Output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CFA23D-AE19-87CD-34F9-978FF038B6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21651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B60C4-6739-E9C8-9CCC-60472BE4A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Trường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mọi</a:t>
            </a:r>
            <a:r>
              <a:rPr lang="en-US" dirty="0"/>
              <a:t> Gap Sequence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4015BCF-7A11-1D1B-CF3C-F69673D2E05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12322" y="1799746"/>
                <a:ext cx="5181600" cy="505825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Khi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đã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 </a:t>
                </a:r>
                <a:r>
                  <a:rPr lang="en-US" dirty="0" err="1"/>
                  <a:t>sẵn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Mỗi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duyệt gap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baseline="-2500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sẽ</a:t>
                </a:r>
                <a:r>
                  <a:rPr lang="en-US" dirty="0"/>
                  <a:t> </a:t>
                </a:r>
                <a:r>
                  <a:rPr lang="en-US" dirty="0" err="1"/>
                  <a:t>tốn</a:t>
                </a:r>
                <a:r>
                  <a:rPr lang="en-US" dirty="0"/>
                  <a:t>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−1 −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so </a:t>
                </a:r>
                <a:r>
                  <a:rPr lang="en-US" dirty="0" err="1"/>
                  <a:t>sánh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Gọi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lượng</a:t>
                </a:r>
                <a:r>
                  <a:rPr lang="en-US" dirty="0"/>
                  <a:t> gap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Tổng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𝐶𝑜𝑠𝑡</m:t>
                      </m:r>
                      <m:r>
                        <a:rPr lang="en-US" sz="2400" b="0" i="1" baseline="-25000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pt-BR" sz="24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−1)−</m:t>
                      </m:r>
                      <m:nary>
                        <m:naryPr>
                          <m:chr m:val="∑"/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</m:t>
                    </m:r>
                    <m:r>
                      <a:rPr lang="en-US" b="0" i="1" baseline="30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thì</a:t>
                </a:r>
                <a:r>
                  <a:rPr lang="en-US" dirty="0"/>
                  <a:t>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=9 ~ 142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tuỳ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. </a:t>
                </a:r>
                <a:r>
                  <a:rPr lang="en-US" dirty="0" err="1"/>
                  <a:t>Vì</a:t>
                </a:r>
                <a:r>
                  <a:rPr lang="en-US" dirty="0"/>
                  <a:t> </a:t>
                </a:r>
                <a:r>
                  <a:rPr lang="en-US" dirty="0" err="1"/>
                  <a:t>vậy</a:t>
                </a:r>
                <a:r>
                  <a:rPr lang="en-US" dirty="0"/>
                  <a:t>, </a:t>
                </a:r>
                <a:r>
                  <a:rPr lang="en-US" dirty="0" err="1"/>
                  <a:t>trong</a:t>
                </a:r>
                <a:r>
                  <a:rPr lang="en-US" dirty="0"/>
                  <a:t> </a:t>
                </a:r>
                <a:r>
                  <a:rPr lang="en-US" dirty="0" err="1"/>
                  <a:t>trường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tốt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𝑁𝑙𝑜𝑔𝑁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endParaRPr lang="en-US" baseline="30000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4015BCF-7A11-1D1B-CF3C-F69673D2E0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12322" y="1799746"/>
                <a:ext cx="5181600" cy="5058253"/>
              </a:xfrm>
              <a:blipFill>
                <a:blip r:embed="rId3"/>
                <a:stretch>
                  <a:fillRect l="-2118" t="-2651" r="-1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42FB831-9F12-08A2-05D1-B78D4E3C86EE}"/>
              </a:ext>
            </a:extLst>
          </p:cNvPr>
          <p:cNvSpPr txBox="1"/>
          <p:nvPr/>
        </p:nvSpPr>
        <p:spPr>
          <a:xfrm>
            <a:off x="6019800" y="1822451"/>
            <a:ext cx="6172200" cy="175432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en-GB" sz="12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BestGenerateValue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Random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rand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Random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rand</a:t>
            </a:r>
            <a:r>
              <a:rPr lang="en-GB" sz="12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2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Next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100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249627715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D1348-36C3-4D28-1433-D13524A8B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1CD0805-9F1C-2D1E-30EC-CF6404CBF4D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Sử </a:t>
                </a:r>
                <a:r>
                  <a:rPr lang="en-US" dirty="0" err="1"/>
                  <a:t>dụng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Sedgewick 1982, </a:t>
                </a:r>
                <a:r>
                  <a:rPr lang="en-US" dirty="0" err="1"/>
                  <a:t>lấy</a:t>
                </a:r>
                <a:r>
                  <a:rPr lang="en-US" dirty="0"/>
                  <a:t>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r>
                  <a:rPr lang="en-GB" dirty="0"/>
                  <a:t>, </a:t>
                </a:r>
                <a:r>
                  <a:rPr lang="en-GB" dirty="0" err="1"/>
                  <a:t>chạy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lần.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1CD0805-9F1C-2D1E-30EC-CF6404CBF4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EC0E5BD-1959-E4AD-6EF4-719AA80244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40598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8EBF7-A8D4-DE53-6CE8-B12D75C6B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Gap Sequence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6.1. Shell (1959)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E720AEF-3F35-F172-C760-E3248E0BFA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r>
                  <a:rPr lang="vi-VN" dirty="0"/>
                  <a:t>Độ dài mỗi </a:t>
                </a:r>
                <a:r>
                  <a:rPr lang="en-US" dirty="0" err="1"/>
                  <a:t>khoảng</a:t>
                </a:r>
                <a:r>
                  <a:rPr lang="en-US" dirty="0"/>
                  <a:t> </a:t>
                </a:r>
                <a:r>
                  <a:rPr lang="en-US" dirty="0" err="1"/>
                  <a:t>giảm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nửa</a:t>
                </a:r>
                <a:r>
                  <a:rPr lang="en-US" dirty="0"/>
                  <a:t>, </a:t>
                </a:r>
                <a:r>
                  <a:rPr lang="en-US" dirty="0" err="1"/>
                  <a:t>tối</a:t>
                </a:r>
                <a:r>
                  <a:rPr lang="en-US" dirty="0"/>
                  <a:t> </a:t>
                </a:r>
                <a:r>
                  <a:rPr lang="en-US" dirty="0" err="1"/>
                  <a:t>thiểu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1, hay </a:t>
                </a:r>
                <a:r>
                  <a:rPr lang="en-US" dirty="0" err="1"/>
                  <a:t>còn</a:t>
                </a:r>
                <a:r>
                  <a:rPr lang="en-US" dirty="0"/>
                  <a:t> </a:t>
                </a:r>
                <a:r>
                  <a:rPr lang="en-US" dirty="0" err="1"/>
                  <a:t>gọi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gap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Trường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lúc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. Các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vị</a:t>
                </a:r>
                <a:r>
                  <a:rPr lang="en-US" dirty="0"/>
                  <a:t> </a:t>
                </a:r>
                <a:r>
                  <a:rPr lang="en-US" dirty="0" err="1"/>
                  <a:t>trí</a:t>
                </a:r>
                <a:r>
                  <a:rPr lang="en-US" dirty="0"/>
                  <a:t> </a:t>
                </a:r>
                <a:r>
                  <a:rPr lang="en-US" dirty="0" err="1"/>
                  <a:t>lẻ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so </a:t>
                </a:r>
                <a:r>
                  <a:rPr lang="en-US" dirty="0" err="1"/>
                  <a:t>sánh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vị</a:t>
                </a:r>
                <a:r>
                  <a:rPr lang="en-US" dirty="0"/>
                  <a:t> </a:t>
                </a:r>
                <a:r>
                  <a:rPr lang="en-US" dirty="0" err="1"/>
                  <a:t>trí</a:t>
                </a:r>
                <a:r>
                  <a:rPr lang="en-US" dirty="0"/>
                  <a:t> </a:t>
                </a:r>
                <a:r>
                  <a:rPr lang="en-US" dirty="0" err="1"/>
                  <a:t>chẵn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đến</a:t>
                </a:r>
                <a:r>
                  <a:rPr lang="en-US" dirty="0"/>
                  <a:t> </a:t>
                </a:r>
                <a:r>
                  <a:rPr lang="en-US" dirty="0" err="1"/>
                  <a:t>khi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trong</a:t>
                </a:r>
                <a:r>
                  <a:rPr lang="en-US" dirty="0"/>
                  <a:t> </a:t>
                </a:r>
                <a:r>
                  <a:rPr lang="en-US" dirty="0" err="1"/>
                  <a:t>hai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lẻ</a:t>
                </a:r>
                <a:r>
                  <a:rPr lang="en-US" dirty="0"/>
                  <a:t> </a:t>
                </a:r>
                <a:r>
                  <a:rPr lang="en-US" dirty="0" err="1"/>
                  <a:t>hoặc</a:t>
                </a:r>
                <a:r>
                  <a:rPr lang="en-US" dirty="0"/>
                  <a:t> </a:t>
                </a:r>
                <a:r>
                  <a:rPr lang="en-US" dirty="0" err="1"/>
                  <a:t>chẵn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lớn</a:t>
                </a:r>
                <a:r>
                  <a:rPr lang="en-US" dirty="0"/>
                  <a:t> </a:t>
                </a:r>
                <a:r>
                  <a:rPr lang="en-US" dirty="0" err="1"/>
                  <a:t>hơn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vị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. (</a:t>
                </a:r>
                <a:r>
                  <a:rPr lang="en-US" dirty="0" err="1"/>
                  <a:t>thực</a:t>
                </a:r>
                <a:r>
                  <a:rPr lang="en-US" dirty="0"/>
                  <a:t>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tốn</a:t>
                </a:r>
                <a:r>
                  <a:rPr lang="en-US" dirty="0"/>
                  <a:t> 500s)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E720AEF-3F35-F172-C760-E3248E0BFA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2421" r="-1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EB66684-0A2D-2A82-163C-CDE127786A3A}"/>
              </a:ext>
            </a:extLst>
          </p:cNvPr>
          <p:cNvSpPr txBox="1"/>
          <p:nvPr/>
        </p:nvSpPr>
        <p:spPr>
          <a:xfrm>
            <a:off x="6172202" y="1825625"/>
            <a:ext cx="5257800" cy="203132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Shell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Courier New" panose="02070309020205020404" pitchFamily="49" charset="0"/>
              </a:rPr>
              <a:t>size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  <a:endParaRPr lang="en-GB" b="0" dirty="0">
              <a:effectLst/>
            </a:endParaRPr>
          </a:p>
          <a:p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 </a:t>
            </a:r>
            <a:r>
              <a:rPr lang="en-GB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/</a:t>
            </a:r>
            <a:r>
              <a:rPr lang="en-GB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GB" dirty="0">
                <a:solidFill>
                  <a:srgbClr val="CCCCCC"/>
                </a:solidFill>
                <a:latin typeface="Courier New" panose="02070309020205020404" pitchFamily="49" charset="0"/>
              </a:rPr>
              <a:t>)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dirty="0">
                <a:solidFill>
                  <a:srgbClr val="B5CEA8"/>
                </a:solidFill>
                <a:latin typeface="Courier New" panose="02070309020205020404" pitchFamily="49" charset="0"/>
              </a:rPr>
              <a:t>0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b="0" dirty="0">
              <a:effectLst/>
            </a:endParaRPr>
          </a:p>
          <a:p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Courier New" panose="02070309020205020404" pitchFamily="49" charset="0"/>
              </a:rPr>
              <a:t>size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b="0" dirty="0">
              <a:effectLst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26440C-B2F1-EB5C-4C28-C9209313A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2" y="3856950"/>
            <a:ext cx="5257800" cy="144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9695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A9E276D-5340-CB8C-C656-B235324B6F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Trường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. </a:t>
                </a: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là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A9E276D-5340-CB8C-C656-B235324B6F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4136488-461C-5BFA-090F-AF2B6E9E75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40003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24F85-83E7-1A4D-0834-E55485839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3CAEF3-9177-7F06-7CCC-4C891C58A04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br>
                  <a:rPr lang="en-GB" dirty="0"/>
                </a:br>
                <a:r>
                  <a:rPr lang="en-US" dirty="0"/>
                  <a:t>Đ</a:t>
                </a:r>
                <a:r>
                  <a:rPr lang="en-GB" dirty="0"/>
                  <a:t>ộ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1.6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3CAEF3-9177-7F06-7CCC-4C891C58A0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4D6A3334-AABC-DFA6-7A83-6FB060995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3887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33083-0292-009E-9A7D-BC916E42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6278E-BE74-9776-D38F-719A7B1AC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Gap Sequence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6.2. Hibbard (1963)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B08C74E-BF50-0169-0A4B-FABD29FEEC4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Hibbard </a:t>
                </a:r>
                <a:r>
                  <a:rPr lang="en-US" dirty="0" err="1"/>
                  <a:t>biểu</a:t>
                </a:r>
                <a:r>
                  <a:rPr lang="en-US" dirty="0"/>
                  <a:t> </a:t>
                </a:r>
                <a:r>
                  <a:rPr lang="en-US" dirty="0" err="1"/>
                  <a:t>diễn</a:t>
                </a:r>
                <a:r>
                  <a:rPr lang="en-US" dirty="0"/>
                  <a:t> </a:t>
                </a:r>
                <a:r>
                  <a:rPr lang="en-US" dirty="0" err="1"/>
                  <a:t>theo</a:t>
                </a:r>
                <a:r>
                  <a:rPr lang="en-US" dirty="0"/>
                  <a:t> chu </a:t>
                </a:r>
                <a:r>
                  <a:rPr lang="en-US" dirty="0" err="1"/>
                  <a:t>kỳ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baseline="3000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≥1)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B08C74E-BF50-0169-0A4B-FABD29FEEC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  <a:blipFill>
                <a:blip r:embed="rId3"/>
                <a:stretch>
                  <a:fillRect l="-2118" t="-218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0A8BA28-CD3C-D548-88C8-DC1FCC85DF05}"/>
              </a:ext>
            </a:extLst>
          </p:cNvPr>
          <p:cNvSpPr txBox="1"/>
          <p:nvPr/>
        </p:nvSpPr>
        <p:spPr>
          <a:xfrm>
            <a:off x="6172202" y="1829808"/>
            <a:ext cx="5119775" cy="203132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Hibbard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</a:p>
          <a:p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(</a:t>
            </a:r>
            <a:r>
              <a:rPr lang="en-GB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size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4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4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((</a:t>
            </a:r>
            <a:r>
              <a:rPr lang="en-GB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4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4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Reverse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400" b="0" dirty="0">
              <a:effectLst/>
            </a:endParaRP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7E9CDA46-C227-1AD6-D21C-0E1F083A9E93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B1F79B-23A6-539F-8918-E6122ED65C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7618" y="3861133"/>
            <a:ext cx="5124359" cy="1133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10494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C8DD5-5FE7-9FD8-8EF9-16E16FB1B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34836F0-1D60-CE96-F5DE-81EBC228CC9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br>
                  <a:rPr lang="en-GB" dirty="0"/>
                </a:b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trung</a:t>
                </a:r>
                <a:r>
                  <a:rPr lang="en-GB" dirty="0"/>
                  <a:t> </a:t>
                </a:r>
                <a:r>
                  <a:rPr lang="en-GB" dirty="0" err="1"/>
                  <a:t>bình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1.33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34836F0-1D60-CE96-F5DE-81EBC228CC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6760B009-AB69-3361-E0E9-3F7B27719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87962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B9A6-9638-82FF-FB03-4F29C24B5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213C7-C247-7345-DE3E-414BFADFE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Gap Sequence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6.3. Pratt (1971)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CFE6702-04FE-E03D-FC10-89EB16789A4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Pratt </a:t>
                </a:r>
                <a:r>
                  <a:rPr lang="en-US" dirty="0" err="1"/>
                  <a:t>biểu</a:t>
                </a:r>
                <a:r>
                  <a:rPr lang="en-US" dirty="0"/>
                  <a:t> </a:t>
                </a:r>
                <a:r>
                  <a:rPr lang="en-US" dirty="0" err="1"/>
                  <a:t>diễn</a:t>
                </a:r>
                <a:r>
                  <a:rPr lang="en-US" dirty="0"/>
                  <a:t> </a:t>
                </a:r>
                <a:r>
                  <a:rPr lang="en-US" dirty="0" err="1"/>
                  <a:t>theo</a:t>
                </a:r>
                <a:r>
                  <a:rPr lang="en-US" dirty="0"/>
                  <a:t> chu </a:t>
                </a:r>
                <a:r>
                  <a:rPr lang="en-US" dirty="0" err="1"/>
                  <a:t>kỳ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≥0)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𝑁𝑙𝑜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dirty="0"/>
                  <a:t>. Tuy </a:t>
                </a:r>
                <a:r>
                  <a:rPr lang="en-US" dirty="0" err="1"/>
                  <a:t>chưa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cụ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để</a:t>
                </a:r>
                <a:r>
                  <a:rPr lang="en-US" dirty="0"/>
                  <a:t> </a:t>
                </a:r>
                <a:r>
                  <a:rPr lang="en-US" dirty="0" err="1"/>
                  <a:t>chứng</a:t>
                </a:r>
                <a:r>
                  <a:rPr lang="en-US" dirty="0"/>
                  <a:t> </a:t>
                </a:r>
                <a:r>
                  <a:rPr lang="en-US" dirty="0" err="1"/>
                  <a:t>minh</a:t>
                </a:r>
                <a:r>
                  <a:rPr lang="en-US" dirty="0"/>
                  <a:t> </a:t>
                </a:r>
                <a:r>
                  <a:rPr lang="en-US" dirty="0" err="1"/>
                  <a:t>nhưng</a:t>
                </a:r>
                <a:r>
                  <a:rPr lang="en-US" dirty="0"/>
                  <a:t> </a:t>
                </a:r>
                <a:r>
                  <a:rPr lang="en-US" dirty="0" err="1"/>
                  <a:t>mà</a:t>
                </a:r>
                <a:r>
                  <a:rPr lang="en-US" dirty="0"/>
                  <a:t> </a:t>
                </a:r>
                <a:r>
                  <a:rPr lang="en-US" dirty="0" err="1"/>
                  <a:t>vì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duyệt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rất</a:t>
                </a:r>
                <a:r>
                  <a:rPr lang="en-US" dirty="0"/>
                  <a:t> </a:t>
                </a:r>
                <a:r>
                  <a:rPr lang="en-US" dirty="0" err="1"/>
                  <a:t>lớn</a:t>
                </a:r>
                <a:r>
                  <a:rPr lang="en-US" dirty="0"/>
                  <a:t>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dirty="0" err="1"/>
                  <a:t>việc</a:t>
                </a:r>
                <a:r>
                  <a:rPr lang="en-US" dirty="0"/>
                  <a:t> </a:t>
                </a:r>
                <a:r>
                  <a:rPr lang="en-US" dirty="0" err="1"/>
                  <a:t>làm</a:t>
                </a:r>
                <a:r>
                  <a:rPr lang="en-US" dirty="0"/>
                  <a:t> </a:t>
                </a:r>
                <a:r>
                  <a:rPr lang="en-US" dirty="0" err="1"/>
                  <a:t>mịn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nổi</a:t>
                </a:r>
                <a:r>
                  <a:rPr lang="en-US" dirty="0"/>
                  <a:t> </a:t>
                </a:r>
                <a:r>
                  <a:rPr lang="en-US" dirty="0" err="1"/>
                  <a:t>bật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/>
                  <a:t>việc</a:t>
                </a:r>
                <a:r>
                  <a:rPr lang="en-US" dirty="0"/>
                  <a:t> </a:t>
                </a:r>
                <a:r>
                  <a:rPr lang="en-US" dirty="0" err="1"/>
                  <a:t>duyệt</a:t>
                </a:r>
                <a:r>
                  <a:rPr lang="en-US" dirty="0"/>
                  <a:t> qua </a:t>
                </a:r>
                <a:r>
                  <a:rPr lang="en-US" dirty="0" err="1"/>
                  <a:t>nhiều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liên</a:t>
                </a:r>
                <a:r>
                  <a:rPr lang="en-US" dirty="0"/>
                  <a:t> </a:t>
                </a:r>
                <a:r>
                  <a:rPr lang="en-US" dirty="0" err="1"/>
                  <a:t>tục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CFE6702-04FE-E03D-FC10-89EB16789A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  <a:blipFill>
                <a:blip r:embed="rId3"/>
                <a:stretch>
                  <a:fillRect l="-2118" t="-2184" r="-9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48E4625-86AB-2A09-FE61-70F1435441DD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5828C5-0AA5-7E02-E9C2-A7504BBCFD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072" b="6953"/>
          <a:stretch>
            <a:fillRect/>
          </a:stretch>
        </p:blipFill>
        <p:spPr>
          <a:xfrm>
            <a:off x="6172201" y="3448744"/>
            <a:ext cx="5119775" cy="338951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95769C6-A124-976A-A6E2-0DD5CC633914}"/>
              </a:ext>
            </a:extLst>
          </p:cNvPr>
          <p:cNvSpPr txBox="1"/>
          <p:nvPr/>
        </p:nvSpPr>
        <p:spPr>
          <a:xfrm>
            <a:off x="6172200" y="1205274"/>
            <a:ext cx="5119775" cy="224676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Pratt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Sort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((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b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=&gt;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b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CompareTo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));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    // sắp xếp ngược dãy số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vi-VN" sz="14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0236427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65E19-984F-708E-3AC9-0120AFEDD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62F725D-5314-C39A-6AE5-6CC782A0F68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br>
                  <a:rPr lang="en-GB" dirty="0"/>
                </a:b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𝑙𝑜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62F725D-5314-C39A-6AE5-6CC782A0F6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9816" b="-184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B96B7A3-4D02-2A94-8A0F-CDAAEBC45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797692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0977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79BAC-152A-3DFD-2C83-332B01099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76A54-4D0B-7C68-EB12-1F021D92E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Gap Sequence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6.4. Sedgewick (1982)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18FF56-AA19-20D4-EB28-9B4A3E4EE96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47928" y="1834250"/>
                <a:ext cx="5181600" cy="502374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Sedgewick </a:t>
                </a:r>
                <a:r>
                  <a:rPr lang="en-US" dirty="0" err="1"/>
                  <a:t>biểu</a:t>
                </a:r>
                <a:r>
                  <a:rPr lang="en-US" dirty="0"/>
                  <a:t> </a:t>
                </a:r>
                <a:r>
                  <a:rPr lang="en-US" dirty="0" err="1"/>
                  <a:t>diễn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+3∙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≥1)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và</a:t>
                </a:r>
                <a:r>
                  <a:rPr lang="en-US" dirty="0"/>
                  <a:t> </a:t>
                </a:r>
                <a:r>
                  <a:rPr lang="en-US" dirty="0" err="1"/>
                  <a:t>bắt</a:t>
                </a:r>
                <a:r>
                  <a:rPr lang="en-US" dirty="0"/>
                  <a:t>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từ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Trường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bình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1.25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(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Sedgewick </a:t>
                </a:r>
                <a:r>
                  <a:rPr lang="en-US" dirty="0" err="1"/>
                  <a:t>đã</a:t>
                </a:r>
                <a:r>
                  <a:rPr lang="en-US" dirty="0"/>
                  <a:t> </a:t>
                </a:r>
                <a:r>
                  <a:rPr lang="en-US" dirty="0" err="1"/>
                  <a:t>chứng</a:t>
                </a:r>
                <a:r>
                  <a:rPr lang="en-US" dirty="0"/>
                  <a:t> </a:t>
                </a:r>
                <a:r>
                  <a:rPr lang="en-US" dirty="0" err="1"/>
                  <a:t>minh</a:t>
                </a:r>
                <a:r>
                  <a:rPr lang="en-US" dirty="0"/>
                  <a:t> </a:t>
                </a:r>
                <a:r>
                  <a:rPr lang="en-US" dirty="0" err="1"/>
                  <a:t>cận</a:t>
                </a:r>
                <a:r>
                  <a:rPr lang="en-US" dirty="0"/>
                  <a:t> </a:t>
                </a:r>
                <a:r>
                  <a:rPr lang="en-US" dirty="0" err="1"/>
                  <a:t>trên</a:t>
                </a:r>
                <a:r>
                  <a:rPr lang="en-US" dirty="0"/>
                  <a:t> </a:t>
                </a:r>
                <a:r>
                  <a:rPr lang="en-US" dirty="0" err="1"/>
                  <a:t>vào</a:t>
                </a:r>
                <a:r>
                  <a:rPr lang="en-US" dirty="0"/>
                  <a:t> 1986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học</a:t>
                </a:r>
                <a:r>
                  <a:rPr lang="en-US" dirty="0"/>
                  <a:t>. </a:t>
                </a:r>
                <a:r>
                  <a:rPr lang="en-US" dirty="0" err="1"/>
                  <a:t>Thế</a:t>
                </a:r>
                <a:r>
                  <a:rPr lang="en-US" dirty="0"/>
                  <a:t> </a:t>
                </a:r>
                <a:r>
                  <a:rPr lang="en-US" dirty="0" err="1"/>
                  <a:t>nhưng</a:t>
                </a:r>
                <a:r>
                  <a:rPr lang="en-US" dirty="0"/>
                  <a:t> 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chưa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cụ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để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chạm</a:t>
                </a:r>
                <a:r>
                  <a:rPr lang="en-US" dirty="0"/>
                  <a:t> </a:t>
                </a:r>
                <a:r>
                  <a:rPr lang="en-US" dirty="0" err="1"/>
                  <a:t>đến</a:t>
                </a:r>
                <a:r>
                  <a:rPr lang="en-US" dirty="0"/>
                  <a:t> </a:t>
                </a:r>
                <a:r>
                  <a:rPr lang="en-US" dirty="0" err="1"/>
                  <a:t>mức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18FF56-AA19-20D4-EB28-9B4A3E4EE9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47928" y="1834250"/>
                <a:ext cx="5181600" cy="5023749"/>
              </a:xfrm>
              <a:blipFill>
                <a:blip r:embed="rId3"/>
                <a:stretch>
                  <a:fillRect l="-2118" t="-2184" r="-164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D68E3D2F-6093-B859-41A2-3846EE8AAFD2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C95F5B-E325-FC0E-0262-B681CAE94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2474" y="3450077"/>
            <a:ext cx="6029526" cy="148797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CD642C-F090-BFD5-59B5-C22CB2B5826C}"/>
              </a:ext>
            </a:extLst>
          </p:cNvPr>
          <p:cNvSpPr txBox="1"/>
          <p:nvPr/>
        </p:nvSpPr>
        <p:spPr>
          <a:xfrm>
            <a:off x="6162474" y="1834250"/>
            <a:ext cx="6029526" cy="161582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Sedgewick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Reverse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1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9553788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F0281-43DA-B12E-DA41-78892CAB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95F9341-1690-094C-5C84-26E76B4171E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+3∙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. </a:t>
                </a: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1.25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95F9341-1690-094C-5C84-26E76B417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903" b="-225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FB34B34D-2783-A615-3E01-809CE01ED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39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3E900-45CF-D353-A261-A6B2B4697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97807-0D0C-931B-BE3E-63EB23F39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7. Gap Sequence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đại</a:t>
            </a:r>
            <a:r>
              <a:rPr lang="en-US" dirty="0"/>
              <a:t> – Ciura </a:t>
            </a:r>
            <a:r>
              <a:rPr lang="en-US" dirty="0" err="1"/>
              <a:t>mở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(2001)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BD3E46-58B2-65CF-F1E4-C0784536FB1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47928" y="1834249"/>
                <a:ext cx="5181600" cy="517939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Ciura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thực</a:t>
                </a:r>
                <a:r>
                  <a:rPr lang="en-US" dirty="0"/>
                  <a:t> </a:t>
                </a:r>
                <a:r>
                  <a:rPr lang="en-US" dirty="0" err="1"/>
                  <a:t>nghiệm</a:t>
                </a:r>
                <a:r>
                  <a:rPr lang="en-US" dirty="0"/>
                  <a:t>. Các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tiên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công</a:t>
                </a:r>
                <a:r>
                  <a:rPr lang="en-US" dirty="0"/>
                  <a:t> </a:t>
                </a:r>
                <a:r>
                  <a:rPr lang="en-US" dirty="0" err="1"/>
                  <a:t>thức</a:t>
                </a:r>
                <a:r>
                  <a:rPr lang="en-US" dirty="0"/>
                  <a:t> </a:t>
                </a:r>
                <a:r>
                  <a:rPr lang="en-US" dirty="0" err="1"/>
                  <a:t>cố</a:t>
                </a:r>
                <a:r>
                  <a:rPr lang="en-US" dirty="0"/>
                  <a:t> </a:t>
                </a:r>
                <a:r>
                  <a:rPr lang="en-US" dirty="0" err="1"/>
                  <a:t>định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{1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4, 10, 23, 57, 132, 301, 701}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Sau </a:t>
                </a:r>
                <a:r>
                  <a:rPr lang="en-US" dirty="0" err="1"/>
                  <a:t>đó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cộng</a:t>
                </a:r>
                <a:r>
                  <a:rPr lang="en-US" dirty="0"/>
                  <a:t> </a:t>
                </a:r>
                <a:r>
                  <a:rPr lang="en-US" dirty="0" err="1"/>
                  <a:t>đồng</a:t>
                </a:r>
                <a:r>
                  <a:rPr lang="en-US" dirty="0"/>
                  <a:t> </a:t>
                </a:r>
                <a:r>
                  <a:rPr lang="en-US" dirty="0" err="1"/>
                  <a:t>mở</a:t>
                </a:r>
                <a:r>
                  <a:rPr lang="en-US" dirty="0"/>
                  <a:t> </a:t>
                </a:r>
                <a:r>
                  <a:rPr lang="en-US" dirty="0" err="1"/>
                  <a:t>rộng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/>
                  <a:t>công</a:t>
                </a:r>
                <a:r>
                  <a:rPr lang="en-US" dirty="0"/>
                  <a:t> </a:t>
                </a:r>
                <a:r>
                  <a:rPr lang="en-US" dirty="0" err="1"/>
                  <a:t>thức</a:t>
                </a:r>
                <a:r>
                  <a:rPr lang="en-US" dirty="0"/>
                  <a:t>: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=2.25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Trường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bình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1.25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Hiện</a:t>
                </a:r>
                <a:r>
                  <a:rPr lang="en-US" dirty="0"/>
                  <a:t> </a:t>
                </a:r>
                <a:r>
                  <a:rPr lang="en-US" dirty="0" err="1"/>
                  <a:t>tại</a:t>
                </a:r>
                <a:r>
                  <a:rPr lang="en-US" dirty="0"/>
                  <a:t> </a:t>
                </a:r>
                <a:r>
                  <a:rPr lang="en-US" dirty="0" err="1"/>
                  <a:t>chưa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chứng</a:t>
                </a:r>
                <a:r>
                  <a:rPr lang="en-US" dirty="0"/>
                  <a:t> </a:t>
                </a:r>
                <a:r>
                  <a:rPr lang="en-US" dirty="0" err="1"/>
                  <a:t>minh</a:t>
                </a:r>
                <a:r>
                  <a:rPr lang="en-US" dirty="0"/>
                  <a:t> </a:t>
                </a:r>
                <a:r>
                  <a:rPr lang="en-US" dirty="0" err="1"/>
                  <a:t>cụ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trường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BD3E46-58B2-65CF-F1E4-C0784536FB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47928" y="1834249"/>
                <a:ext cx="5181600" cy="5179393"/>
              </a:xfrm>
              <a:blipFill>
                <a:blip r:embed="rId3"/>
                <a:stretch>
                  <a:fillRect l="-2118" t="-2118" b="-14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14E281E2-A563-67B3-7D6C-0C38FD666677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8C31EF-71E4-99CD-FFF9-D06A1305758B}"/>
              </a:ext>
            </a:extLst>
          </p:cNvPr>
          <p:cNvSpPr txBox="1"/>
          <p:nvPr/>
        </p:nvSpPr>
        <p:spPr>
          <a:xfrm>
            <a:off x="6162474" y="1834249"/>
            <a:ext cx="5393986" cy="263149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CiuraEx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100" b="0" dirty="0">
              <a:effectLst/>
            </a:endParaRPr>
          </a:p>
          <a:p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[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4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10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23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57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132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301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701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, </a:t>
            </a:r>
            <a:r>
              <a:rPr lang="en-GB" sz="1100" dirty="0">
                <a:solidFill>
                  <a:srgbClr val="B5CEA8"/>
                </a:solidFill>
                <a:latin typeface="Courier New" panose="02070309020205020404" pitchFamily="49" charset="0"/>
              </a:rPr>
              <a:t>1750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    // </a:t>
            </a:r>
            <a:r>
              <a:rPr lang="en-GB" sz="1100" b="0" i="0" u="none" strike="noStrike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phần</a:t>
            </a:r>
            <a:r>
              <a:rPr lang="en-GB" sz="11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mở</a:t>
            </a:r>
            <a:r>
              <a:rPr lang="en-GB" sz="11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rộng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double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maxgap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1750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((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maxgap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2.25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rtl="0">
              <a:buNone/>
            </a:pP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100" b="0" dirty="0">
              <a:effectLst/>
            </a:endParaRPr>
          </a:p>
          <a:p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sz="1100" dirty="0">
                <a:solidFill>
                  <a:srgbClr val="569CD6"/>
                </a:solidFill>
                <a:latin typeface="Courier New" panose="02070309020205020404" pitchFamily="49" charset="0"/>
              </a:rPr>
              <a:t>int </a:t>
            </a:r>
            <a:r>
              <a:rPr lang="en-GB" sz="1100" dirty="0">
                <a:solidFill>
                  <a:srgbClr val="9CDCFE"/>
                </a:solidFill>
                <a:latin typeface="Courier New" panose="02070309020205020404" pitchFamily="49" charset="0"/>
              </a:rPr>
              <a:t>floor </a:t>
            </a:r>
            <a:r>
              <a:rPr lang="en-GB" sz="1100" dirty="0">
                <a:solidFill>
                  <a:srgbClr val="D4D4D4"/>
                </a:solidFill>
                <a:latin typeface="Courier New" panose="02070309020205020404" pitchFamily="49" charset="0"/>
              </a:rPr>
              <a:t>= 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100" dirty="0">
                <a:solidFill>
                  <a:srgbClr val="569CD6"/>
                </a:solidFill>
                <a:latin typeface="Courier New" panose="02070309020205020404" pitchFamily="49" charset="0"/>
              </a:rPr>
              <a:t>int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)</a:t>
            </a:r>
            <a:r>
              <a:rPr lang="en-GB" sz="1100" dirty="0" err="1">
                <a:solidFill>
                  <a:srgbClr val="4EC9B0"/>
                </a:solidFill>
                <a:latin typeface="Courier New" panose="02070309020205020404" pitchFamily="49" charset="0"/>
              </a:rPr>
              <a:t>Math</a:t>
            </a:r>
            <a:r>
              <a:rPr lang="en-GB" sz="1100" dirty="0" err="1">
                <a:solidFill>
                  <a:srgbClr val="D4D4D4"/>
                </a:solidFill>
                <a:latin typeface="Courier New" panose="02070309020205020404" pitchFamily="49" charset="0"/>
              </a:rPr>
              <a:t>.</a:t>
            </a:r>
            <a:r>
              <a:rPr lang="en-GB" sz="1100" dirty="0" err="1">
                <a:solidFill>
                  <a:srgbClr val="DCDCAA"/>
                </a:solidFill>
                <a:latin typeface="Courier New" panose="02070309020205020404" pitchFamily="49" charset="0"/>
              </a:rPr>
              <a:t>Round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100" dirty="0" err="1">
                <a:solidFill>
                  <a:srgbClr val="9CDCFE"/>
                </a:solidFill>
                <a:latin typeface="Courier New" panose="02070309020205020404" pitchFamily="49" charset="0"/>
              </a:rPr>
              <a:t>maxgap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  <a:endParaRPr lang="en-GB" sz="11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dirty="0">
                <a:solidFill>
                  <a:srgbClr val="9CDCFE"/>
                </a:solidFill>
                <a:latin typeface="Courier New" panose="02070309020205020404" pitchFamily="49" charset="0"/>
              </a:rPr>
              <a:t>floor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100" b="0" dirty="0">
              <a:effectLst/>
            </a:endParaRPr>
          </a:p>
          <a:p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    }</a:t>
            </a:r>
            <a:endParaRPr lang="en-GB" sz="11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Reverse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100" b="0" dirty="0"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E12CBA-FC69-164B-92DC-125E7EDA389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8607"/>
          <a:stretch>
            <a:fillRect/>
          </a:stretch>
        </p:blipFill>
        <p:spPr>
          <a:xfrm>
            <a:off x="6162475" y="4423945"/>
            <a:ext cx="5393986" cy="1011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2821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D30C4-9C86-3E59-DB8D-4131E3A22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7EEE7A7-1FD1-C9C4-BE4D-C45E54BEA1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=1149471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. </a:t>
                </a: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1.25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7EEE7A7-1FD1-C9C4-BE4D-C45E54BEA1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25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A944728-10FB-04C7-33FF-7C38B69BE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1437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FF1962-8CB2-34D5-7ACA-3D7258D259C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 err="1"/>
                  <a:t>Thống</a:t>
                </a:r>
                <a:r>
                  <a:rPr lang="en-US" dirty="0"/>
                  <a:t> </a:t>
                </a:r>
                <a:r>
                  <a:rPr lang="en-US" dirty="0" err="1"/>
                  <a:t>kê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bình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	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 </a:t>
                </a:r>
                <a:r>
                  <a:rPr lang="en-GB" dirty="0" err="1"/>
                  <a:t>trên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lần: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FF1962-8CB2-34D5-7ACA-3D7258D259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903" b="-216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8ABC8715-1B90-1880-9796-45C81FAF44C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67610402"/>
              </p:ext>
            </p:extLst>
          </p:nvPr>
        </p:nvGraphicFramePr>
        <p:xfrm>
          <a:off x="2032000" y="1517334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5850436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41EC4-09AC-3A5D-DD97-C9CEE975B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DDC5D-0618-4F96-2804-1233F933E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8.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ổn</a:t>
            </a:r>
            <a:r>
              <a:rPr lang="en-US" dirty="0"/>
              <a:t> </a:t>
            </a:r>
            <a:r>
              <a:rPr lang="en-US" dirty="0" err="1"/>
              <a:t>định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D7B063-C285-EA16-0C68-AAD3AED50E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Shell Sort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ổn</a:t>
                </a:r>
                <a:r>
                  <a:rPr lang="en-US" dirty="0"/>
                  <a:t> </a:t>
                </a:r>
                <a:r>
                  <a:rPr lang="en-US" dirty="0" err="1"/>
                  <a:t>định</a:t>
                </a:r>
                <a:r>
                  <a:rPr lang="en-US" dirty="0"/>
                  <a:t>: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duy</a:t>
                </a:r>
                <a:r>
                  <a:rPr lang="en-US" dirty="0"/>
                  <a:t> </a:t>
                </a:r>
                <a:r>
                  <a:rPr lang="en-US" dirty="0" err="1"/>
                  <a:t>trì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thứ</a:t>
                </a:r>
                <a:r>
                  <a:rPr lang="en-US" dirty="0"/>
                  <a:t> </a:t>
                </a:r>
                <a:r>
                  <a:rPr lang="en-US" dirty="0" err="1"/>
                  <a:t>tự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giá</a:t>
                </a:r>
                <a:r>
                  <a:rPr lang="en-US" dirty="0"/>
                  <a:t> </a:t>
                </a:r>
                <a:r>
                  <a:rPr lang="en-US" dirty="0" err="1"/>
                  <a:t>trị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/>
                  <a:t>nhau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Ví</a:t>
                </a:r>
                <a:r>
                  <a:rPr lang="en-US" dirty="0"/>
                  <a:t> </a:t>
                </a:r>
                <a:r>
                  <a:rPr lang="en-US" dirty="0" err="1"/>
                  <a:t>dụ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3, 2,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1]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Với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r>
                  <a:rPr lang="en-US" dirty="0"/>
                  <a:t>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[4]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chèn</a:t>
                </a:r>
                <a:r>
                  <a:rPr lang="en-US" dirty="0"/>
                  <a:t> </a:t>
                </a:r>
                <a:r>
                  <a:rPr lang="en-US" dirty="0" err="1"/>
                  <a:t>vào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lúc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: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=[1, 3, 2,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Sau </a:t>
                </a:r>
                <a:r>
                  <a:rPr lang="en-US" dirty="0" err="1"/>
                  <a:t>khi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 ta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=[1, 2, 3,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Như </a:t>
                </a:r>
                <a:r>
                  <a:rPr lang="en-US" dirty="0" err="1"/>
                  <a:t>vậy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để</a:t>
                </a:r>
                <a:r>
                  <a:rPr lang="en-US" dirty="0"/>
                  <a:t> </a:t>
                </a:r>
                <a:r>
                  <a:rPr lang="en-US" dirty="0" err="1"/>
                  <a:t>đánh</a:t>
                </a:r>
                <a:r>
                  <a:rPr lang="en-US" dirty="0"/>
                  <a:t> </a:t>
                </a:r>
                <a:r>
                  <a:rPr lang="en-US" dirty="0" err="1"/>
                  <a:t>đổi</a:t>
                </a:r>
                <a:r>
                  <a:rPr lang="en-US" dirty="0"/>
                  <a:t> </a:t>
                </a:r>
                <a:r>
                  <a:rPr lang="en-US" dirty="0" err="1"/>
                  <a:t>hiệu</a:t>
                </a:r>
                <a:r>
                  <a:rPr lang="en-US" dirty="0"/>
                  <a:t> </a:t>
                </a:r>
                <a:r>
                  <a:rPr lang="en-US" dirty="0" err="1"/>
                  <a:t>năng</a:t>
                </a:r>
                <a:r>
                  <a:rPr lang="en-US" dirty="0"/>
                  <a:t> </a:t>
                </a:r>
                <a:r>
                  <a:rPr lang="en-US" dirty="0" err="1"/>
                  <a:t>thì</a:t>
                </a:r>
                <a:r>
                  <a:rPr lang="en-US" dirty="0"/>
                  <a:t> Shell Sort </a:t>
                </a:r>
                <a:r>
                  <a:rPr lang="en-US" dirty="0" err="1"/>
                  <a:t>sẽ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xáo</a:t>
                </a:r>
                <a:r>
                  <a:rPr lang="en-US" dirty="0"/>
                  <a:t> </a:t>
                </a:r>
                <a:r>
                  <a:rPr lang="en-US" dirty="0" err="1"/>
                  <a:t>trộn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khiến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chúng</a:t>
                </a:r>
                <a:r>
                  <a:rPr lang="en-US" dirty="0"/>
                  <a:t> </a:t>
                </a:r>
                <a:r>
                  <a:rPr lang="en-US" dirty="0" err="1"/>
                  <a:t>lệch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thứ</a:t>
                </a:r>
                <a:r>
                  <a:rPr lang="en-US" dirty="0"/>
                  <a:t> </a:t>
                </a:r>
                <a:r>
                  <a:rPr lang="en-US" dirty="0" err="1"/>
                  <a:t>tự</a:t>
                </a:r>
                <a:r>
                  <a:rPr lang="en-US" dirty="0"/>
                  <a:t> </a:t>
                </a:r>
                <a:r>
                  <a:rPr lang="en-US" dirty="0" err="1"/>
                  <a:t>khi</a:t>
                </a:r>
                <a:r>
                  <a:rPr lang="en-US" dirty="0"/>
                  <a:t> ban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chưa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D7B063-C285-EA16-0C68-AAD3AED50E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71929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4D2C5-66E4-DBB6-26CE-A38B5BD7B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9.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kết</a:t>
            </a:r>
            <a:br>
              <a:rPr lang="en-US" dirty="0"/>
            </a:br>
            <a:r>
              <a:rPr lang="en-US" dirty="0"/>
              <a:t>9.1. </a:t>
            </a:r>
            <a:r>
              <a:rPr lang="en-US" dirty="0" err="1"/>
              <a:t>Ưu</a:t>
            </a:r>
            <a:r>
              <a:rPr lang="en-US" dirty="0"/>
              <a:t> </a:t>
            </a:r>
            <a:r>
              <a:rPr lang="en-US" dirty="0" err="1"/>
              <a:t>điểm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8A41A-CE4D-49BD-A1F0-FB8E5A5074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Nhanh </a:t>
                </a:r>
                <a:r>
                  <a:rPr lang="en-US" dirty="0" err="1"/>
                  <a:t>hơn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cổ</a:t>
                </a:r>
                <a:r>
                  <a:rPr lang="en-US" dirty="0"/>
                  <a:t> </a:t>
                </a:r>
                <a:r>
                  <a:rPr lang="en-US" dirty="0" err="1"/>
                  <a:t>điển</a:t>
                </a:r>
                <a:r>
                  <a:rPr lang="en-US" dirty="0"/>
                  <a:t> </a:t>
                </a:r>
                <a:r>
                  <a:rPr lang="en-US" dirty="0" err="1"/>
                  <a:t>khác</a:t>
                </a:r>
                <a:r>
                  <a:rPr lang="en-US" dirty="0"/>
                  <a:t> </a:t>
                </a:r>
                <a:r>
                  <a:rPr lang="en-US" dirty="0" err="1"/>
                  <a:t>như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Insertion Sort, Bubble Sort, Selection Sort.</a:t>
                </a:r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 </a:t>
                </a:r>
                <a:r>
                  <a:rPr lang="en-US" dirty="0" err="1"/>
                  <a:t>hằng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–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cấp</a:t>
                </a:r>
                <a:r>
                  <a:rPr lang="en-US" dirty="0"/>
                  <a:t> </a:t>
                </a:r>
                <a:r>
                  <a:rPr lang="en-US" dirty="0" err="1"/>
                  <a:t>phát</a:t>
                </a:r>
                <a:r>
                  <a:rPr lang="en-US" dirty="0"/>
                  <a:t> </a:t>
                </a:r>
                <a:r>
                  <a:rPr lang="en-US" dirty="0" err="1"/>
                  <a:t>bộ</a:t>
                </a:r>
                <a:r>
                  <a:rPr lang="en-US" dirty="0"/>
                  <a:t> </a:t>
                </a:r>
                <a:r>
                  <a:rPr lang="en-US" dirty="0" err="1"/>
                  <a:t>nhớ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Dễ</a:t>
                </a:r>
                <a:r>
                  <a:rPr lang="en-US" dirty="0"/>
                  <a:t> </a:t>
                </a:r>
                <a:r>
                  <a:rPr lang="en-US" dirty="0" err="1"/>
                  <a:t>cài</a:t>
                </a:r>
                <a:r>
                  <a:rPr lang="en-US" dirty="0"/>
                  <a:t> </a:t>
                </a:r>
                <a:r>
                  <a:rPr lang="en-US" dirty="0" err="1"/>
                  <a:t>đặt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8A41A-CE4D-49BD-A1F0-FB8E5A5074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696156E-3897-9788-DD60-8E149872D952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9.2. </a:t>
            </a:r>
            <a:r>
              <a:rPr lang="en-US" dirty="0" err="1"/>
              <a:t>Nhược</a:t>
            </a:r>
            <a:r>
              <a:rPr lang="en-US" dirty="0"/>
              <a:t> </a:t>
            </a:r>
            <a:r>
              <a:rPr lang="en-US" dirty="0" err="1"/>
              <a:t>điểm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55822A8-7408-2EC2-2D7A-AFED037AD0C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457821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Chậm </a:t>
                </a:r>
                <a:r>
                  <a:rPr lang="en-US" dirty="0" err="1"/>
                  <a:t>hơn</a:t>
                </a:r>
                <a:r>
                  <a:rPr lang="en-US" dirty="0"/>
                  <a:t> so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kinh</a:t>
                </a:r>
                <a:r>
                  <a:rPr lang="en-US" dirty="0"/>
                  <a:t> </a:t>
                </a:r>
                <a:r>
                  <a:rPr lang="en-US" dirty="0" err="1"/>
                  <a:t>điển</a:t>
                </a:r>
                <a:r>
                  <a:rPr lang="en-US" dirty="0"/>
                  <a:t> </a:t>
                </a:r>
                <a:r>
                  <a:rPr lang="en-US" dirty="0" err="1"/>
                  <a:t>như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Quick Sort, Merge Sort </a:t>
                </a:r>
                <a:r>
                  <a:rPr lang="en-US" dirty="0" err="1"/>
                  <a:t>và</a:t>
                </a:r>
                <a:r>
                  <a:rPr lang="en-US" dirty="0"/>
                  <a:t> Heap Sort</a:t>
                </a:r>
              </a:p>
              <a:p>
                <a:r>
                  <a:rPr lang="en-US" dirty="0" err="1"/>
                  <a:t>Chọn</a:t>
                </a:r>
                <a:r>
                  <a:rPr lang="en-US" dirty="0"/>
                  <a:t> </a:t>
                </a:r>
                <a:r>
                  <a:rPr lang="en-US" dirty="0" err="1"/>
                  <a:t>sai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đẩy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lên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ổn</a:t>
                </a:r>
                <a:r>
                  <a:rPr lang="en-US" dirty="0"/>
                  <a:t> </a:t>
                </a:r>
                <a:r>
                  <a:rPr lang="en-US" dirty="0" err="1"/>
                  <a:t>định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55822A8-7408-2EC2-2D7A-AFED037AD0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78215"/>
                <a:ext cx="10515600" cy="4351338"/>
              </a:xfrm>
              <a:prstGeom prst="rect">
                <a:avLst/>
              </a:prstGeom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80238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D6C46-804C-716C-CA47-A4E367EA5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6BF92-90D0-0BA5-5808-9C7AE2A0A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9.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kết</a:t>
            </a:r>
            <a:br>
              <a:rPr lang="en-US" dirty="0"/>
            </a:br>
            <a:r>
              <a:rPr lang="en-US" dirty="0"/>
              <a:t>9.3.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luận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044CA5-A8FB-4AB3-3929-35F8711BDB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Shell Sort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tiên</a:t>
                </a:r>
                <a:r>
                  <a:rPr lang="en-US" dirty="0"/>
                  <a:t> </a:t>
                </a:r>
                <a:r>
                  <a:rPr lang="en-US" dirty="0" err="1"/>
                  <a:t>loại</a:t>
                </a:r>
                <a:r>
                  <a:rPr lang="en-US" dirty="0"/>
                  <a:t> </a:t>
                </a:r>
                <a:r>
                  <a:rPr lang="en-US" dirty="0" err="1"/>
                  <a:t>bỏ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giới</a:t>
                </a:r>
                <a:r>
                  <a:rPr lang="en-US" dirty="0"/>
                  <a:t> </a:t>
                </a:r>
                <a:r>
                  <a:rPr lang="en-US" dirty="0" err="1"/>
                  <a:t>hạ</a:t>
                </a:r>
                <a:r>
                  <a:rPr lang="en-US" dirty="0"/>
                  <a:t>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Shell Sort 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mở</a:t>
                </a:r>
                <a:r>
                  <a:rPr lang="en-US" dirty="0"/>
                  <a:t>,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đến</a:t>
                </a:r>
                <a:r>
                  <a:rPr lang="en-US" dirty="0"/>
                  <a:t> nay 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nhiều</a:t>
                </a:r>
                <a:r>
                  <a:rPr lang="en-US" dirty="0"/>
                  <a:t> </a:t>
                </a:r>
                <a:r>
                  <a:rPr lang="en-US" dirty="0" err="1"/>
                  <a:t>nghiên</a:t>
                </a:r>
                <a:r>
                  <a:rPr lang="en-US" dirty="0"/>
                  <a:t> </a:t>
                </a:r>
                <a:r>
                  <a:rPr lang="en-US" dirty="0" err="1"/>
                  <a:t>cứu</a:t>
                </a:r>
                <a:r>
                  <a:rPr lang="en-US" dirty="0"/>
                  <a:t> </a:t>
                </a:r>
                <a:r>
                  <a:rPr lang="en-US" dirty="0" err="1"/>
                  <a:t>mới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về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tối</a:t>
                </a:r>
                <a:r>
                  <a:rPr lang="en-US" dirty="0"/>
                  <a:t> </a:t>
                </a:r>
                <a:r>
                  <a:rPr lang="en-US" dirty="0" err="1"/>
                  <a:t>ưu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(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phụ</a:t>
                </a:r>
                <a:r>
                  <a:rPr lang="en-US" dirty="0"/>
                  <a:t> </a:t>
                </a:r>
                <a:r>
                  <a:rPr lang="en-US" dirty="0" err="1"/>
                  <a:t>thuộc</a:t>
                </a:r>
                <a:r>
                  <a:rPr lang="en-US" dirty="0"/>
                  <a:t> </a:t>
                </a:r>
                <a:r>
                  <a:rPr lang="en-US" dirty="0" err="1"/>
                  <a:t>vào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cần</a:t>
                </a:r>
                <a:r>
                  <a:rPr lang="en-US" dirty="0"/>
                  <a:t> </a:t>
                </a:r>
                <a:r>
                  <a:rPr lang="en-US" dirty="0" err="1"/>
                  <a:t>chọn</a:t>
                </a:r>
                <a:r>
                  <a:rPr lang="en-US" dirty="0"/>
                  <a:t>):</a:t>
                </a:r>
              </a:p>
              <a:p>
                <a:r>
                  <a:rPr lang="en-US" dirty="0" err="1"/>
                  <a:t>Tốt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𝑁𝑙𝑜𝑔𝑁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Trung </a:t>
                </a:r>
                <a:r>
                  <a:rPr lang="en-US" dirty="0" err="1"/>
                  <a:t>bình</a:t>
                </a:r>
                <a:r>
                  <a:rPr lang="en-US" dirty="0"/>
                  <a:t> (</a:t>
                </a:r>
                <a:r>
                  <a:rPr lang="en-US" dirty="0" err="1"/>
                  <a:t>thực</a:t>
                </a:r>
                <a:r>
                  <a:rPr lang="en-US" dirty="0"/>
                  <a:t> </a:t>
                </a:r>
                <a:r>
                  <a:rPr lang="en-US" dirty="0" err="1"/>
                  <a:t>nghiệm</a:t>
                </a:r>
                <a:r>
                  <a:rPr lang="en-US" dirty="0"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1.25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(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học</a:t>
                </a:r>
                <a:r>
                  <a:rPr lang="en-US" dirty="0"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044CA5-A8FB-4AB3-3929-35F8711BDB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701117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5E28-5987-EFF6-BA8A-04A1DCAB4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Danh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khảo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99657-2281-C648-90BF-5AA7412A1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worst case in Shell Sort and Related Algorithms – Bjorn </a:t>
            </a:r>
            <a:r>
              <a:rPr lang="en-US" dirty="0" err="1"/>
              <a:t>Poonen</a:t>
            </a:r>
            <a:endParaRPr lang="en-US" dirty="0"/>
          </a:p>
          <a:p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lập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– Lê Minh Hoàng</a:t>
            </a:r>
          </a:p>
          <a:p>
            <a:r>
              <a:rPr lang="en-US" dirty="0" err="1"/>
              <a:t>GeeksforGeeks</a:t>
            </a:r>
            <a:r>
              <a:rPr lang="en-US" dirty="0"/>
              <a:t> – Shell Sort, Insertion Sort</a:t>
            </a:r>
          </a:p>
          <a:p>
            <a:r>
              <a:rPr lang="en-US" dirty="0"/>
              <a:t>Wikipedia – </a:t>
            </a:r>
            <a:r>
              <a:rPr lang="en-US" dirty="0" err="1"/>
              <a:t>Shellsort</a:t>
            </a:r>
            <a:endParaRPr lang="en-US" dirty="0"/>
          </a:p>
          <a:p>
            <a:r>
              <a:rPr lang="en-US" dirty="0"/>
              <a:t>Hibbard – Communications of the ACM Volume 6, Issue 5 – An Empirical Study of Minimal Storage Sorting</a:t>
            </a:r>
          </a:p>
          <a:p>
            <a:r>
              <a:rPr lang="en-US" dirty="0"/>
              <a:t>Knuth – The Art of Computer Programming Vol 3</a:t>
            </a:r>
          </a:p>
          <a:p>
            <a:r>
              <a:rPr lang="en-US" dirty="0"/>
              <a:t>Robert Sedgewick – A New Upper Bound for </a:t>
            </a:r>
            <a:r>
              <a:rPr lang="en-US" dirty="0" err="1"/>
              <a:t>Shellsort</a:t>
            </a:r>
            <a:endParaRPr lang="en-GB" dirty="0"/>
          </a:p>
          <a:p>
            <a:r>
              <a:rPr lang="en-US" dirty="0"/>
              <a:t>Robert Sedgewick – Improving Upper Bound for </a:t>
            </a:r>
            <a:r>
              <a:rPr lang="en-US" dirty="0" err="1"/>
              <a:t>Shellsort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14216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1741</TotalTime>
  <Words>3615</Words>
  <Application>Microsoft Office PowerPoint</Application>
  <PresentationFormat>Widescreen</PresentationFormat>
  <Paragraphs>863</Paragraphs>
  <Slides>74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1" baseType="lpstr">
      <vt:lpstr>Aptos</vt:lpstr>
      <vt:lpstr>Aptos Display</vt:lpstr>
      <vt:lpstr>Arial</vt:lpstr>
      <vt:lpstr>Cambria Math</vt:lpstr>
      <vt:lpstr>Courier New</vt:lpstr>
      <vt:lpstr>Times New Roman</vt:lpstr>
      <vt:lpstr>Office Theme</vt:lpstr>
      <vt:lpstr>Sắp xếp chèn với độ dài bước giảm dần</vt:lpstr>
      <vt:lpstr>1. Insertion Sort 1.1. Tóm tắt ý tưởng và thuật toán</vt:lpstr>
      <vt:lpstr>Cài đặt Insertion Sort (mảng chạy trong đoạn [left, right]):</vt:lpstr>
      <vt:lpstr>1.2. Ưu điểm:</vt:lpstr>
      <vt:lpstr>2. Sự ra đời của Shell Sort</vt:lpstr>
      <vt:lpstr>2. THUẬT TOÁN SHELL SORT 2.1. Tư tưởng thuật toán</vt:lpstr>
      <vt:lpstr>Ví dụ: dãy [62, 83, 18, 53, 7, 17, 95, 86, 47, 69, 25, 28], n=12. Chọn h=5 ta có 2 dãy con: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4. Cài đặt tổng quát (Generic)</vt:lpstr>
      <vt:lpstr>Output</vt:lpstr>
      <vt:lpstr>5. Trường hợp tốt nhất cho mọi Gap Sequence</vt:lpstr>
      <vt:lpstr>Sử dụng dãy của Sedgewick 1982, lấy  N=4^9+3∙2^8+2, chạy 1000 lần.</vt:lpstr>
      <vt:lpstr>6. Gap Sequence cổ điển 6.1. Shell (1959)</vt:lpstr>
      <vt:lpstr>Trường hợp tệ nhất với N=2^20, 1 lần chạy. Độ phức tạp là O(N^2).</vt:lpstr>
      <vt:lpstr>Thực nghiệm với N=2^20, 1000 lần chạy Độ phức tạp xấp xỉ O(N^1.6 ).</vt:lpstr>
      <vt:lpstr>6. Gap Sequence cổ điển 6.2. Hibbard (1963)</vt:lpstr>
      <vt:lpstr>Thực nghiệm với N=10^6, 1000 lần chạy Độ phức tạp trung bình xấp xỉ O(N^1.33).</vt:lpstr>
      <vt:lpstr>6. Gap Sequence cổ điển 6.3. Pratt (1971)</vt:lpstr>
      <vt:lpstr>Thực nghiệm với N=2^20, 1000 lần chạy Độ phức tạp xấp xỉ O(N (log^2 N)/2)</vt:lpstr>
      <vt:lpstr>6. Gap Sequence cổ điển 6.4. Sedgewick (1982)</vt:lpstr>
      <vt:lpstr>Thực nghiệm với N=4^10+3∙2^9+1, 1000 lần chạy. Độ phức tạp xấp xỉ O(N^1.25).</vt:lpstr>
      <vt:lpstr>7. Gap Sequence hiện đại – Ciura mở rộng (2001)</vt:lpstr>
      <vt:lpstr>Thực nghiệm với N=1149471, 1000 lần chạy. Độ phức tạp xấp xỉ O(N^1.25).</vt:lpstr>
      <vt:lpstr>Thống kê độ phức tạp trung bình các phần tử  chạy trên 1000 lần:</vt:lpstr>
      <vt:lpstr>8. Tính ổn định</vt:lpstr>
      <vt:lpstr>9. Tổng kết 9.1. Ưu điểm</vt:lpstr>
      <vt:lpstr>9. Tổng kết 9.3. Kết luận</vt:lpstr>
      <vt:lpstr>Danh mục tham khảo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 Le Van</dc:creator>
  <cp:lastModifiedBy>Minh Le Van</cp:lastModifiedBy>
  <cp:revision>4</cp:revision>
  <dcterms:created xsi:type="dcterms:W3CDTF">2026-02-09T06:18:02Z</dcterms:created>
  <dcterms:modified xsi:type="dcterms:W3CDTF">2026-02-12T04:36:42Z</dcterms:modified>
</cp:coreProperties>
</file>