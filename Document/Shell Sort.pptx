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258" r:id="rId3"/>
    <p:sldId id="257" r:id="rId4"/>
    <p:sldId id="259" r:id="rId5"/>
    <p:sldId id="314" r:id="rId6"/>
    <p:sldId id="260" r:id="rId7"/>
    <p:sldId id="262" r:id="rId8"/>
    <p:sldId id="263" r:id="rId9"/>
    <p:sldId id="264" r:id="rId10"/>
    <p:sldId id="265" r:id="rId11"/>
    <p:sldId id="267" r:id="rId12"/>
    <p:sldId id="374" r:id="rId13"/>
    <p:sldId id="268" r:id="rId14"/>
    <p:sldId id="269" r:id="rId15"/>
    <p:sldId id="318" r:id="rId16"/>
    <p:sldId id="319" r:id="rId17"/>
    <p:sldId id="320" r:id="rId18"/>
    <p:sldId id="321" r:id="rId19"/>
    <p:sldId id="324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46" r:id="rId32"/>
    <p:sldId id="337" r:id="rId33"/>
    <p:sldId id="338" r:id="rId34"/>
    <p:sldId id="339" r:id="rId35"/>
    <p:sldId id="341" r:id="rId36"/>
    <p:sldId id="342" r:id="rId37"/>
    <p:sldId id="347" r:id="rId38"/>
    <p:sldId id="343" r:id="rId39"/>
    <p:sldId id="344" r:id="rId40"/>
    <p:sldId id="345" r:id="rId41"/>
    <p:sldId id="348" r:id="rId42"/>
    <p:sldId id="349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10" r:id="rId53"/>
    <p:sldId id="312" r:id="rId54"/>
    <p:sldId id="311" r:id="rId55"/>
    <p:sldId id="313" r:id="rId56"/>
    <p:sldId id="364" r:id="rId57"/>
    <p:sldId id="316" r:id="rId58"/>
    <p:sldId id="373" r:id="rId59"/>
    <p:sldId id="315" r:id="rId60"/>
    <p:sldId id="350" r:id="rId61"/>
    <p:sldId id="367" r:id="rId62"/>
    <p:sldId id="351" r:id="rId63"/>
    <p:sldId id="352" r:id="rId64"/>
    <p:sldId id="354" r:id="rId65"/>
    <p:sldId id="371" r:id="rId66"/>
    <p:sldId id="355" r:id="rId67"/>
    <p:sldId id="370" r:id="rId68"/>
    <p:sldId id="361" r:id="rId69"/>
    <p:sldId id="369" r:id="rId70"/>
    <p:sldId id="372" r:id="rId71"/>
    <p:sldId id="362" r:id="rId72"/>
    <p:sldId id="358" r:id="rId73"/>
    <p:sldId id="360" r:id="rId74"/>
    <p:sldId id="353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D1A4B22-3FEC-4960-9A14-732DCFBB8079}">
          <p14:sldIdLst>
            <p14:sldId id="256"/>
          </p14:sldIdLst>
        </p14:section>
        <p14:section name="Insertion Sort" id="{F96A28F4-CF0A-461E-B6C2-2CA6E949160D}">
          <p14:sldIdLst>
            <p14:sldId id="258"/>
            <p14:sldId id="257"/>
            <p14:sldId id="259"/>
            <p14:sldId id="314"/>
          </p14:sldIdLst>
        </p14:section>
        <p14:section name="Shell Sort - basics" id="{3E6DCF57-D4D1-42BA-A67D-E609F5B07C46}">
          <p14:sldIdLst>
            <p14:sldId id="260"/>
            <p14:sldId id="262"/>
          </p14:sldIdLst>
        </p14:section>
        <p14:section name="shell sort's math visualizer" id="{F06E3354-0EFB-461F-9A85-26DCD76A3985}">
          <p14:sldIdLst>
            <p14:sldId id="263"/>
            <p14:sldId id="264"/>
            <p14:sldId id="265"/>
            <p14:sldId id="267"/>
            <p14:sldId id="374"/>
            <p14:sldId id="268"/>
            <p14:sldId id="269"/>
            <p14:sldId id="318"/>
            <p14:sldId id="319"/>
            <p14:sldId id="320"/>
            <p14:sldId id="321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46"/>
            <p14:sldId id="337"/>
            <p14:sldId id="338"/>
            <p14:sldId id="339"/>
            <p14:sldId id="341"/>
            <p14:sldId id="342"/>
            <p14:sldId id="347"/>
            <p14:sldId id="343"/>
            <p14:sldId id="344"/>
            <p14:sldId id="345"/>
            <p14:sldId id="348"/>
            <p14:sldId id="34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  <p14:sldId id="312"/>
            <p14:sldId id="311"/>
          </p14:sldIdLst>
        </p14:section>
        <p14:section name="shell sort code" id="{40440B52-AE49-4623-B4BA-3A7681245854}">
          <p14:sldIdLst>
            <p14:sldId id="313"/>
            <p14:sldId id="364"/>
            <p14:sldId id="316"/>
            <p14:sldId id="373"/>
            <p14:sldId id="315"/>
            <p14:sldId id="350"/>
            <p14:sldId id="367"/>
            <p14:sldId id="351"/>
            <p14:sldId id="352"/>
            <p14:sldId id="354"/>
            <p14:sldId id="371"/>
            <p14:sldId id="355"/>
            <p14:sldId id="370"/>
            <p14:sldId id="361"/>
            <p14:sldId id="369"/>
            <p14:sldId id="372"/>
            <p14:sldId id="362"/>
            <p14:sldId id="358"/>
            <p14:sldId id="360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2D3AB9-6D09-48F5-8ECE-C6DCB325CA74}" v="3193" dt="2026-02-12T04:31:15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84078" autoAdjust="0"/>
  </p:normalViewPr>
  <p:slideViewPr>
    <p:cSldViewPr snapToGrid="0" showGuides="1">
      <p:cViewPr varScale="1">
        <p:scale>
          <a:sx n="98" d="100"/>
          <a:sy n="98" d="100"/>
        </p:scale>
        <p:origin x="123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Gap</a:t>
            </a:r>
            <a:r>
              <a:rPr lang="en-US" baseline="0" dirty="0"/>
              <a:t> Sequence’s Comparison (</a:t>
            </a:r>
            <a:r>
              <a:rPr lang="en-US" baseline="0" dirty="0" err="1"/>
              <a:t>ms</a:t>
            </a:r>
            <a:r>
              <a:rPr lang="en-US" baseline="0" dirty="0"/>
              <a:t>)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Shell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1.67</c:v>
                </c:pt>
                <c:pt idx="1">
                  <c:v>31</c:v>
                </c:pt>
                <c:pt idx="2">
                  <c:v>197</c:v>
                </c:pt>
                <c:pt idx="3">
                  <c:v>440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616-4913-969F-4382D6C41BA6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Hibbard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1.79</c:v>
                </c:pt>
                <c:pt idx="1">
                  <c:v>31</c:v>
                </c:pt>
                <c:pt idx="2">
                  <c:v>203</c:v>
                </c:pt>
                <c:pt idx="3">
                  <c:v>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616-4913-969F-4382D6C41BA6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Pratt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Sheet1!$B$4:$E$4</c:f>
              <c:numCache>
                <c:formatCode>General</c:formatCode>
                <c:ptCount val="4"/>
                <c:pt idx="0">
                  <c:v>3.12</c:v>
                </c:pt>
                <c:pt idx="1">
                  <c:v>51</c:v>
                </c:pt>
                <c:pt idx="2">
                  <c:v>339</c:v>
                </c:pt>
                <c:pt idx="3">
                  <c:v>730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D7-47C7-BCE6-00A84D815AE6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Sedgewick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Sheet1!$B$5:$E$5</c:f>
              <c:numCache>
                <c:formatCode>General</c:formatCode>
                <c:ptCount val="4"/>
                <c:pt idx="0">
                  <c:v>1.43</c:v>
                </c:pt>
                <c:pt idx="1">
                  <c:v>22</c:v>
                </c:pt>
                <c:pt idx="2">
                  <c:v>135</c:v>
                </c:pt>
                <c:pt idx="3">
                  <c:v>290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14-4CFA-A24A-F47D3471DFAB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Ciura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Sheet1!$B$6:$E$6</c:f>
              <c:numCache>
                <c:formatCode>General</c:formatCode>
                <c:ptCount val="4"/>
                <c:pt idx="0">
                  <c:v>1.38</c:v>
                </c:pt>
                <c:pt idx="1">
                  <c:v>25</c:v>
                </c:pt>
                <c:pt idx="2">
                  <c:v>151</c:v>
                </c:pt>
                <c:pt idx="3">
                  <c:v>320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14-4CFA-A24A-F47D3471DF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37645904"/>
        <c:axId val="2137646384"/>
      </c:lineChart>
      <c:catAx>
        <c:axId val="2137645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37646384"/>
        <c:crosses val="autoZero"/>
        <c:auto val="1"/>
        <c:lblAlgn val="ctr"/>
        <c:lblOffset val="100"/>
        <c:noMultiLvlLbl val="0"/>
      </c:catAx>
      <c:valAx>
        <c:axId val="2137646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37645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1DEAEB-F923-4226-8BE3-CFA9DCE2444E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E8E1B-683D-4636-A679-4455696B47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10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8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Mảng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0.</a:t>
            </a:r>
          </a:p>
          <a:p>
            <a:pPr marL="228600" indent="-228600">
              <a:buAutoNum type="arabicPeriod"/>
            </a:pPr>
            <a:r>
              <a:rPr lang="vi-V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 các dãy con là lấy các vị trí đã sắp xếp (Ví dụ k[10] = 25 là giá trị khi chưa sắp xếp nhưng khi đã sắp xếp thì nó ở k[3] tức vị trí thứ 4).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287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</a:t>
            </a:r>
            <a:r>
              <a:rPr lang="en-US" dirty="0"/>
              <a:t> xa so </a:t>
            </a:r>
            <a:r>
              <a:rPr lang="en-US" dirty="0" err="1"/>
              <a:t>với</a:t>
            </a:r>
            <a:r>
              <a:rPr lang="en-US" dirty="0"/>
              <a:t> log^2(N) </a:t>
            </a:r>
            <a:r>
              <a:rPr lang="en-US" dirty="0" err="1"/>
              <a:t>đấy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42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F505-9C50-C2A1-9682-4755690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E719A-4489-9396-C87B-39463A39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87C3657-E27F-FBAF-4FBD-588DAB35B2F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B55B-1E0B-791B-E301-4222E8E8D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0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211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−3)</m:t>
                    </m:r>
                  </m:oMath>
                </a14:m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≈79</m:t>
                    </m:r>
                  </m:oMath>
                </a14:m>
                <a:endParaRPr lang="en-GB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Khác </a:t>
                </a:r>
                <a:r>
                  <a:rPr lang="en-US" dirty="0" err="1"/>
                  <a:t>với</a:t>
                </a:r>
                <a:r>
                  <a:rPr lang="en-US" dirty="0"/>
                  <a:t> Shell,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chất</a:t>
                </a:r>
                <a:r>
                  <a:rPr lang="en-US" dirty="0"/>
                  <a:t> </a:t>
                </a:r>
                <a:r>
                  <a:rPr lang="en-US" dirty="0" err="1"/>
                  <a:t>nguyên</a:t>
                </a:r>
                <a:r>
                  <a:rPr lang="en-US" dirty="0"/>
                  <a:t> </a:t>
                </a:r>
                <a:r>
                  <a:rPr lang="en-US" dirty="0" err="1"/>
                  <a:t>tố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=1.</m:t>
                    </m:r>
                  </m:oMath>
                </a14:m>
                <a:endParaRPr lang="en-US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63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2E14-6DD8-C4B2-82AD-B1B54B9F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FA17-28DA-B47A-E9AF-6C33D5CDD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677C-F69F-5FEC-2DE6-8C7B9312B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259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7672-458C-6E84-79CD-6D545390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ABA53-027B-8B6C-18F9-A1595DB8C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34394-925E-90AF-5422-996C9EE9F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582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68C7-521A-425F-EE4A-255CFD0B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7A8D-DE0B-B2B9-6F89-EB0BE198B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4C176999-3C0D-F582-2D36-246FA8022BD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1D059-A8DA-9589-846A-D25EA08EDF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94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759-1D10-0035-761E-56C93E923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AF85B-D66E-7A90-9F89-3335B8F9D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A027-9404-5843-118A-4DD6C158F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2474-282B-F1A8-D0A5-F2985E846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A35A3-CFA9-0AF6-DCCD-94572E1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86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1ADE-1C8A-26B7-2543-B3AE36439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1FABB-4919-D35D-B516-0DFE4C319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4D4DC-2295-9413-A25D-27BBD22A1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B9DBF-6A0C-3C80-6FC4-9768F1EC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5AD8A-66F9-6D64-BE5C-D253928A3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0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5CE1-A93C-46EB-106A-2BBCDAEB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C4A956-436F-7FBA-0364-4EF70B7AA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C012-68A4-8D92-D9BA-F17D256A4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E2E7-85E8-A152-5551-FCF24831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A58D-CCDC-0D49-92EB-065EC44DD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991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0F85-78DE-B96B-A688-8E717AA03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59DA9-37E1-B582-378F-7E952E809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3349C-652D-6E2C-F435-EA0726BB5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4FC03-D1CA-5FA5-D2CD-09722544D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F7156-976C-D306-9CE3-41FF9040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369A0-04BB-5522-0529-63D481B2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9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D2C-7F2C-5945-F05A-FEB54F5F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AB65D-8595-3930-3116-E0A9DEB1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69E4D-8483-94E4-2BE5-C0D624B10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31963-8AF4-C031-749F-7CE2331BB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7C639-BEF1-A095-BB5D-A16211E84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6CF6B-D3F0-B7E7-D46B-EB29F4F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30F29-0308-D320-DF7A-82FA007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84DD0F-736B-EB15-59C2-CD9A1E29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96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F227-7E01-2403-6002-FC25094E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ABC696-797A-3B06-23A5-A83B7B2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F6AB7-55C2-5A96-B4D1-3FE932CC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7D489-150C-556B-F433-6FA6400B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280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C96C1-4867-C2F7-64B8-661AA498C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95A206-D97E-79F9-90FB-50995E1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197F-AF8A-99ED-16BE-591B3FBB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05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E60-E9E1-9F36-95FA-EFAFEDA62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76F76-6AB4-AE8D-85A2-A85EE7D8D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FE531-3729-AA6C-BCA0-AD34D5694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481D7-336B-9AF6-C092-619089DB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2D8CC-2968-009A-EB99-D7A61B8C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1BADD-6D3E-42AF-90BD-3ECFDC286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2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894D-0E46-C2A3-A54A-EC6E4FB0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DC247-17B7-8E94-D26D-7001D974C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1747-2395-0C08-C533-68F064CD7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68C87-EAA0-250D-329B-52E768A2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B651-E9ED-0C52-B704-E10D1571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C7BB-1C35-EA8F-5064-4644E055D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1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C69-00C5-98E9-1B5F-EFDFAB110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46A3F-9BF6-E17E-2B16-6A5FB77F4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D4CD-4C4D-9754-B4EB-B86EB87E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2AA2B-53D6-DC7F-07A4-F483B2C9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AA4E1-7A4F-B5E5-34F5-865977C5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9814D9-92F3-7DC4-EE42-BAA78DB417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A4C1-EF8B-0949-1237-69A9CE318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3D388-DEB4-0F68-75BA-8AB3A621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DD612-97AB-BAF6-7415-D43B923F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D80E4-A90E-EE5A-B85D-F7A97167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9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B1428C-D317-E003-C524-02F9159D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9243C-9C6C-E30D-F6C2-B68C404EA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0F53-9919-9AAD-35DC-F1EBA1894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87782-4693-25AA-A258-2249C7CE1A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76AA7-45BB-E463-4005-3BE7280C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55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3E4-82B9-1823-4CF7-D0BE8BD75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– Shell Sort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US" dirty="0"/>
                  <a:t>Lê Văn Minh</a:t>
                </a:r>
              </a:p>
              <a:p>
                <a:r>
                  <a:rPr lang="en-US" dirty="0" err="1"/>
                  <a:t>Trần</a:t>
                </a:r>
                <a:r>
                  <a:rPr lang="en-US" dirty="0"/>
                  <a:t> Hoàng Đức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Nguyễn Anh </a:t>
                </a:r>
                <a:r>
                  <a:rPr lang="en-GB" dirty="0" err="1"/>
                  <a:t>Phú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Lê Nguyễn Minh </a:t>
                </a:r>
                <a:r>
                  <a:rPr lang="en-GB" dirty="0" err="1"/>
                  <a:t>Khôi</a:t>
                </a:r>
                <a:endParaRPr lang="en-GB" dirty="0"/>
              </a:p>
              <a:p>
                <a:r>
                  <a:rPr lang="en-GB" dirty="0"/>
                  <a:t>Phạm Dương </a:t>
                </a:r>
                <a:r>
                  <a:rPr lang="en-GB" dirty="0" err="1"/>
                  <a:t>Toàn</a:t>
                </a:r>
                <a:r>
                  <a:rPr lang="en-GB" dirty="0"/>
                  <a:t> Long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Tô</a:t>
                </a:r>
                <a:r>
                  <a:rPr lang="en-GB" dirty="0"/>
                  <a:t> Anh </a:t>
                </a:r>
                <a:r>
                  <a:rPr lang="en-GB" dirty="0" err="1"/>
                  <a:t>Tần</a:t>
                </a:r>
                <a:endParaRPr lang="en-GB" dirty="0"/>
              </a:p>
            </p:txBody>
          </p:sp>
        </mc:Choice>
        <mc:Fallback xmlns="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47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4044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6C8C-3E33-95CB-3E14-CABCC689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Insertion Sort</a:t>
            </a:r>
            <a:br>
              <a:rPr lang="en-GB" dirty="0"/>
            </a:br>
            <a:r>
              <a:rPr lang="en-US" i="1" dirty="0"/>
              <a:t>1.1.</a:t>
            </a:r>
            <a:r>
              <a:rPr lang="vi-VN" i="1" dirty="0"/>
              <a:t> Tóm tắt ý tưởng và thuật toán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vi-VN" dirty="0"/>
                  <a:t>Ý tưởng chính: ta sẽ sắp xếp lần lượt từng đoạn gồm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vi-VN" dirty="0"/>
                  <a:t> phần tử đầu tiên,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vi-VN" dirty="0"/>
                  <a:t> phần tử đầu tiên, ...,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 phần tử.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Giả sử ta đã sắp xếp xong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phần tử của mảng. Để sắp xếp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phần tử đầu tiên, ta tìm vị trí phù hợp của phần tử thứ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và "chèn" nó vào đó.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3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Cài </a:t>
                </a:r>
                <a:r>
                  <a:rPr lang="en-GB" dirty="0" err="1"/>
                  <a:t>đặt</a:t>
                </a:r>
                <a:r>
                  <a:rPr lang="en-GB" dirty="0"/>
                  <a:t> Insertion Sort (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đoạn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𝑙𝑒𝑓𝑡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𝑟𝑖𝑔h𝑡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BE04F01-23F7-CE89-79AD-DD3AB79E3D09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InsertionSort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en-US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vi-VN" sz="18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// arr[j] &gt; key tương đương với arr[j].CompareTo(key) &gt; 0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5376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A4EF-F5A9-F49B-C641-2FCDBCE6A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4550"/>
          </a:xfrm>
        </p:spPr>
        <p:txBody>
          <a:bodyPr/>
          <a:lstStyle/>
          <a:p>
            <a:r>
              <a:rPr lang="en-US" dirty="0"/>
              <a:t>1.2.</a:t>
            </a:r>
            <a:r>
              <a:rPr lang="vi-VN" dirty="0"/>
              <a:t> Ưu điểm: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</p:spPr>
            <p:txBody>
              <a:bodyPr/>
              <a:lstStyle/>
              <a:p>
                <a:r>
                  <a:rPr lang="en-GB" dirty="0" err="1"/>
                  <a:t>Dễ</a:t>
                </a:r>
                <a:r>
                  <a:rPr lang="en-GB" dirty="0"/>
                  <a:t> </a:t>
                </a:r>
                <a:r>
                  <a:rPr lang="en-GB" dirty="0" err="1"/>
                  <a:t>cài</a:t>
                </a:r>
                <a:r>
                  <a:rPr lang="en-GB" dirty="0"/>
                  <a:t> </a:t>
                </a:r>
                <a:r>
                  <a:rPr lang="en-GB" dirty="0" err="1"/>
                  <a:t>đặt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Tính</a:t>
                </a:r>
                <a:r>
                  <a:rPr lang="en-GB" dirty="0"/>
                  <a:t> </a:t>
                </a:r>
                <a:r>
                  <a:rPr lang="en-GB" dirty="0" err="1"/>
                  <a:t>ổn</a:t>
                </a:r>
                <a:r>
                  <a:rPr lang="en-GB" dirty="0"/>
                  <a:t> </a:t>
                </a:r>
                <a:r>
                  <a:rPr lang="en-GB" dirty="0" err="1"/>
                  <a:t>định</a:t>
                </a:r>
                <a:r>
                  <a:rPr lang="en-GB" dirty="0"/>
                  <a:t> </a:t>
                </a:r>
                <a:r>
                  <a:rPr lang="en-GB" dirty="0" err="1"/>
                  <a:t>cao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không</a:t>
                </a:r>
                <a:r>
                  <a:rPr lang="en-GB" dirty="0"/>
                  <a:t> </a:t>
                </a:r>
                <a:r>
                  <a:rPr lang="en-GB" dirty="0" err="1"/>
                  <a:t>gian</a:t>
                </a:r>
                <a:r>
                  <a:rPr lang="en-GB" dirty="0"/>
                  <a:t> </a:t>
                </a:r>
                <a:r>
                  <a:rPr lang="en-GB" dirty="0" err="1"/>
                  <a:t>hằng</a:t>
                </a:r>
                <a:r>
                  <a:rPr lang="en-GB" dirty="0"/>
                  <a:t> </a:t>
                </a:r>
                <a:r>
                  <a:rPr lang="en-GB" dirty="0" err="1"/>
                  <a:t>số</a:t>
                </a:r>
                <a:r>
                  <a:rPr lang="en-GB" dirty="0"/>
                  <a:t> -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sẽ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 </a:t>
                </a:r>
                <a:r>
                  <a:rPr lang="en-GB" dirty="0" err="1"/>
                  <a:t>cực</a:t>
                </a:r>
                <a:r>
                  <a:rPr lang="en-GB" dirty="0"/>
                  <a:t> </a:t>
                </a:r>
                <a:r>
                  <a:rPr lang="en-GB" dirty="0" err="1"/>
                  <a:t>nhanh</a:t>
                </a:r>
                <a:r>
                  <a:rPr lang="en-GB" dirty="0"/>
                  <a:t> </a:t>
                </a:r>
                <a:r>
                  <a:rPr lang="en-GB" dirty="0" err="1"/>
                  <a:t>nếu</a:t>
                </a:r>
                <a:r>
                  <a:rPr lang="en-GB" dirty="0"/>
                  <a:t> </a:t>
                </a:r>
                <a:r>
                  <a:rPr lang="en-GB" dirty="0" err="1"/>
                  <a:t>kích</a:t>
                </a:r>
                <a:r>
                  <a:rPr lang="en-GB" dirty="0"/>
                  <a:t> </a:t>
                </a:r>
                <a:r>
                  <a:rPr lang="en-GB" dirty="0" err="1"/>
                  <a:t>thước</a:t>
                </a:r>
                <a:r>
                  <a:rPr lang="en-GB" dirty="0"/>
                  <a:t> </a:t>
                </a:r>
                <a:r>
                  <a:rPr lang="en-GB" dirty="0" err="1"/>
                  <a:t>của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khoảng</a:t>
                </a:r>
                <a:r>
                  <a:rPr lang="en-GB" dirty="0"/>
                  <a:t> 16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 </a:t>
                </a:r>
                <a:r>
                  <a:rPr lang="en-GB" dirty="0" err="1"/>
                  <a:t>trở</a:t>
                </a:r>
                <a:r>
                  <a:rPr lang="en-GB" dirty="0"/>
                  <a:t> </a:t>
                </a:r>
                <a:r>
                  <a:rPr lang="en-GB" dirty="0" err="1"/>
                  <a:t>xuống</a:t>
                </a:r>
                <a:r>
                  <a:rPr lang="en-GB" dirty="0"/>
                  <a:t> </a:t>
                </a:r>
                <a:r>
                  <a:rPr lang="en-GB" dirty="0" err="1"/>
                  <a:t>hoặc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:r>
                  <a:rPr lang="en-GB" dirty="0" err="1"/>
                  <a:t>khi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gần</a:t>
                </a:r>
                <a:r>
                  <a:rPr lang="en-GB" dirty="0"/>
                  <a:t> </a:t>
                </a:r>
                <a:r>
                  <a:rPr lang="en-GB" dirty="0" err="1"/>
                  <a:t>như</a:t>
                </a:r>
                <a:r>
                  <a:rPr lang="en-GB" dirty="0"/>
                  <a:t> </a:t>
                </a:r>
                <a:r>
                  <a:rPr lang="en-GB" dirty="0" err="1"/>
                  <a:t>đã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  <a:blipFill>
                <a:blip r:embed="rId3"/>
                <a:stretch>
                  <a:fillRect l="-1043" t="-3991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40F32EA1-F322-6D47-23CB-1F1C73ED4836}"/>
              </a:ext>
            </a:extLst>
          </p:cNvPr>
          <p:cNvSpPr txBox="1">
            <a:spLocks/>
          </p:cNvSpPr>
          <p:nvPr/>
        </p:nvSpPr>
        <p:spPr>
          <a:xfrm>
            <a:off x="843954" y="3450503"/>
            <a:ext cx="10515600" cy="7045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1.3.</a:t>
            </a:r>
            <a:r>
              <a:rPr lang="vi-VN" i="1" dirty="0"/>
              <a:t> Nhược điểm: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Độ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cao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-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  <a:blipFill>
                <a:blip r:embed="rId4"/>
                <a:stretch>
                  <a:fillRect l="-1043" t="-4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596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BE8A5E-60F1-CF8C-A733-FE15D275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Sự</a:t>
            </a:r>
            <a:r>
              <a:rPr lang="en-GB" dirty="0"/>
              <a:t> </a:t>
            </a:r>
            <a:r>
              <a:rPr lang="en-GB" dirty="0" err="1"/>
              <a:t>ra</a:t>
            </a:r>
            <a:r>
              <a:rPr lang="en-GB" dirty="0"/>
              <a:t> </a:t>
            </a:r>
            <a:r>
              <a:rPr lang="en-GB" dirty="0" err="1"/>
              <a:t>đời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Shell Sort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800019-2584-E1B1-D97B-58F30784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/>
          <a:lstStyle/>
          <a:p>
            <a:r>
              <a:rPr lang="vi-VN" dirty="0"/>
              <a:t>Nhược điểm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vi-VN" dirty="0"/>
              <a:t>của thuật toán Insertion Sort thể hiện khi mà ta luôn phải chèn một khoá vào vị trí gần đầu dãy.</a:t>
            </a:r>
            <a:endParaRPr lang="en-US" dirty="0"/>
          </a:p>
          <a:p>
            <a:r>
              <a:rPr lang="en-US" dirty="0" err="1"/>
              <a:t>Năm</a:t>
            </a:r>
            <a:r>
              <a:rPr lang="en-US" dirty="0"/>
              <a:t> 1959, Donald L. Shell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, hay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gọi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Shell Sort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Insertion Sort.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774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562F-7B07-1386-6C18-2B36C8E4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2. THUẬT TOÁN SHELL SORT</a:t>
            </a:r>
            <a:br>
              <a:rPr lang="vi-VN" b="0" dirty="0">
                <a:effectLst/>
              </a:rPr>
            </a:br>
            <a:r>
              <a:rPr lang="vi-VN" dirty="0"/>
              <a:t>2.1. Tư tưởng thuật toán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vi-VN" dirty="0"/>
                  <a:t>Với một bước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vi-VN" dirty="0"/>
                  <a:t>, áp dụng thuật toán sắp xếp kiểu chèn từng dãy con độc lập để làm mịn dần dãy khoá chính. Rồi lại làm tương tự đối với bước h thấp hơn, cho tới khi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vi-VN" dirty="0"/>
                  <a:t> thì ta được dãy khoá sắp xếp.</a:t>
                </a:r>
                <a:endParaRPr lang="vi-VN" b="0" dirty="0">
                  <a:effectLst/>
                </a:endParaRPr>
              </a:p>
              <a:p>
                <a:pPr marL="0" indent="0">
                  <a:buNone/>
                </a:pPr>
                <a:r>
                  <a:rPr lang="vi-VN" dirty="0"/>
                  <a:t>Xét dãy khoá: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. Với một số nguyên dương h: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, ta có thể chia dãy đó thành h dãy con:</a:t>
                </a:r>
                <a:endParaRPr lang="vi-VN" b="0" dirty="0">
                  <a:effectLst/>
                </a:endParaRPr>
              </a:p>
              <a:p>
                <a:r>
                  <a:rPr lang="en-US" dirty="0"/>
                  <a:t>    </a:t>
                </a:r>
                <a:r>
                  <a:rPr lang="vi-VN" dirty="0"/>
                  <a:t>Dãy con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h: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  <a:blipFill>
                <a:blip r:embed="rId2"/>
                <a:stretch>
                  <a:fillRect l="-1217" t="-350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33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Ví dụ: dãy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[62, 83, 18, 53, 7, 17, 95, 86, 47, 69, 25, 28]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=12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Chọn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 có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dãy con:</a:t>
                </a:r>
                <a:endParaRPr lang="en-GB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  <a:blipFill>
                <a:blip r:embed="rId3"/>
                <a:stretch>
                  <a:fillRect l="-928" t="-7634" b="-14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146794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chính</a:t>
                          </a: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62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86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69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[7]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[3]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[9]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[4]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146794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chính</a:t>
                          </a: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826" r="-11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826" r="-10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826" r="-9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826" r="-8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826" r="-7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826" r="-6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826" r="-5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826" r="-405310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826" r="-3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826" r="-2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826" r="-1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826" r="-1754" b="-2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100826" r="-38133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100826" r="-11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100826" r="-10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100826" r="-9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100826" r="-8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100826" r="-7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100826" r="-6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100826" r="-5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100826" r="-405310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100826" r="-3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100826" r="-2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100826" r="-1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100826" r="-1754" b="-1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200826" r="-38133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200826" r="-11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200826" r="-10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200826" r="-9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200826" r="-8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200826" r="-7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200826" r="-6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200826" r="-5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200826" r="-405310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200826" r="-3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200826" r="-2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200826" r="-1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200826" r="-1754" b="-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h𝑖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ệ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=17=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𝑠𝑎𝑢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ắ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ế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dùng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phải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thao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tác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trên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[18, 53, 62, 83]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dãy</a:t>
                </a:r>
                <a:r>
                  <a:rPr lang="en-US" sz="2400" dirty="0"/>
                  <a:t> con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-&gt;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[0]=62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[10]=25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cũng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Shell Sort </a:t>
                </a:r>
                <a:r>
                  <a:rPr lang="en-US" sz="2400" dirty="0" err="1"/>
                  <a:t>hiệu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quả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hơn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nhanh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chóng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về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trí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hoặc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gần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nó</a:t>
                </a:r>
                <a:r>
                  <a:rPr lang="en-US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  <a:blipFill>
                <a:blip r:embed="rId5"/>
                <a:stretch>
                  <a:fillRect l="-812" t="-17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4266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09E1F-2BD3-3812-AF41-A2C292703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13206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0AFF43-B499-6DEC-17E5-AB175465090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552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42B0E-9524-02E3-9458-9672A8BB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C20B5-AC3E-05FF-A470-9681C0AA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4026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1A83949-3C46-DDF3-B40E-C364F777501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5256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2000"/>
    </mc:Choice>
    <mc:Fallback xmlns="">
      <p:transition advClick="0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5ABF2-FFFA-6C3E-5699-5D6C3F81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C39816-FBD5-CE50-F13D-2B5C4A3EB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48323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4F33A88-22E8-7C3E-C700-7F4E2DFDAE1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40786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5175-5611-F5B0-68E9-C2EFCD4D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E9859E-7554-444C-0AC9-2561067452EC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35CDF6B-5C5E-1ADF-C4F5-D00731BA2BD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26312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F688-10F8-81E0-B484-3AEF94CC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21529-B615-E1F5-5D14-0DA3267C7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56286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26BD58-51FA-1D16-4AE1-C51DFC84D38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6250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7C180-3A00-2E3D-FFF4-B7420ADD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075BD0-1E9E-3670-5B18-98D71BA9F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941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CE02E99-8E78-A76B-57E6-7054A13965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39901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5042-B541-F910-33F7-BD3920F6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7DDEA2-F01A-9629-C261-C0175389A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24415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F456939-1986-96D5-C6C2-79FC8AB002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5224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9353-F53C-704D-DE56-3960A32F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7D2EBFD-05D9-5680-1250-504B5D5A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5862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A7CC93-C109-A35C-24A5-006F5CD62E8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37270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61A8-0154-4C4B-9E26-C9E772B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294E88-0A3A-9DBB-5899-99214597B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48461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0B5BB9C-B900-32F6-CC30-F662C97D0C9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93929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37A-7DD6-8EBE-908C-78455607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2A2B04-E22D-28A3-D900-28407A0C3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27389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82616C4-63D5-24C9-705E-AC9AA0FAC87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390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2BA2-F5E4-DA3D-4A7F-EAC9794B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E707DB-A96D-7606-E620-1AF8C3321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70936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B2710F-2914-72AF-CE84-18E90E030DF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340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63941-B208-0D0B-C6FC-A673F11D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B6AFD9-8BE0-AE71-E66D-252280A7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09650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4CD154-2CB8-066E-7DB6-68360E3E18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726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6B4CE-9B55-441F-B227-19F44DB7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1D8C95-9243-8793-81FC-3EFDEF257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65231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B81C71-F7D9-E84F-ADE5-F4EFBDEF690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247788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DA76-1EA6-CE18-361C-49E6AAFB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D126D-B6C2-EB71-7ADE-262D3BCAA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95188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72BC43F-88F6-CB7A-C97C-8044B742917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2544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BE54A-0DCC-915B-8194-F8B54A82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C713AF-BB59-099D-EBD1-5FC4D4BE2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0914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A301E3-56CA-44E5-9F17-E3A149104CE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1222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8D39-09CE-EF5F-1BA4-02CA34F49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9EA6C6-4577-2DE1-08F4-378AD94E19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00557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067E28-23B6-4B6C-3B10-48FD904C956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4652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D3380-701A-5921-13CC-301E88A0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B12CD9-BCEF-C7D2-4D9B-512FB9D350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26482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CA315E-AAAD-6DF2-4B65-DF0C8D300D3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65096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15F7-590D-9CD3-07F8-D8F4708F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88765B-F416-60EF-58D1-B65CF2BE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0814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DB2768-07B0-50F0-BCC1-9A1255F22E4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3259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AE56-5F7D-ACEC-9C34-20B2D0237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9E9AF6-9E4D-9C76-9693-E48DD56459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4584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661D0EC-D93B-8229-54F3-FE9F0B36D0C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507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DDB7-774B-8044-6E81-BBB644D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9E1BF2-3507-81DC-C0DD-03F23A318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404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A627F8-12E2-8F22-7906-7475D6B6869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05448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AED4-5D6B-DDF4-E9FA-11758EA7C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E9E69C-1BBC-B87C-4FE8-2800344F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17782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5044A2-AE70-0CCB-DE13-AA67492841A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6645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A9D1-2B69-D5ED-52DB-D6F513ED2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96D5F9-FF07-6C69-66DD-766998CED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11512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3CF198-DA55-7F6F-88C3-3538195626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172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4B82-1D6D-94D3-2E43-AF66C925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7FFB8-FC54-774D-E5B6-077BA57EE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1251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3E9B34-B4E4-B7A6-314C-1604BC021A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329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00F95-F925-C8D8-01BB-A54D7087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F396C-3950-9DB4-66C9-ABC5BDBD9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82498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C4AC92-15FD-1512-5EA8-9D0891B1082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805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C560-D950-848E-0A14-EF1AC5A0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27322A-F7F1-FCC4-B13B-1C4D535B2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404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D16A1-BF69-DD09-D29A-1A00F5DD730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775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6693-28DE-FD58-C376-480690D8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9BCACB-3AF6-90E5-D303-0184AB217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159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4CE970-7362-0A91-9511-E82F33FA867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692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1C85D-99DF-BCEF-3682-E0B2CAED9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E4A428-C11E-B9E2-D27B-257D6C10C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57336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664DE-594A-D249-46BB-B16F324DBF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7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2FC0-7BA4-6218-C5D6-15BFDB67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ACE169-ED23-7570-14D1-135290901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6782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957D8E-F131-1202-44EE-92A53397A7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0202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AF32-3924-1630-3944-53253416E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D45442-C819-DD2F-D3AA-1F9385B01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282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E933E8-7138-D6A8-7308-781D49F977A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335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8214-B599-1D9D-0B40-70518A14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AB4D13-8A31-AE69-687A-B842923AC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937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5286C1-5393-4DB6-30C0-8412CCB966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7578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A5A9-003E-F2AE-12D8-05D9EE6D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C40A9D-DC54-D65C-7D82-04608582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9966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9B6FA2-8DC3-4086-C7FC-714389C5F3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476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761-3F63-BBE9-EDA4-CF3E6862F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55797A-9A59-F024-2897-48C27662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0165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0569C-6E2A-B8B1-8984-5029AD7121B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4014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46044-B4ED-DB60-1FD4-0FD059A8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4B84E4-78B6-5397-4D34-F0A0C6666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349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FB2EF-2088-8305-B796-8B7243B28C6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744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E415-7FD1-5F00-6D6F-1AF43D811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BF565B3-4A93-7A5A-8274-B18EB4FD1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6877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1D9414-70B8-5375-07F0-C1C6B18163A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510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5812D-765D-4373-E9C5-0C94C19B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1729E8-DBE1-CF1E-DA98-FE95B59A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8920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B23A1B-122B-77D4-786A-6E54C765ED0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8016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F0079-4516-3B23-1389-AEB92303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6D7EC0-7BAA-6B68-9AEE-C6FDFF34BC71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CFE97E-7F1A-0D07-5D13-FD6689D87F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993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9A28-103C-3A46-1EE8-FB33FD29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FBD945-2E78-97CB-23F3-27CC33FB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0775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9F32A76-7CC8-92E1-9ED7-4D6A66870F1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4944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D675-F499-AFDE-9CF6-1540BA25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123B79-AA5F-2A62-8F3D-97F6F440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18878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1BEEC5-3BBF-D210-0132-026CA8867EA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52775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8421-0F74-9D2C-E865-2C652830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65FCDD-85B7-E234-6D81-B31F087C9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47997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9B3AF9C-5A62-D4AB-43BE-BC90F9055AD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257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29B1-3524-B0DE-0BCC-D4F84E2F4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400CD9-6466-22B5-5637-809F6CDC4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1073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C9E5C4A-0038-8ADD-2945-01E81166367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5768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417BE-E33B-8049-5980-C8D1D81C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1ACF0B-0735-1D18-EBE4-06AC0201D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240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74BE0CA-3803-0AAE-16C1-5BD864B8658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618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1218-C387-693E-9DB1-DD6F3787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828663-32A8-81CF-29DF-8C9948FF7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41641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F88BC2F-1DF8-FC91-5292-72B4EE2ADF0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54623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E2CB6-9BCC-75E1-41AC-7DE2F53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E1C860-8085-CF9C-9547-FB9B30F55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948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45361A9-D0BC-7C93-2900-12C6BFBCF36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0253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167D9-C85A-D6EB-BCA8-2CB81134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890D9-06F5-8D0C-2D9E-9AAE67F06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3914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FBC711-5C54-153B-6CCE-CDCB9BAAC53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263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B679-517A-6828-273F-72AED2CFD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207176-AA23-99CA-8F6E-1B6CE8733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688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67DDFA-7E22-8678-74E7-874862E2B1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9924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BC96-C253-1C87-8C2A-397EB138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B785A0-B112-FDC1-0AA3-9D18F8CE1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46593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FDD4B14-6D32-3D96-6116-4DD72F0C513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7896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A5E-FF94-BB25-8F3F-293A3210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BFDEC2-90FF-4DA8-2C02-B998488ED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449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95A97-73A4-F26A-C1EF-7E7B65D976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0507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B84A-D9EB-DA03-C2D0-80B1BDB7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(Generic)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8A041-1FE5-402F-9A92-0F9917434096}"/>
              </a:ext>
            </a:extLst>
          </p:cNvPr>
          <p:cNvSpPr txBox="1"/>
          <p:nvPr/>
        </p:nvSpPr>
        <p:spPr>
          <a:xfrm>
            <a:off x="1141379" y="1810464"/>
            <a:ext cx="9909241" cy="483209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ShellSort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GB" sz="1400" b="0" i="0" u="none" strike="noStrike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    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bool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=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CDCAA"/>
                </a:solidFill>
                <a:latin typeface="Courier New" panose="02070309020205020404" pitchFamily="49" charset="0"/>
              </a:rPr>
              <a:t>Swap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,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 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400" b="0" i="0" u="none" strike="noStrike" dirty="0">
              <a:solidFill>
                <a:srgbClr val="C586C0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foreach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&gt;=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–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+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continue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? 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               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: </a:t>
            </a:r>
            <a:r>
              <a:rPr lang="en-GB" sz="1400" dirty="0" err="1">
                <a:solidFill>
                  <a:srgbClr val="9CDCFE"/>
                </a:solidFill>
                <a:latin typeface="Courier New" panose="02070309020205020404" pitchFamily="49" charset="0"/>
              </a:rPr>
              <a:t>arr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j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-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solidFill>
                  <a:srgbClr val="DCDCAA"/>
                </a:solidFill>
                <a:latin typeface="Courier New" panose="02070309020205020404" pitchFamily="49" charset="0"/>
              </a:rPr>
              <a:t>CompareTo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key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   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}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en-GB" sz="1400" b="0" dirty="0">
              <a:effectLst/>
            </a:endParaRP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8458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FD408-25A3-2708-CCB0-8B7B0AA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CFA23D-AE19-87CD-34F9-978FF038B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65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0C4-6739-E9C8-9CCC-60472BE4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Trường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Gap Sequence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Khi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sẵn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duyệt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Tổng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sz="2400" b="0" i="1" baseline="-25000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pt-B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−1)−</m:t>
                      </m:r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~ 142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tuỳ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.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vậy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𝑁𝑙𝑜𝑔𝑁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US" baseline="300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  <a:blipFill>
                <a:blip r:embed="rId3"/>
                <a:stretch>
                  <a:fillRect l="-2118" t="-265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2FB831-9F12-08A2-05D1-B78D4E3C86EE}"/>
              </a:ext>
            </a:extLst>
          </p:cNvPr>
          <p:cNvSpPr txBox="1"/>
          <p:nvPr/>
        </p:nvSpPr>
        <p:spPr>
          <a:xfrm>
            <a:off x="6019800" y="1822451"/>
            <a:ext cx="6172200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BestGenerateValue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Next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4962771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348-36C3-4D28-1433-D13524A8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Sử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Sedgewick 1982, </a:t>
                </a:r>
                <a:r>
                  <a:rPr lang="en-US" dirty="0" err="1"/>
                  <a:t>lấy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GB" dirty="0"/>
                  <a:t>,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EC0E5BD-1959-E4AD-6EF4-719AA8024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4059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EBF7-A8D4-DE53-6CE8-B12D75C6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6.1. Shell (1959)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vi-VN" dirty="0"/>
                  <a:t>Độ dài mỗi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giảm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nửa</a:t>
                </a:r>
                <a:r>
                  <a:rPr lang="en-US" dirty="0"/>
                  <a:t>,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thiểu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1, hay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. Các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hoặc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.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500s)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 r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EB66684-0A2D-2A82-163C-CDE127786A3A}"/>
              </a:ext>
            </a:extLst>
          </p:cNvPr>
          <p:cNvSpPr txBox="1"/>
          <p:nvPr/>
        </p:nvSpPr>
        <p:spPr>
          <a:xfrm>
            <a:off x="6172202" y="1825625"/>
            <a:ext cx="5257800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 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/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b="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6440C-B2F1-EB5C-4C28-C9209313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56950"/>
            <a:ext cx="5257800" cy="144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69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4136488-461C-5BFA-090F-AF2B6E9E7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000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24F85-83E7-1A4D-0834-E5548583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US" dirty="0"/>
                  <a:t>Đ</a:t>
                </a:r>
                <a:r>
                  <a:rPr lang="en-GB" dirty="0"/>
                  <a:t>ộ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1.6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A3334-AABC-DFA6-7A83-6FB060995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887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3083-0292-009E-9A7D-BC916E4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6278E-BE74-9776-D38F-719A7B1A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6.2. Hibbard (1963)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Hibbard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0A8BA28-CD3C-D548-88C8-DC1FCC85DF05}"/>
              </a:ext>
            </a:extLst>
          </p:cNvPr>
          <p:cNvSpPr txBox="1"/>
          <p:nvPr/>
        </p:nvSpPr>
        <p:spPr>
          <a:xfrm>
            <a:off x="6172202" y="1829808"/>
            <a:ext cx="5119775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Hibbard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DCDCAA"/>
                </a:solidFill>
                <a:latin typeface="Courier New" panose="02070309020205020404" pitchFamily="49" charset="0"/>
              </a:rPr>
              <a:t>Add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GB" sz="1200" dirty="0">
                <a:solidFill>
                  <a:srgbClr val="C586C0"/>
                </a:solidFill>
                <a:latin typeface="Courier New" panose="02070309020205020404" pitchFamily="49" charset="0"/>
              </a:rPr>
              <a:t>    while 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b="0" dirty="0">
              <a:effectLst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E9CDA46-C227-1AD6-D21C-0E1F083A9E93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1F79B-23A6-539F-8918-E6122ED65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18" y="3584134"/>
            <a:ext cx="5124359" cy="113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49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8DD5-5FE7-9FD8-8EF9-16E16FB1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trung</a:t>
                </a:r>
                <a:r>
                  <a:rPr lang="en-GB" dirty="0"/>
                  <a:t> </a:t>
                </a:r>
                <a:r>
                  <a:rPr lang="en-GB" dirty="0" err="1"/>
                  <a:t>bình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760B009-AB69-3361-E0E9-3F7B27719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796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B9A6-9638-82FF-FB03-4F29C24B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13C7-C247-7345-DE3E-414BFADFE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6.3. Pratt (1971)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. Tuy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làm</a:t>
                </a:r>
                <a:r>
                  <a:rPr lang="en-US" dirty="0"/>
                  <a:t> </a:t>
                </a:r>
                <a:r>
                  <a:rPr lang="en-US" dirty="0" err="1"/>
                  <a:t>mịn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nổi</a:t>
                </a:r>
                <a:r>
                  <a:rPr lang="en-US" dirty="0"/>
                  <a:t> </a:t>
                </a:r>
                <a:r>
                  <a:rPr lang="en-US" dirty="0" err="1"/>
                  <a:t>bật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qua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liên</a:t>
                </a:r>
                <a:r>
                  <a:rPr lang="en-US" dirty="0"/>
                  <a:t> </a:t>
                </a:r>
                <a:r>
                  <a:rPr lang="en-US" dirty="0" err="1"/>
                  <a:t>tục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48E4625-86AB-2A09-FE61-70F1435441DD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828C5-0AA5-7E02-E9C2-A7504BBC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072" b="6953"/>
          <a:stretch>
            <a:fillRect/>
          </a:stretch>
        </p:blipFill>
        <p:spPr>
          <a:xfrm>
            <a:off x="6172201" y="3448744"/>
            <a:ext cx="5119775" cy="33895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5769C6-A124-976A-A6E2-0DD5CC633914}"/>
              </a:ext>
            </a:extLst>
          </p:cNvPr>
          <p:cNvSpPr txBox="1"/>
          <p:nvPr/>
        </p:nvSpPr>
        <p:spPr>
          <a:xfrm>
            <a:off x="6172200" y="1205274"/>
            <a:ext cx="5119775" cy="224676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Pratt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Sort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=&gt;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sắp xếp ngược dãy số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sz="1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236427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65E19-984F-708E-3AC9-0120AFED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9816" b="-18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B96B7A3-4D02-2A94-8A0F-CDAAEBC45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797692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77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9BAC-152A-3DFD-2C83-332B0109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76A54-4D0B-7C68-EB12-1F021D9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6.4. Sedgewick (1982)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Sedgewick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Sedgewick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1986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. </a:t>
                </a:r>
                <a:r>
                  <a:rPr lang="en-US" dirty="0" err="1"/>
                  <a:t>Thế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chạm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  <a:blipFill>
                <a:blip r:embed="rId3"/>
                <a:stretch>
                  <a:fillRect l="-2118" t="-2184" r="-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68E3D2F-6093-B859-41A2-3846EE8AAFD2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95F5B-E325-FC0E-0262-B681CAE94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474" y="3450077"/>
            <a:ext cx="6029526" cy="1487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642C-F090-BFD5-59B5-C22CB2B5826C}"/>
              </a:ext>
            </a:extLst>
          </p:cNvPr>
          <p:cNvSpPr txBox="1"/>
          <p:nvPr/>
        </p:nvSpPr>
        <p:spPr>
          <a:xfrm>
            <a:off x="6162474" y="1834250"/>
            <a:ext cx="6029526" cy="161582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Sedgewick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955378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F0281-43DA-B12E-DA41-78892CAB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34B34D-2783-A615-3E01-809CE01ED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3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900-45CF-D353-A261-A6B2B469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97807-0D0C-931B-BE3E-63EB23F39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7. Gap Sequence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– Ciura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(2001)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Ciura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. Các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cố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4, 10, 23, 57, 132, 301, 701}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Sau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cộng</a:t>
                </a:r>
                <a:r>
                  <a:rPr lang="en-US" dirty="0"/>
                  <a:t> </a:t>
                </a:r>
                <a:r>
                  <a:rPr lang="en-US" dirty="0" err="1"/>
                  <a:t>đồng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 </a:t>
                </a:r>
                <a:r>
                  <a:rPr lang="en-US" dirty="0" err="1"/>
                  <a:t>rộng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=2.25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  <a:blipFill>
                <a:blip r:embed="rId3"/>
                <a:stretch>
                  <a:fillRect l="-2118" t="-2118" b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4E281E2-A563-67B3-7D6C-0C38FD666677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C31EF-71E4-99CD-FFF9-D06A1305758B}"/>
              </a:ext>
            </a:extLst>
          </p:cNvPr>
          <p:cNvSpPr txBox="1"/>
          <p:nvPr/>
        </p:nvSpPr>
        <p:spPr>
          <a:xfrm>
            <a:off x="6162474" y="1834249"/>
            <a:ext cx="5393986" cy="263149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CiuraEx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57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132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301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701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, </a:t>
            </a:r>
            <a:r>
              <a:rPr lang="en-GB" sz="1100" dirty="0">
                <a:solidFill>
                  <a:srgbClr val="B5CEA8"/>
                </a:solidFill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phần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mở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rộng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double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((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2.25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rtl="0">
              <a:buNone/>
            </a:pP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 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 </a:t>
            </a:r>
            <a:r>
              <a:rPr lang="en-GB" sz="1100" dirty="0">
                <a:solidFill>
                  <a:srgbClr val="D4D4D4"/>
                </a:solidFill>
                <a:latin typeface="Courier New" panose="02070309020205020404" pitchFamily="49" charset="0"/>
              </a:rPr>
              <a:t>= 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sz="1100" dirty="0" err="1">
                <a:solidFill>
                  <a:srgbClr val="4EC9B0"/>
                </a:solidFill>
                <a:latin typeface="Courier New" panose="02070309020205020404" pitchFamily="49" charset="0"/>
              </a:rPr>
              <a:t>Math</a:t>
            </a:r>
            <a:r>
              <a:rPr lang="en-GB" sz="11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100" dirty="0" err="1">
                <a:solidFill>
                  <a:srgbClr val="DCDCAA"/>
                </a:solidFill>
                <a:latin typeface="Courier New" panose="02070309020205020404" pitchFamily="49" charset="0"/>
              </a:rPr>
              <a:t>Round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 err="1">
                <a:solidFill>
                  <a:srgbClr val="9CDCFE"/>
                </a:solidFill>
                <a:latin typeface="Courier New" panose="02070309020205020404" pitchFamily="49" charset="0"/>
              </a:rPr>
              <a:t>maxgap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2CBA-FC69-164B-92DC-125E7EDA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607"/>
          <a:stretch>
            <a:fillRect/>
          </a:stretch>
        </p:blipFill>
        <p:spPr>
          <a:xfrm>
            <a:off x="6162475" y="4423945"/>
            <a:ext cx="5393986" cy="101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821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30C4-9C86-3E59-DB8D-4131E3A2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=1149471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A944728-10FB-04C7-33FF-7C38B69BE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3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 err="1"/>
                  <a:t>Thống</a:t>
                </a:r>
                <a:r>
                  <a:rPr lang="en-US" dirty="0"/>
                  <a:t> </a:t>
                </a:r>
                <a:r>
                  <a:rPr lang="en-US" dirty="0" err="1"/>
                  <a:t>kê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	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trên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ABC8715-1B90-1880-9796-45C81FAF44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610402"/>
              </p:ext>
            </p:extLst>
          </p:nvPr>
        </p:nvGraphicFramePr>
        <p:xfrm>
          <a:off x="2032000" y="1517334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850436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EC4-09AC-3A5D-DD97-C9CEE975B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DC5D-0618-4F96-2804-1233F933E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Shell Sort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duy</a:t>
                </a:r>
                <a:r>
                  <a:rPr lang="en-US" dirty="0"/>
                  <a:t> </a:t>
                </a:r>
                <a:r>
                  <a:rPr lang="en-US" dirty="0" err="1"/>
                  <a:t>trì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Ví</a:t>
                </a:r>
                <a:r>
                  <a:rPr lang="en-US" dirty="0"/>
                  <a:t> </a:t>
                </a:r>
                <a:r>
                  <a:rPr lang="en-US" dirty="0" err="1"/>
                  <a:t>dụ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3, 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1]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Với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[4]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chèn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3, 2,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Sau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ta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2, 3,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Như </a:t>
                </a:r>
                <a:r>
                  <a:rPr lang="en-US" dirty="0" err="1"/>
                  <a:t>vậy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đánh</a:t>
                </a:r>
                <a:r>
                  <a:rPr lang="en-US" dirty="0"/>
                  <a:t> </a:t>
                </a:r>
                <a:r>
                  <a:rPr lang="en-US" dirty="0" err="1"/>
                  <a:t>đổi</a:t>
                </a:r>
                <a:r>
                  <a:rPr lang="en-US" dirty="0"/>
                  <a:t> </a:t>
                </a:r>
                <a:r>
                  <a:rPr lang="en-US" dirty="0" err="1"/>
                  <a:t>hiệu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Shell Sort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xáo</a:t>
                </a:r>
                <a:r>
                  <a:rPr lang="en-US" dirty="0"/>
                  <a:t> </a:t>
                </a:r>
                <a:r>
                  <a:rPr lang="en-US" dirty="0" err="1"/>
                  <a:t>trộn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chúng</a:t>
                </a:r>
                <a:r>
                  <a:rPr lang="en-US" dirty="0"/>
                  <a:t> </a:t>
                </a:r>
                <a:r>
                  <a:rPr lang="en-US" dirty="0" err="1"/>
                  <a:t>lệch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192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D2C5-66E4-DBB6-26CE-A38B5BD7B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9.1.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Nhanh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cổ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Insertion Sort, Bubble Sort, Selection Sort.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hằng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cấp</a:t>
                </a:r>
                <a:r>
                  <a:rPr lang="en-US" dirty="0"/>
                  <a:t> </a:t>
                </a:r>
                <a:r>
                  <a:rPr lang="en-US" dirty="0" err="1"/>
                  <a:t>phát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nhớ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Dễ</a:t>
                </a:r>
                <a:r>
                  <a:rPr lang="en-US" dirty="0"/>
                  <a:t> </a:t>
                </a:r>
                <a:r>
                  <a:rPr lang="en-US" dirty="0" err="1"/>
                  <a:t>cài</a:t>
                </a:r>
                <a:r>
                  <a:rPr lang="en-US" dirty="0"/>
                  <a:t> </a:t>
                </a:r>
                <a:r>
                  <a:rPr lang="en-US" dirty="0" err="1"/>
                  <a:t>đặt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696156E-3897-9788-DD60-8E149872D95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9.2.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Chậm </a:t>
                </a:r>
                <a:r>
                  <a:rPr lang="en-US" dirty="0" err="1"/>
                  <a:t>hơn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kinh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Quick Sort, Merge Sort </a:t>
                </a:r>
                <a:r>
                  <a:rPr lang="en-US" dirty="0" err="1"/>
                  <a:t>và</a:t>
                </a:r>
                <a:r>
                  <a:rPr lang="en-US" dirty="0"/>
                  <a:t> Heap Sort</a:t>
                </a:r>
              </a:p>
              <a:p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sai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238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6C46-804C-716C-CA47-A4E367EA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BF92-90D0-0BA5-5808-9C7AE2A0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giới</a:t>
                </a:r>
                <a:r>
                  <a:rPr lang="en-US" dirty="0"/>
                  <a:t> </a:t>
                </a:r>
                <a:r>
                  <a:rPr lang="en-US" dirty="0" err="1"/>
                  <a:t>hạ</a:t>
                </a:r>
                <a:r>
                  <a:rPr lang="en-US" dirty="0"/>
                  <a:t>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,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nay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nghiên</a:t>
                </a:r>
                <a:r>
                  <a:rPr lang="en-US" dirty="0"/>
                  <a:t> </a:t>
                </a:r>
                <a:r>
                  <a:rPr lang="en-US" dirty="0" err="1"/>
                  <a:t>cứu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(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:r>
                  <a:rPr lang="en-US" dirty="0" err="1"/>
                  <a:t>thuộc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):</a:t>
                </a:r>
              </a:p>
              <a:p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𝑁𝑙𝑜𝑔𝑁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Trung </a:t>
                </a:r>
                <a:r>
                  <a:rPr lang="en-US" dirty="0" err="1"/>
                  <a:t>bình</a:t>
                </a:r>
                <a:r>
                  <a:rPr lang="en-US" dirty="0"/>
                  <a:t>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(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1117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5E28-5987-EFF6-BA8A-04A1DCAB4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Danh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9657-2281-C648-90BF-5AA7412A1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worst case in Shell Sort and Related Algorithms – Bjorn </a:t>
            </a:r>
            <a:r>
              <a:rPr lang="en-US" dirty="0" err="1"/>
              <a:t>Poonen</a:t>
            </a:r>
            <a:endParaRPr lang="en-US" dirty="0"/>
          </a:p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– Lê Minh Hoàng</a:t>
            </a:r>
          </a:p>
          <a:p>
            <a:r>
              <a:rPr lang="en-US" dirty="0" err="1"/>
              <a:t>GeeksforGeeks</a:t>
            </a:r>
            <a:r>
              <a:rPr lang="en-US" dirty="0"/>
              <a:t> – Shell Sort, Insertion Sort</a:t>
            </a:r>
          </a:p>
          <a:p>
            <a:r>
              <a:rPr lang="en-US" dirty="0"/>
              <a:t>Wikipedia – </a:t>
            </a:r>
            <a:r>
              <a:rPr lang="en-US" dirty="0" err="1"/>
              <a:t>Shellsort</a:t>
            </a:r>
            <a:endParaRPr lang="en-US" dirty="0"/>
          </a:p>
          <a:p>
            <a:r>
              <a:rPr lang="en-US" dirty="0"/>
              <a:t>Hibbard – Communications of the ACM Volume 6, Issue 5 – An Empirical Study of Minimal Storage Sorting</a:t>
            </a:r>
          </a:p>
          <a:p>
            <a:r>
              <a:rPr lang="en-US" dirty="0"/>
              <a:t>Knuth – The Art of Computer Programming Vol 3</a:t>
            </a:r>
          </a:p>
          <a:p>
            <a:r>
              <a:rPr lang="en-US" dirty="0"/>
              <a:t>Robert Sedgewick – A New Upper Bound for </a:t>
            </a:r>
            <a:r>
              <a:rPr lang="en-US" dirty="0" err="1"/>
              <a:t>Shellsort</a:t>
            </a:r>
            <a:endParaRPr lang="en-GB" dirty="0"/>
          </a:p>
          <a:p>
            <a:r>
              <a:rPr lang="en-US" dirty="0"/>
              <a:t>Robert Sedgewick – Improving Upper Bound for </a:t>
            </a:r>
            <a:r>
              <a:rPr lang="en-US" dirty="0" err="1"/>
              <a:t>Shellsort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21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1800</TotalTime>
  <Words>3618</Words>
  <Application>Microsoft Office PowerPoint</Application>
  <PresentationFormat>Widescreen</PresentationFormat>
  <Paragraphs>862</Paragraphs>
  <Slides>74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1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Sắp xếp chèn với độ dài bước giảm dần – Shell Sort</vt:lpstr>
      <vt:lpstr>1. Insertion Sort 1.1. Tóm tắt ý tưởng và thuật toán</vt:lpstr>
      <vt:lpstr>Cài đặt Insertion Sort (mảng chạy trong đoạn [left, right]):</vt:lpstr>
      <vt:lpstr>1.2. Ưu điểm:</vt:lpstr>
      <vt:lpstr>2. Sự ra đời của Shell Sort</vt:lpstr>
      <vt:lpstr>2. THUẬT TOÁN SHELL SORT 2.1. Tư tưởng thuật toán</vt:lpstr>
      <vt:lpstr>Ví dụ: dãy [62, 83, 18, 53, 7, 17, 95, 86, 47, 69, 25, 28], n=12. Chọn h=5 ta có 2 dãy con: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Cài đặt tổng quát (Generic)</vt:lpstr>
      <vt:lpstr>Output</vt:lpstr>
      <vt:lpstr>5. Trường hợp tốt nhất cho mọi Gap Sequence</vt:lpstr>
      <vt:lpstr>Sử dụng dãy của Sedgewick 1982, lấy  N=4^9+3∙2^8+2, chạy 1000 lần.</vt:lpstr>
      <vt:lpstr>6. Gap Sequence cổ điển 6.1. Shell (1959)</vt:lpstr>
      <vt:lpstr>Trường hợp tệ nhất với N=2^20, 1 lần chạy. Độ phức tạp là O(N^2).</vt:lpstr>
      <vt:lpstr>Thực nghiệm với N=2^20, 1000 lần chạy Độ phức tạp xấp xỉ O(N^1.6 ).</vt:lpstr>
      <vt:lpstr>6. Gap Sequence cổ điển 6.2. Hibbard (1963)</vt:lpstr>
      <vt:lpstr>Thực nghiệm với N=10^6, 1000 lần chạy Độ phức tạp trung bình xấp xỉ O(N^1.33).</vt:lpstr>
      <vt:lpstr>6. Gap Sequence cổ điển 6.3. Pratt (1971)</vt:lpstr>
      <vt:lpstr>Thực nghiệm với N=2^20, 1000 lần chạy Độ phức tạp xấp xỉ O(N (log^2 N)/2)</vt:lpstr>
      <vt:lpstr>6. Gap Sequence cổ điển 6.4. Sedgewick (1982)</vt:lpstr>
      <vt:lpstr>Thực nghiệm với N=4^10+3∙2^9+1, 1000 lần chạy. Độ phức tạp xấp xỉ O(N^1.25).</vt:lpstr>
      <vt:lpstr>7. Gap Sequence hiện đại – Ciura mở rộng (2001)</vt:lpstr>
      <vt:lpstr>Thực nghiệm với N=1149471, 1000 lần chạy. Độ phức tạp xấp xỉ O(N^1.25).</vt:lpstr>
      <vt:lpstr>Thống kê độ phức tạp trung bình các phần tử  chạy trên 1000 lần:</vt:lpstr>
      <vt:lpstr>8. Tính ổn định</vt:lpstr>
      <vt:lpstr>9. Tổng kết 9.1. Ưu điểm</vt:lpstr>
      <vt:lpstr>9. Tổng kết 9.3. Kết luận</vt:lpstr>
      <vt:lpstr>Danh mục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Le Van</dc:creator>
  <cp:lastModifiedBy>Minh Le Van</cp:lastModifiedBy>
  <cp:revision>5</cp:revision>
  <dcterms:created xsi:type="dcterms:W3CDTF">2026-02-09T06:18:02Z</dcterms:created>
  <dcterms:modified xsi:type="dcterms:W3CDTF">2026-02-22T20:03:23Z</dcterms:modified>
</cp:coreProperties>
</file>