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4"/>
  </p:notesMasterIdLst>
  <p:sldIdLst>
    <p:sldId id="256" r:id="rId2"/>
    <p:sldId id="258" r:id="rId3"/>
    <p:sldId id="257" r:id="rId4"/>
    <p:sldId id="259" r:id="rId5"/>
    <p:sldId id="314" r:id="rId6"/>
    <p:sldId id="260" r:id="rId7"/>
    <p:sldId id="262" r:id="rId8"/>
    <p:sldId id="263" r:id="rId9"/>
    <p:sldId id="264" r:id="rId10"/>
    <p:sldId id="265" r:id="rId11"/>
    <p:sldId id="374" r:id="rId12"/>
    <p:sldId id="318" r:id="rId13"/>
    <p:sldId id="319" r:id="rId14"/>
    <p:sldId id="320" r:id="rId15"/>
    <p:sldId id="321" r:id="rId16"/>
    <p:sldId id="375" r:id="rId17"/>
    <p:sldId id="376" r:id="rId18"/>
    <p:sldId id="377" r:id="rId19"/>
    <p:sldId id="378" r:id="rId20"/>
    <p:sldId id="379" r:id="rId21"/>
    <p:sldId id="324" r:id="rId22"/>
    <p:sldId id="380" r:id="rId23"/>
    <p:sldId id="381" r:id="rId24"/>
    <p:sldId id="382" r:id="rId25"/>
    <p:sldId id="383" r:id="rId26"/>
    <p:sldId id="384" r:id="rId27"/>
    <p:sldId id="385" r:id="rId28"/>
    <p:sldId id="386" r:id="rId29"/>
    <p:sldId id="387" r:id="rId30"/>
    <p:sldId id="388" r:id="rId31"/>
    <p:sldId id="389" r:id="rId32"/>
    <p:sldId id="390" r:id="rId33"/>
    <p:sldId id="330" r:id="rId34"/>
    <p:sldId id="331" r:id="rId35"/>
    <p:sldId id="332" r:id="rId36"/>
    <p:sldId id="333" r:id="rId37"/>
    <p:sldId id="334" r:id="rId38"/>
    <p:sldId id="335" r:id="rId39"/>
    <p:sldId id="346" r:id="rId40"/>
    <p:sldId id="337" r:id="rId41"/>
    <p:sldId id="338" r:id="rId42"/>
    <p:sldId id="339" r:id="rId43"/>
    <p:sldId id="341" r:id="rId44"/>
    <p:sldId id="342" r:id="rId45"/>
    <p:sldId id="347" r:id="rId46"/>
    <p:sldId id="343" r:id="rId47"/>
    <p:sldId id="344" r:id="rId48"/>
    <p:sldId id="345" r:id="rId49"/>
    <p:sldId id="348" r:id="rId50"/>
    <p:sldId id="349" r:id="rId51"/>
    <p:sldId id="299" r:id="rId52"/>
    <p:sldId id="300" r:id="rId53"/>
    <p:sldId id="301" r:id="rId54"/>
    <p:sldId id="302" r:id="rId55"/>
    <p:sldId id="303" r:id="rId56"/>
    <p:sldId id="304" r:id="rId57"/>
    <p:sldId id="305" r:id="rId58"/>
    <p:sldId id="306" r:id="rId59"/>
    <p:sldId id="307" r:id="rId60"/>
    <p:sldId id="310" r:id="rId61"/>
    <p:sldId id="312" r:id="rId62"/>
    <p:sldId id="311" r:id="rId63"/>
    <p:sldId id="313" r:id="rId64"/>
    <p:sldId id="364" r:id="rId65"/>
    <p:sldId id="316" r:id="rId66"/>
    <p:sldId id="373" r:id="rId67"/>
    <p:sldId id="315" r:id="rId68"/>
    <p:sldId id="350" r:id="rId69"/>
    <p:sldId id="367" r:id="rId70"/>
    <p:sldId id="351" r:id="rId71"/>
    <p:sldId id="352" r:id="rId72"/>
    <p:sldId id="354" r:id="rId73"/>
    <p:sldId id="371" r:id="rId74"/>
    <p:sldId id="355" r:id="rId75"/>
    <p:sldId id="370" r:id="rId76"/>
    <p:sldId id="361" r:id="rId77"/>
    <p:sldId id="369" r:id="rId78"/>
    <p:sldId id="372" r:id="rId79"/>
    <p:sldId id="362" r:id="rId80"/>
    <p:sldId id="358" r:id="rId81"/>
    <p:sldId id="360" r:id="rId82"/>
    <p:sldId id="353" r:id="rId8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5D1A4B22-3FEC-4960-9A14-732DCFBB8079}">
          <p14:sldIdLst>
            <p14:sldId id="256"/>
          </p14:sldIdLst>
        </p14:section>
        <p14:section name="Insertion Sort" id="{F96A28F4-CF0A-461E-B6C2-2CA6E949160D}">
          <p14:sldIdLst>
            <p14:sldId id="258"/>
            <p14:sldId id="257"/>
            <p14:sldId id="259"/>
            <p14:sldId id="314"/>
          </p14:sldIdLst>
        </p14:section>
        <p14:section name="Shell Sort - basics" id="{3E6DCF57-D4D1-42BA-A67D-E609F5B07C46}">
          <p14:sldIdLst>
            <p14:sldId id="260"/>
            <p14:sldId id="262"/>
          </p14:sldIdLst>
        </p14:section>
        <p14:section name="shell sort's math visualizer" id="{F06E3354-0EFB-461F-9A85-26DCD76A3985}">
          <p14:sldIdLst>
            <p14:sldId id="263"/>
            <p14:sldId id="264"/>
            <p14:sldId id="265"/>
            <p14:sldId id="374"/>
            <p14:sldId id="318"/>
            <p14:sldId id="319"/>
            <p14:sldId id="320"/>
            <p14:sldId id="321"/>
            <p14:sldId id="375"/>
            <p14:sldId id="376"/>
            <p14:sldId id="377"/>
            <p14:sldId id="378"/>
            <p14:sldId id="379"/>
            <p14:sldId id="324"/>
            <p14:sldId id="380"/>
            <p14:sldId id="381"/>
            <p14:sldId id="382"/>
            <p14:sldId id="383"/>
            <p14:sldId id="384"/>
            <p14:sldId id="385"/>
            <p14:sldId id="386"/>
            <p14:sldId id="387"/>
            <p14:sldId id="388"/>
            <p14:sldId id="389"/>
            <p14:sldId id="390"/>
            <p14:sldId id="330"/>
            <p14:sldId id="331"/>
            <p14:sldId id="332"/>
            <p14:sldId id="333"/>
            <p14:sldId id="334"/>
            <p14:sldId id="335"/>
            <p14:sldId id="346"/>
            <p14:sldId id="337"/>
            <p14:sldId id="338"/>
            <p14:sldId id="339"/>
            <p14:sldId id="341"/>
            <p14:sldId id="342"/>
            <p14:sldId id="347"/>
            <p14:sldId id="343"/>
            <p14:sldId id="344"/>
            <p14:sldId id="345"/>
            <p14:sldId id="348"/>
            <p14:sldId id="349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10"/>
            <p14:sldId id="312"/>
            <p14:sldId id="311"/>
          </p14:sldIdLst>
        </p14:section>
        <p14:section name="shell sort code" id="{40440B52-AE49-4623-B4BA-3A7681245854}">
          <p14:sldIdLst>
            <p14:sldId id="313"/>
            <p14:sldId id="364"/>
            <p14:sldId id="316"/>
            <p14:sldId id="373"/>
            <p14:sldId id="315"/>
            <p14:sldId id="350"/>
            <p14:sldId id="367"/>
            <p14:sldId id="351"/>
            <p14:sldId id="352"/>
            <p14:sldId id="354"/>
            <p14:sldId id="371"/>
            <p14:sldId id="355"/>
            <p14:sldId id="370"/>
            <p14:sldId id="361"/>
            <p14:sldId id="369"/>
            <p14:sldId id="372"/>
            <p14:sldId id="362"/>
            <p14:sldId id="358"/>
            <p14:sldId id="360"/>
            <p14:sldId id="35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D2D3AB9-6D09-48F5-8ECE-C6DCB325CA74}" v="3193" dt="2026-02-12T04:31:15.95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173" autoAdjust="0"/>
    <p:restoredTop sz="84078" autoAdjust="0"/>
  </p:normalViewPr>
  <p:slideViewPr>
    <p:cSldViewPr snapToGrid="0" showGuides="1">
      <p:cViewPr varScale="1">
        <p:scale>
          <a:sx n="98" d="100"/>
          <a:sy n="98" d="100"/>
        </p:scale>
        <p:origin x="1236" y="9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notesMaster" Target="notesMasters/notesMaster1.xml"/><Relationship Id="rId89" Type="http://schemas.microsoft.com/office/2015/10/relationships/revisionInfo" Target="revisionInfo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heme" Target="theme/theme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Hibbard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numRef>
              <c:f>Sheet1!$A$2:$A$8</c:f>
              <c:numCache>
                <c:formatCode>General</c:formatCode>
                <c:ptCount val="7"/>
                <c:pt idx="0">
                  <c:v>8192</c:v>
                </c:pt>
                <c:pt idx="1">
                  <c:v>16384</c:v>
                </c:pt>
                <c:pt idx="2">
                  <c:v>32768</c:v>
                </c:pt>
                <c:pt idx="3">
                  <c:v>65536</c:v>
                </c:pt>
                <c:pt idx="4">
                  <c:v>131072</c:v>
                </c:pt>
                <c:pt idx="5">
                  <c:v>262144</c:v>
                </c:pt>
                <c:pt idx="6">
                  <c:v>524288</c:v>
                </c:pt>
              </c:numCache>
            </c:numRef>
          </c:xVal>
          <c:yVal>
            <c:numRef>
              <c:f>Sheet1!$B$2:$B$8</c:f>
              <c:numCache>
                <c:formatCode>General</c:formatCode>
                <c:ptCount val="7"/>
                <c:pt idx="0">
                  <c:v>1.7767477</c:v>
                </c:pt>
                <c:pt idx="1">
                  <c:v>3.9424874000000001</c:v>
                </c:pt>
                <c:pt idx="2">
                  <c:v>8.8050739999999994</c:v>
                </c:pt>
                <c:pt idx="3">
                  <c:v>19.565072700000002</c:v>
                </c:pt>
                <c:pt idx="4">
                  <c:v>43.518731099999997</c:v>
                </c:pt>
                <c:pt idx="5">
                  <c:v>96.742796100000007</c:v>
                </c:pt>
                <c:pt idx="6">
                  <c:v>215.47253689999999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AC29-467C-8262-76AE7B9DE28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Pratt</c:v>
                </c:pt>
              </c:strCache>
            </c:strRef>
          </c:tx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numRef>
              <c:f>Sheet1!$A$2:$A$8</c:f>
              <c:numCache>
                <c:formatCode>General</c:formatCode>
                <c:ptCount val="7"/>
                <c:pt idx="0">
                  <c:v>8192</c:v>
                </c:pt>
                <c:pt idx="1">
                  <c:v>16384</c:v>
                </c:pt>
                <c:pt idx="2">
                  <c:v>32768</c:v>
                </c:pt>
                <c:pt idx="3">
                  <c:v>65536</c:v>
                </c:pt>
                <c:pt idx="4">
                  <c:v>131072</c:v>
                </c:pt>
                <c:pt idx="5">
                  <c:v>262144</c:v>
                </c:pt>
                <c:pt idx="6">
                  <c:v>524288</c:v>
                </c:pt>
              </c:numCache>
            </c:numRef>
          </c:xVal>
          <c:yVal>
            <c:numRef>
              <c:f>Sheet1!$C$2:$C$8</c:f>
              <c:numCache>
                <c:formatCode>General</c:formatCode>
                <c:ptCount val="7"/>
                <c:pt idx="0">
                  <c:v>2.7683238999999999</c:v>
                </c:pt>
                <c:pt idx="1">
                  <c:v>6.3018387000000002</c:v>
                </c:pt>
                <c:pt idx="2">
                  <c:v>14.3704275</c:v>
                </c:pt>
                <c:pt idx="3">
                  <c:v>35.500532300000003</c:v>
                </c:pt>
                <c:pt idx="4">
                  <c:v>98.918795200000005</c:v>
                </c:pt>
                <c:pt idx="5">
                  <c:v>183.79928179999999</c:v>
                </c:pt>
                <c:pt idx="6">
                  <c:v>405.39581700000002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AC29-467C-8262-76AE7B9DE28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Sedgewick</c:v>
                </c:pt>
              </c:strCache>
            </c:strRef>
          </c:tx>
          <c:spPr>
            <a:ln w="190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xVal>
            <c:numRef>
              <c:f>Sheet1!$A$2:$A$8</c:f>
              <c:numCache>
                <c:formatCode>General</c:formatCode>
                <c:ptCount val="7"/>
                <c:pt idx="0">
                  <c:v>8192</c:v>
                </c:pt>
                <c:pt idx="1">
                  <c:v>16384</c:v>
                </c:pt>
                <c:pt idx="2">
                  <c:v>32768</c:v>
                </c:pt>
                <c:pt idx="3">
                  <c:v>65536</c:v>
                </c:pt>
                <c:pt idx="4">
                  <c:v>131072</c:v>
                </c:pt>
                <c:pt idx="5">
                  <c:v>262144</c:v>
                </c:pt>
                <c:pt idx="6">
                  <c:v>524288</c:v>
                </c:pt>
              </c:numCache>
            </c:numRef>
          </c:xVal>
          <c:yVal>
            <c:numRef>
              <c:f>Sheet1!$D$2:$D$8</c:f>
              <c:numCache>
                <c:formatCode>General</c:formatCode>
                <c:ptCount val="7"/>
                <c:pt idx="0">
                  <c:v>1.3974945000000001</c:v>
                </c:pt>
                <c:pt idx="1">
                  <c:v>6.0334706999999996</c:v>
                </c:pt>
                <c:pt idx="2">
                  <c:v>6.6724068000000001</c:v>
                </c:pt>
                <c:pt idx="3">
                  <c:v>17.4565202</c:v>
                </c:pt>
                <c:pt idx="4">
                  <c:v>33.985061799999997</c:v>
                </c:pt>
                <c:pt idx="5">
                  <c:v>72.610791699999993</c:v>
                </c:pt>
                <c:pt idx="6">
                  <c:v>174.13898510000001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AC29-467C-8262-76AE7B9DE28D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CiuraEx</c:v>
                </c:pt>
              </c:strCache>
            </c:strRef>
          </c:tx>
          <c:spPr>
            <a:ln w="19050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xVal>
            <c:numRef>
              <c:f>Sheet1!$A$2:$A$8</c:f>
              <c:numCache>
                <c:formatCode>General</c:formatCode>
                <c:ptCount val="7"/>
                <c:pt idx="0">
                  <c:v>8192</c:v>
                </c:pt>
                <c:pt idx="1">
                  <c:v>16384</c:v>
                </c:pt>
                <c:pt idx="2">
                  <c:v>32768</c:v>
                </c:pt>
                <c:pt idx="3">
                  <c:v>65536</c:v>
                </c:pt>
                <c:pt idx="4">
                  <c:v>131072</c:v>
                </c:pt>
                <c:pt idx="5">
                  <c:v>262144</c:v>
                </c:pt>
                <c:pt idx="6">
                  <c:v>524288</c:v>
                </c:pt>
              </c:numCache>
            </c:numRef>
          </c:xVal>
          <c:yVal>
            <c:numRef>
              <c:f>Sheet1!$E$2:$E$8</c:f>
              <c:numCache>
                <c:formatCode>General</c:formatCode>
                <c:ptCount val="7"/>
                <c:pt idx="0">
                  <c:v>1.5343354</c:v>
                </c:pt>
                <c:pt idx="1">
                  <c:v>3.3713310999999999</c:v>
                </c:pt>
                <c:pt idx="2">
                  <c:v>7.3472808000000001</c:v>
                </c:pt>
                <c:pt idx="3">
                  <c:v>15.954226999999999</c:v>
                </c:pt>
                <c:pt idx="4">
                  <c:v>34.451206499999998</c:v>
                </c:pt>
                <c:pt idx="5">
                  <c:v>74.0876193</c:v>
                </c:pt>
                <c:pt idx="6">
                  <c:v>158.54731190000001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AC29-467C-8262-76AE7B9DE28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39378480"/>
        <c:axId val="539377520"/>
      </c:scatterChart>
      <c:valAx>
        <c:axId val="539378480"/>
        <c:scaling>
          <c:logBase val="2"/>
          <c:orientation val="minMax"/>
          <c:max val="524289"/>
          <c:min val="8192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 baseline="0"/>
                  <a:t>X-Axis: Array Size (Log Scale)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39377520"/>
        <c:crosses val="autoZero"/>
        <c:crossBetween val="midCat"/>
        <c:majorUnit val="2"/>
      </c:valAx>
      <c:valAx>
        <c:axId val="539377520"/>
        <c:scaling>
          <c:logBase val="2"/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bg2">
                  <a:lumMod val="7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/>
                  <a:t>Y</a:t>
                </a:r>
                <a:r>
                  <a:rPr lang="en-GB" baseline="0"/>
                  <a:t>-Axis: Estimated Time (Log Scale)</a:t>
                </a:r>
                <a:endParaRPr lang="en-GB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GB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39378480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1DEAEB-F923-4226-8BE3-CFA9DCE2444E}" type="datetimeFigureOut">
              <a:rPr lang="en-GB" smtClean="0"/>
              <a:t>23/02/2026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6E8E1B-683D-4636-A679-4455696B47F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91031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6E8E1B-683D-4636-A679-4455696B47F1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3289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 err="1"/>
              <a:t>Mảng</a:t>
            </a:r>
            <a:r>
              <a:rPr lang="en-US" dirty="0"/>
              <a:t> </a:t>
            </a:r>
            <a:r>
              <a:rPr lang="en-US" dirty="0" err="1"/>
              <a:t>chạy</a:t>
            </a:r>
            <a:r>
              <a:rPr lang="en-US" dirty="0"/>
              <a:t> </a:t>
            </a:r>
            <a:r>
              <a:rPr lang="en-US" dirty="0" err="1"/>
              <a:t>từ</a:t>
            </a:r>
            <a:r>
              <a:rPr lang="en-US" dirty="0"/>
              <a:t> 0.</a:t>
            </a:r>
          </a:p>
          <a:p>
            <a:pPr marL="228600" indent="-228600">
              <a:buAutoNum type="arabicPeriod"/>
            </a:pPr>
            <a:r>
              <a:rPr lang="vi-VN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Trong các dãy con là lấy các vị trí đã sắp xếp (Ví dụ k[10] = 25 là giá trị khi chưa sắp xếp nhưng khi đã sắp xếp thì nó ở k[3] tức vị trí thứ 4).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6E8E1B-683D-4636-A679-4455696B47F1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02871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Khá</a:t>
            </a:r>
            <a:r>
              <a:rPr lang="en-US" dirty="0"/>
              <a:t> xa so </a:t>
            </a:r>
            <a:r>
              <a:rPr lang="en-US" dirty="0" err="1"/>
              <a:t>với</a:t>
            </a:r>
            <a:r>
              <a:rPr lang="en-US" dirty="0"/>
              <a:t> log^2(N) </a:t>
            </a:r>
            <a:r>
              <a:rPr lang="en-US" dirty="0" err="1"/>
              <a:t>đấy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6E8E1B-683D-4636-A679-4455696B47F1}" type="slidenum">
              <a:rPr lang="en-GB" smtClean="0"/>
              <a:t>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4422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5F505-9C50-C2A1-9682-47556904D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BE719A-4489-9396-C87B-39463A392D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E87C3657-E27F-FBAF-4FBD-588DAB35B2FB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Quy </a:t>
                </a:r>
                <a:r>
                  <a:rPr lang="en-US" dirty="0" err="1"/>
                  <a:t>ước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2∙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sup>
                    </m:sSup>
                  </m:oMath>
                </a14:m>
                <a:r>
                  <a:rPr lang="en-US" b="0" dirty="0"/>
                  <a:t> </a:t>
                </a:r>
                <a:r>
                  <a:rPr lang="en-US" b="0" dirty="0" err="1"/>
                  <a:t>phép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tính</a:t>
                </a:r>
                <a:r>
                  <a:rPr lang="en-US" b="0" baseline="0" dirty="0"/>
                  <a:t> (</a:t>
                </a:r>
                <a:r>
                  <a:rPr lang="en-US" b="0" baseline="0" dirty="0" err="1"/>
                  <a:t>nhanh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gấp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đôi</a:t>
                </a:r>
                <a:r>
                  <a:rPr lang="en-US" b="0" baseline="0" dirty="0"/>
                  <a:t> so </a:t>
                </a:r>
                <a:r>
                  <a:rPr lang="en-US" b="0" baseline="0" dirty="0" err="1"/>
                  <a:t>với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tiêu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chuẩn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trên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các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nền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tảng</a:t>
                </a:r>
                <a:r>
                  <a:rPr lang="en-US" b="0" baseline="0" dirty="0"/>
                  <a:t> ONLINE JUDGE </a:t>
                </a:r>
                <a:r>
                  <a:rPr lang="en-US" b="0" baseline="0" dirty="0" err="1"/>
                  <a:t>quốc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tế</a:t>
                </a:r>
                <a:r>
                  <a:rPr lang="en-US" b="0" baseline="0" dirty="0"/>
                  <a:t>)</a:t>
                </a:r>
                <a:endParaRPr lang="en-US" b="0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Quy </a:t>
                </a:r>
                <a:r>
                  <a:rPr lang="en-US" dirty="0" err="1"/>
                  <a:t>ước</a:t>
                </a:r>
                <a:r>
                  <a:rPr lang="en-US" dirty="0"/>
                  <a:t>: </a:t>
                </a:r>
                <a:r>
                  <a:rPr lang="en-US" b="0" i="0">
                    <a:latin typeface="Cambria Math" panose="02040503050406030204" pitchFamily="18" charset="0"/>
                  </a:rPr>
                  <a:t>1</a:t>
                </a:r>
                <a:r>
                  <a:rPr lang="en-US" dirty="0"/>
                  <a:t>s </a:t>
                </a:r>
                <a:r>
                  <a:rPr lang="en-US" i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≈</a:t>
                </a:r>
                <a:r>
                  <a:rPr lang="en-US" b="0" i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2∙10^8</a:t>
                </a:r>
                <a:r>
                  <a:rPr lang="en-US" b="0" dirty="0"/>
                  <a:t> </a:t>
                </a:r>
                <a:r>
                  <a:rPr lang="en-US" b="0" dirty="0" err="1"/>
                  <a:t>phép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tính</a:t>
                </a:r>
                <a:r>
                  <a:rPr lang="en-US" b="0" baseline="0" dirty="0"/>
                  <a:t> (</a:t>
                </a:r>
                <a:r>
                  <a:rPr lang="en-US" b="0" baseline="0" dirty="0" err="1"/>
                  <a:t>nhanh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gấp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đôi</a:t>
                </a:r>
                <a:r>
                  <a:rPr lang="en-US" b="0" baseline="0" dirty="0"/>
                  <a:t> so </a:t>
                </a:r>
                <a:r>
                  <a:rPr lang="en-US" b="0" baseline="0" dirty="0" err="1"/>
                  <a:t>với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tiêu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chuẩn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trên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các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nền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tảng</a:t>
                </a:r>
                <a:r>
                  <a:rPr lang="en-US" b="0" baseline="0" dirty="0"/>
                  <a:t> ONLINE JUDGE </a:t>
                </a:r>
                <a:r>
                  <a:rPr lang="en-US" b="0" baseline="0" dirty="0" err="1"/>
                  <a:t>quốc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tế</a:t>
                </a:r>
                <a:r>
                  <a:rPr lang="en-US" b="0" baseline="0"/>
                  <a:t>)</a:t>
                </a:r>
                <a:endParaRPr lang="en-US" b="0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59B55B-1E0B-791B-E301-4222E8E8D0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6E8E1B-683D-4636-A679-4455696B47F1}" type="slidenum">
              <a:rPr lang="en-GB" smtClean="0"/>
              <a:t>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39806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Quy </a:t>
                </a:r>
                <a:r>
                  <a:rPr lang="en-US" dirty="0" err="1"/>
                  <a:t>ước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2∙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sup>
                    </m:sSup>
                  </m:oMath>
                </a14:m>
                <a:r>
                  <a:rPr lang="en-US" b="0" dirty="0"/>
                  <a:t> </a:t>
                </a:r>
                <a:r>
                  <a:rPr lang="en-US" b="0" dirty="0" err="1"/>
                  <a:t>phép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tính</a:t>
                </a:r>
                <a:r>
                  <a:rPr lang="en-US" b="0" baseline="0" dirty="0"/>
                  <a:t> (</a:t>
                </a:r>
                <a:r>
                  <a:rPr lang="en-US" b="0" baseline="0" dirty="0" err="1"/>
                  <a:t>nhanh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gấp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đôi</a:t>
                </a:r>
                <a:r>
                  <a:rPr lang="en-US" b="0" baseline="0" dirty="0"/>
                  <a:t> so </a:t>
                </a:r>
                <a:r>
                  <a:rPr lang="en-US" b="0" baseline="0" dirty="0" err="1"/>
                  <a:t>với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tiêu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chuẩn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trên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các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nền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tảng</a:t>
                </a:r>
                <a:r>
                  <a:rPr lang="en-US" b="0" baseline="0" dirty="0"/>
                  <a:t> ONLINE JUDGE </a:t>
                </a:r>
                <a:r>
                  <a:rPr lang="en-US" b="0" baseline="0" dirty="0" err="1"/>
                  <a:t>quốc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tế</a:t>
                </a:r>
                <a:r>
                  <a:rPr lang="en-US" b="0" baseline="0"/>
                  <a:t>)</a:t>
                </a:r>
                <a:endParaRPr lang="en-US" b="0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Quy </a:t>
                </a:r>
                <a:r>
                  <a:rPr lang="en-US" dirty="0" err="1"/>
                  <a:t>ước</a:t>
                </a:r>
                <a:r>
                  <a:rPr lang="en-US" dirty="0"/>
                  <a:t>: </a:t>
                </a:r>
                <a:r>
                  <a:rPr lang="en-US" b="0" i="0">
                    <a:latin typeface="Cambria Math" panose="02040503050406030204" pitchFamily="18" charset="0"/>
                  </a:rPr>
                  <a:t>1</a:t>
                </a:r>
                <a:r>
                  <a:rPr lang="en-US" dirty="0"/>
                  <a:t>s </a:t>
                </a:r>
                <a:r>
                  <a:rPr lang="en-US" i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≈</a:t>
                </a:r>
                <a:r>
                  <a:rPr lang="en-US" b="0" i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2∙10^8</a:t>
                </a:r>
                <a:r>
                  <a:rPr lang="en-US" b="0" dirty="0"/>
                  <a:t> </a:t>
                </a:r>
                <a:r>
                  <a:rPr lang="en-US" b="0" dirty="0" err="1"/>
                  <a:t>phép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tính</a:t>
                </a:r>
                <a:r>
                  <a:rPr lang="en-US" b="0" baseline="0" dirty="0"/>
                  <a:t> (</a:t>
                </a:r>
                <a:r>
                  <a:rPr lang="en-US" b="0" baseline="0" dirty="0" err="1"/>
                  <a:t>nhanh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gấp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đôi</a:t>
                </a:r>
                <a:r>
                  <a:rPr lang="en-US" b="0" baseline="0" dirty="0"/>
                  <a:t> so </a:t>
                </a:r>
                <a:r>
                  <a:rPr lang="en-US" b="0" baseline="0" dirty="0" err="1"/>
                  <a:t>với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tiêu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chuẩn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trên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các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nền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tảng</a:t>
                </a:r>
                <a:r>
                  <a:rPr lang="en-US" b="0" baseline="0" dirty="0"/>
                  <a:t> ONLINE JUDGE </a:t>
                </a:r>
                <a:r>
                  <a:rPr lang="en-US" b="0" baseline="0" dirty="0" err="1"/>
                  <a:t>quốc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tế</a:t>
                </a:r>
                <a:r>
                  <a:rPr lang="en-US" b="0" baseline="0"/>
                  <a:t>)</a:t>
                </a:r>
                <a:endParaRPr lang="en-US" b="0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6E8E1B-683D-4636-A679-4455696B47F1}" type="slidenum">
              <a:rPr lang="en-GB" smtClean="0"/>
              <a:t>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62117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Hibbard </a:t>
                </a:r>
                <a:r>
                  <a:rPr lang="en-US" dirty="0" err="1"/>
                  <a:t>xấp</a:t>
                </a:r>
                <a:r>
                  <a:rPr lang="en-US" dirty="0"/>
                  <a:t> </a:t>
                </a:r>
                <a:r>
                  <a:rPr lang="en-US" dirty="0" err="1"/>
                  <a:t>xỉ</a:t>
                </a:r>
                <a:r>
                  <a:rPr lang="en-US" dirty="0"/>
                  <a:t> </a:t>
                </a:r>
                <a:r>
                  <a:rPr lang="en-US" dirty="0" err="1"/>
                  <a:t>luỹ</a:t>
                </a:r>
                <a:r>
                  <a:rPr lang="en-US" dirty="0"/>
                  <a:t> </a:t>
                </a:r>
                <a:r>
                  <a:rPr lang="en-US" dirty="0" err="1"/>
                  <a:t>thừa</a:t>
                </a:r>
                <a:r>
                  <a:rPr lang="en-US" dirty="0"/>
                  <a:t> </a:t>
                </a:r>
                <a:r>
                  <a:rPr lang="en-US" dirty="0" err="1"/>
                  <a:t>của</a:t>
                </a:r>
                <a:r>
                  <a:rPr lang="en-US" dirty="0"/>
                  <a:t> 2 </a:t>
                </a:r>
                <a:r>
                  <a:rPr lang="en-US" dirty="0" err="1"/>
                  <a:t>nên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=2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−3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Giả </a:t>
                </a:r>
                <a:r>
                  <a:rPr lang="en-US" dirty="0" err="1"/>
                  <a:t>sử</a:t>
                </a:r>
                <a:r>
                  <a:rPr lang="en-US" dirty="0"/>
                  <a:t> ta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giao</a:t>
                </a:r>
                <a:r>
                  <a:rPr lang="en-US" dirty="0"/>
                  <a:t> </a:t>
                </a:r>
                <a:r>
                  <a:rPr lang="en-US" dirty="0" err="1"/>
                  <a:t>điểm</a:t>
                </a:r>
                <a:r>
                  <a:rPr lang="en-US" dirty="0"/>
                  <a:t> </a:t>
                </a:r>
                <a:r>
                  <a:rPr lang="en-US" dirty="0" err="1"/>
                  <a:t>giữa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 Shell </a:t>
                </a:r>
                <a:r>
                  <a:rPr lang="en-US" dirty="0" err="1"/>
                  <a:t>và</a:t>
                </a:r>
                <a:r>
                  <a:rPr lang="en-US" dirty="0"/>
                  <a:t> Hibbard </a:t>
                </a:r>
                <a:r>
                  <a:rPr lang="en-US" dirty="0" err="1"/>
                  <a:t>với</a:t>
                </a:r>
                <a:r>
                  <a:rPr lang="en-US" dirty="0"/>
                  <a:t> chi </a:t>
                </a:r>
                <a:r>
                  <a:rPr lang="en-US" dirty="0" err="1"/>
                  <a:t>phí</a:t>
                </a:r>
                <a:r>
                  <a:rPr lang="en-US" dirty="0"/>
                  <a:t> </a:t>
                </a:r>
                <a:r>
                  <a:rPr lang="en-US" dirty="0" err="1"/>
                  <a:t>lần</a:t>
                </a:r>
                <a:r>
                  <a:rPr lang="en-US" dirty="0"/>
                  <a:t> </a:t>
                </a:r>
                <a:r>
                  <a:rPr lang="en-US" dirty="0" err="1"/>
                  <a:t>lượt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baseline="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dirty="0"/>
                  <a:t> =</a:t>
                </a:r>
                <a:r>
                  <a:rPr lang="en-US" baseline="0" dirty="0"/>
                  <a:t> </a:t>
                </a:r>
                <a14:m>
                  <m:oMath xmlns:m="http://schemas.openxmlformats.org/officeDocument/2006/math">
                    <m:r>
                      <a:rPr lang="en-US" b="0" i="1" baseline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b="0" i="1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</m:t>
                    </m:r>
                    <m:r>
                      <a:rPr lang="en-US" b="0" i="1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r>
                      <a:rPr lang="en-US" b="0" i="1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b="0" i="1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b="0" i="1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en-US" b="0" i="1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  <m:r>
                          <a:rPr lang="en-US" b="0" i="1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−3</m:t>
                        </m:r>
                      </m:e>
                    </m:d>
                  </m:oMath>
                </a14:m>
                <a:endParaRPr lang="en-US" b="0" baseline="0" dirty="0">
                  <a:ea typeface="Cambria Math" panose="02040503050406030204" pitchFamily="18" charset="0"/>
                </a:endParaRPr>
              </a:p>
              <a:p>
                <a:r>
                  <a:rPr lang="en-US" i="0" dirty="0">
                    <a:latin typeface="+mn-lt"/>
                  </a:rPr>
                  <a:t>Từ</a:t>
                </a:r>
                <a:r>
                  <a:rPr lang="en-US" i="0" baseline="0" dirty="0">
                    <a:latin typeface="+mn-lt"/>
                  </a:rPr>
                  <a:t> phương trình trên ta được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(2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−3)</m:t>
                    </m:r>
                  </m:oMath>
                </a14:m>
                <a:endParaRPr lang="en-US" dirty="0"/>
              </a:p>
              <a:p>
                <a:r>
                  <a:rPr lang="en-GB" dirty="0" err="1"/>
                  <a:t>Với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≈79</m:t>
                    </m:r>
                  </m:oMath>
                </a14:m>
                <a:endParaRPr lang="en-GB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dirty="0"/>
                  <a:t>Khác </a:t>
                </a:r>
                <a:r>
                  <a:rPr lang="en-US" dirty="0" err="1"/>
                  <a:t>với</a:t>
                </a:r>
                <a:r>
                  <a:rPr lang="en-US" dirty="0"/>
                  <a:t> Shell, </a:t>
                </a:r>
                <a:r>
                  <a:rPr lang="en-US" dirty="0" err="1"/>
                  <a:t>dãy</a:t>
                </a:r>
                <a:r>
                  <a:rPr lang="en-US" dirty="0"/>
                  <a:t> </a:t>
                </a:r>
                <a:r>
                  <a:rPr lang="en-US" dirty="0" err="1"/>
                  <a:t>này</a:t>
                </a:r>
                <a:r>
                  <a:rPr lang="en-US" dirty="0"/>
                  <a:t>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tính</a:t>
                </a:r>
                <a:r>
                  <a:rPr lang="en-US" dirty="0"/>
                  <a:t> </a:t>
                </a:r>
                <a:r>
                  <a:rPr lang="en-US" dirty="0" err="1"/>
                  <a:t>chất</a:t>
                </a:r>
                <a:r>
                  <a:rPr lang="en-US" dirty="0"/>
                  <a:t> </a:t>
                </a:r>
                <a:r>
                  <a:rPr lang="en-US" dirty="0" err="1"/>
                  <a:t>nguyên</a:t>
                </a:r>
                <a:r>
                  <a:rPr lang="en-US" dirty="0"/>
                  <a:t> </a:t>
                </a:r>
                <a:r>
                  <a:rPr lang="en-US" dirty="0" err="1"/>
                  <a:t>tố</a:t>
                </a:r>
                <a:r>
                  <a:rPr lang="en-US" dirty="0"/>
                  <a:t> </a:t>
                </a:r>
                <a:r>
                  <a:rPr lang="en-US" dirty="0" err="1"/>
                  <a:t>cùng</a:t>
                </a:r>
                <a:r>
                  <a:rPr lang="en-US" dirty="0"/>
                  <a:t> </a:t>
                </a:r>
                <a:r>
                  <a:rPr lang="en-US" dirty="0" err="1"/>
                  <a:t>nhau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gcd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=1.</m:t>
                    </m:r>
                  </m:oMath>
                </a14:m>
                <a:endParaRPr lang="en-US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Hibbard </a:t>
                </a:r>
                <a:r>
                  <a:rPr lang="en-US" dirty="0" err="1"/>
                  <a:t>xấp</a:t>
                </a:r>
                <a:r>
                  <a:rPr lang="en-US" dirty="0"/>
                  <a:t> </a:t>
                </a:r>
                <a:r>
                  <a:rPr lang="en-US" dirty="0" err="1"/>
                  <a:t>xỉ</a:t>
                </a:r>
                <a:r>
                  <a:rPr lang="en-US" dirty="0"/>
                  <a:t> </a:t>
                </a:r>
                <a:r>
                  <a:rPr lang="en-US" dirty="0" err="1"/>
                  <a:t>luỹ</a:t>
                </a:r>
                <a:r>
                  <a:rPr lang="en-US" dirty="0"/>
                  <a:t> </a:t>
                </a:r>
                <a:r>
                  <a:rPr lang="en-US" dirty="0" err="1"/>
                  <a:t>thừa</a:t>
                </a:r>
                <a:r>
                  <a:rPr lang="en-US" dirty="0"/>
                  <a:t> </a:t>
                </a:r>
                <a:r>
                  <a:rPr lang="en-US" dirty="0" err="1"/>
                  <a:t>của</a:t>
                </a:r>
                <a:r>
                  <a:rPr lang="en-US" dirty="0"/>
                  <a:t> 2 </a:t>
                </a:r>
                <a:r>
                  <a:rPr lang="en-US" dirty="0" err="1"/>
                  <a:t>nên</a:t>
                </a:r>
                <a:r>
                  <a:rPr lang="en-US" dirty="0"/>
                  <a:t> </a:t>
                </a:r>
                <a:r>
                  <a:rPr lang="en-US" b="0" i="0">
                    <a:latin typeface="Cambria Math" panose="02040503050406030204" pitchFamily="18" charset="0"/>
                  </a:rPr>
                  <a:t>ℎ_(𝑘+1)=2ℎ_𝑘  </a:t>
                </a:r>
                <a:r>
                  <a:rPr lang="en-US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→𝑔=2ℎ_𝑘^2−3ℎ_𝑘</a:t>
                </a:r>
                <a:r>
                  <a:rPr lang="en-US" dirty="0"/>
                  <a:t> </a:t>
                </a:r>
              </a:p>
              <a:p>
                <a:r>
                  <a:rPr lang="en-US" dirty="0"/>
                  <a:t>Giả </a:t>
                </a:r>
                <a:r>
                  <a:rPr lang="en-US" dirty="0" err="1"/>
                  <a:t>sử</a:t>
                </a:r>
                <a:r>
                  <a:rPr lang="en-US" dirty="0"/>
                  <a:t> ta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giao</a:t>
                </a:r>
                <a:r>
                  <a:rPr lang="en-US" dirty="0"/>
                  <a:t> </a:t>
                </a:r>
                <a:r>
                  <a:rPr lang="en-US" dirty="0" err="1"/>
                  <a:t>điểm</a:t>
                </a:r>
                <a:r>
                  <a:rPr lang="en-US" dirty="0"/>
                  <a:t> </a:t>
                </a:r>
                <a:r>
                  <a:rPr lang="en-US" dirty="0" err="1"/>
                  <a:t>giữa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 Shell </a:t>
                </a:r>
                <a:r>
                  <a:rPr lang="en-US" dirty="0" err="1"/>
                  <a:t>và</a:t>
                </a:r>
                <a:r>
                  <a:rPr lang="en-US" dirty="0"/>
                  <a:t> Hibbard </a:t>
                </a:r>
                <a:r>
                  <a:rPr lang="en-US" dirty="0" err="1"/>
                  <a:t>với</a:t>
                </a:r>
                <a:r>
                  <a:rPr lang="en-US" dirty="0"/>
                  <a:t> chi </a:t>
                </a:r>
                <a:r>
                  <a:rPr lang="en-US" dirty="0" err="1"/>
                  <a:t>phí</a:t>
                </a:r>
                <a:r>
                  <a:rPr lang="en-US" dirty="0"/>
                  <a:t> </a:t>
                </a:r>
                <a:r>
                  <a:rPr lang="en-US" dirty="0" err="1"/>
                  <a:t>lần</a:t>
                </a:r>
                <a:r>
                  <a:rPr lang="en-US" dirty="0"/>
                  <a:t> </a:t>
                </a:r>
                <a:r>
                  <a:rPr lang="en-US" dirty="0" err="1"/>
                  <a:t>lượt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baseline="0" dirty="0"/>
                  <a:t> </a:t>
                </a:r>
                <a:r>
                  <a:rPr lang="en-US" b="0" i="0">
                    <a:latin typeface="Cambria Math" panose="02040503050406030204" pitchFamily="18" charset="0"/>
                  </a:rPr>
                  <a:t>𝑁^2/ℎ</a:t>
                </a:r>
                <a:r>
                  <a:rPr lang="en-US" dirty="0"/>
                  <a:t> =</a:t>
                </a:r>
                <a:r>
                  <a:rPr lang="en-US" baseline="0" dirty="0"/>
                  <a:t> </a:t>
                </a:r>
                <a:r>
                  <a:rPr lang="en-US" b="0" i="0" baseline="0">
                    <a:latin typeface="Cambria Math" panose="02040503050406030204" pitchFamily="18" charset="0"/>
                  </a:rPr>
                  <a:t>𝑁</a:t>
                </a:r>
                <a:r>
                  <a:rPr lang="en-US" b="0" i="0" baseline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∙𝑔=𝑁∙ℎ(2ℎ−3)</a:t>
                </a:r>
                <a:endParaRPr lang="en-US" b="0" baseline="0" dirty="0">
                  <a:ea typeface="Cambria Math" panose="02040503050406030204" pitchFamily="18" charset="0"/>
                </a:endParaRPr>
              </a:p>
              <a:p>
                <a:r>
                  <a:rPr lang="en-US" i="0" dirty="0">
                    <a:latin typeface="+mn-lt"/>
                  </a:rPr>
                  <a:t>Từ</a:t>
                </a:r>
                <a:r>
                  <a:rPr lang="en-US" i="0" baseline="0" dirty="0">
                    <a:latin typeface="+mn-lt"/>
                  </a:rPr>
                  <a:t> phương trình trên ta được </a:t>
                </a:r>
                <a:r>
                  <a:rPr lang="en-US" b="0" i="0">
                    <a:latin typeface="Cambria Math" panose="02040503050406030204" pitchFamily="18" charset="0"/>
                  </a:rPr>
                  <a:t>𝑁=ℎ^2 (2ℎ−3)</a:t>
                </a:r>
                <a:endParaRPr lang="en-US" dirty="0"/>
              </a:p>
              <a:p>
                <a:r>
                  <a:rPr lang="en-GB" dirty="0" err="1"/>
                  <a:t>Với</a:t>
                </a:r>
                <a:r>
                  <a:rPr lang="en-GB" dirty="0"/>
                  <a:t> </a:t>
                </a:r>
                <a:r>
                  <a:rPr lang="en-US" b="0" i="0">
                    <a:latin typeface="Cambria Math" panose="02040503050406030204" pitchFamily="18" charset="0"/>
                  </a:rPr>
                  <a:t>𝑁=10^6→ℎ≈19</a:t>
                </a:r>
                <a:endParaRPr lang="en-GB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6E8E1B-683D-4636-A679-4455696B47F1}" type="slidenum">
              <a:rPr lang="en-GB" smtClean="0"/>
              <a:t>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46360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B22E14-6DD8-C4B2-82AD-B1B54B9FA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E8FA17-28DA-B47A-E9AF-6C33D5CDD5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5404627B-F0F6-9B03-0F66-10D961BF9D47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endParaRPr lang="en-GB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5404627B-F0F6-9B03-0F66-10D961BF9D47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Hibbard </a:t>
                </a:r>
                <a:r>
                  <a:rPr lang="en-US" dirty="0" err="1"/>
                  <a:t>xấp</a:t>
                </a:r>
                <a:r>
                  <a:rPr lang="en-US" dirty="0"/>
                  <a:t> </a:t>
                </a:r>
                <a:r>
                  <a:rPr lang="en-US" dirty="0" err="1"/>
                  <a:t>xỉ</a:t>
                </a:r>
                <a:r>
                  <a:rPr lang="en-US" dirty="0"/>
                  <a:t> </a:t>
                </a:r>
                <a:r>
                  <a:rPr lang="en-US" dirty="0" err="1"/>
                  <a:t>luỹ</a:t>
                </a:r>
                <a:r>
                  <a:rPr lang="en-US" dirty="0"/>
                  <a:t> </a:t>
                </a:r>
                <a:r>
                  <a:rPr lang="en-US" dirty="0" err="1"/>
                  <a:t>thừa</a:t>
                </a:r>
                <a:r>
                  <a:rPr lang="en-US" dirty="0"/>
                  <a:t> </a:t>
                </a:r>
                <a:r>
                  <a:rPr lang="en-US" dirty="0" err="1"/>
                  <a:t>của</a:t>
                </a:r>
                <a:r>
                  <a:rPr lang="en-US" dirty="0"/>
                  <a:t> 2 </a:t>
                </a:r>
                <a:r>
                  <a:rPr lang="en-US" dirty="0" err="1"/>
                  <a:t>nên</a:t>
                </a:r>
                <a:r>
                  <a:rPr lang="en-US" dirty="0"/>
                  <a:t> </a:t>
                </a:r>
                <a:r>
                  <a:rPr lang="en-US" b="0" i="0">
                    <a:latin typeface="Cambria Math" panose="02040503050406030204" pitchFamily="18" charset="0"/>
                  </a:rPr>
                  <a:t>ℎ_(𝑘+1)=2ℎ_𝑘  </a:t>
                </a:r>
                <a:r>
                  <a:rPr lang="en-US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→𝑔=2ℎ_𝑘^2−3ℎ_𝑘</a:t>
                </a:r>
                <a:r>
                  <a:rPr lang="en-US" dirty="0"/>
                  <a:t> </a:t>
                </a:r>
              </a:p>
              <a:p>
                <a:r>
                  <a:rPr lang="en-US" dirty="0"/>
                  <a:t>Giả </a:t>
                </a:r>
                <a:r>
                  <a:rPr lang="en-US" dirty="0" err="1"/>
                  <a:t>sử</a:t>
                </a:r>
                <a:r>
                  <a:rPr lang="en-US" dirty="0"/>
                  <a:t> ta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giao</a:t>
                </a:r>
                <a:r>
                  <a:rPr lang="en-US" dirty="0"/>
                  <a:t> </a:t>
                </a:r>
                <a:r>
                  <a:rPr lang="en-US" dirty="0" err="1"/>
                  <a:t>điểm</a:t>
                </a:r>
                <a:r>
                  <a:rPr lang="en-US" dirty="0"/>
                  <a:t> </a:t>
                </a:r>
                <a:r>
                  <a:rPr lang="en-US" dirty="0" err="1"/>
                  <a:t>giữa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 Shell </a:t>
                </a:r>
                <a:r>
                  <a:rPr lang="en-US" dirty="0" err="1"/>
                  <a:t>và</a:t>
                </a:r>
                <a:r>
                  <a:rPr lang="en-US" dirty="0"/>
                  <a:t> Hibbard </a:t>
                </a:r>
                <a:r>
                  <a:rPr lang="en-US" dirty="0" err="1"/>
                  <a:t>với</a:t>
                </a:r>
                <a:r>
                  <a:rPr lang="en-US" dirty="0"/>
                  <a:t> chi </a:t>
                </a:r>
                <a:r>
                  <a:rPr lang="en-US" dirty="0" err="1"/>
                  <a:t>phí</a:t>
                </a:r>
                <a:r>
                  <a:rPr lang="en-US" dirty="0"/>
                  <a:t> </a:t>
                </a:r>
                <a:r>
                  <a:rPr lang="en-US" dirty="0" err="1"/>
                  <a:t>lần</a:t>
                </a:r>
                <a:r>
                  <a:rPr lang="en-US" dirty="0"/>
                  <a:t> </a:t>
                </a:r>
                <a:r>
                  <a:rPr lang="en-US" dirty="0" err="1"/>
                  <a:t>lượt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baseline="0" dirty="0"/>
                  <a:t> </a:t>
                </a:r>
                <a:r>
                  <a:rPr lang="en-US" b="0" i="0">
                    <a:latin typeface="Cambria Math" panose="02040503050406030204" pitchFamily="18" charset="0"/>
                  </a:rPr>
                  <a:t>𝑁^2/ℎ</a:t>
                </a:r>
                <a:r>
                  <a:rPr lang="en-US" dirty="0"/>
                  <a:t> =</a:t>
                </a:r>
                <a:r>
                  <a:rPr lang="en-US" baseline="0" dirty="0"/>
                  <a:t> </a:t>
                </a:r>
                <a:r>
                  <a:rPr lang="en-US" b="0" i="0" baseline="0">
                    <a:latin typeface="Cambria Math" panose="02040503050406030204" pitchFamily="18" charset="0"/>
                  </a:rPr>
                  <a:t>𝑁</a:t>
                </a:r>
                <a:r>
                  <a:rPr lang="en-US" b="0" i="0" baseline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∙𝑔=𝑁∙ℎ(2ℎ−3)</a:t>
                </a:r>
                <a:endParaRPr lang="en-US" b="0" baseline="0" dirty="0">
                  <a:ea typeface="Cambria Math" panose="02040503050406030204" pitchFamily="18" charset="0"/>
                </a:endParaRPr>
              </a:p>
              <a:p>
                <a:r>
                  <a:rPr lang="en-US" i="0" dirty="0">
                    <a:latin typeface="+mn-lt"/>
                  </a:rPr>
                  <a:t>Từ</a:t>
                </a:r>
                <a:r>
                  <a:rPr lang="en-US" i="0" baseline="0" dirty="0">
                    <a:latin typeface="+mn-lt"/>
                  </a:rPr>
                  <a:t> phương trình trên ta được </a:t>
                </a:r>
                <a:r>
                  <a:rPr lang="en-US" b="0" i="0">
                    <a:latin typeface="Cambria Math" panose="02040503050406030204" pitchFamily="18" charset="0"/>
                  </a:rPr>
                  <a:t>𝑁=ℎ^2 (2ℎ−3)</a:t>
                </a:r>
                <a:endParaRPr lang="en-US" dirty="0"/>
              </a:p>
              <a:p>
                <a:r>
                  <a:rPr lang="en-GB" dirty="0" err="1"/>
                  <a:t>Với</a:t>
                </a:r>
                <a:r>
                  <a:rPr lang="en-GB" dirty="0"/>
                  <a:t> </a:t>
                </a:r>
                <a:r>
                  <a:rPr lang="en-US" b="0" i="0">
                    <a:latin typeface="Cambria Math" panose="02040503050406030204" pitchFamily="18" charset="0"/>
                  </a:rPr>
                  <a:t>𝑁=10^6→ℎ≈19</a:t>
                </a:r>
                <a:endParaRPr lang="en-GB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3A677C-F69F-5FEC-2DE6-8C7B9312B6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6E8E1B-683D-4636-A679-4455696B47F1}" type="slidenum">
              <a:rPr lang="en-GB" smtClean="0"/>
              <a:t>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125970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17672-458C-6E84-79CD-6D545390C3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EABA53-027B-8B6C-18F9-A1595DB8C1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9A97A72A-9525-CB5E-1257-DE4D60DADDC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9A97A72A-9525-CB5E-1257-DE4D60DADDC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Hibbard </a:t>
                </a:r>
                <a:r>
                  <a:rPr lang="en-US" dirty="0" err="1"/>
                  <a:t>xấp</a:t>
                </a:r>
                <a:r>
                  <a:rPr lang="en-US" dirty="0"/>
                  <a:t> </a:t>
                </a:r>
                <a:r>
                  <a:rPr lang="en-US" dirty="0" err="1"/>
                  <a:t>xỉ</a:t>
                </a:r>
                <a:r>
                  <a:rPr lang="en-US" dirty="0"/>
                  <a:t> </a:t>
                </a:r>
                <a:r>
                  <a:rPr lang="en-US" dirty="0" err="1"/>
                  <a:t>luỹ</a:t>
                </a:r>
                <a:r>
                  <a:rPr lang="en-US" dirty="0"/>
                  <a:t> </a:t>
                </a:r>
                <a:r>
                  <a:rPr lang="en-US" dirty="0" err="1"/>
                  <a:t>thừa</a:t>
                </a:r>
                <a:r>
                  <a:rPr lang="en-US" dirty="0"/>
                  <a:t> </a:t>
                </a:r>
                <a:r>
                  <a:rPr lang="en-US" dirty="0" err="1"/>
                  <a:t>của</a:t>
                </a:r>
                <a:r>
                  <a:rPr lang="en-US" dirty="0"/>
                  <a:t> 2 </a:t>
                </a:r>
                <a:r>
                  <a:rPr lang="en-US" dirty="0" err="1"/>
                  <a:t>nên</a:t>
                </a:r>
                <a:r>
                  <a:rPr lang="en-US" dirty="0"/>
                  <a:t> </a:t>
                </a:r>
                <a:r>
                  <a:rPr lang="en-US" b="0" i="0">
                    <a:latin typeface="Cambria Math" panose="02040503050406030204" pitchFamily="18" charset="0"/>
                  </a:rPr>
                  <a:t>ℎ_(𝑘+1)=2ℎ_𝑘  </a:t>
                </a:r>
                <a:r>
                  <a:rPr lang="en-US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→𝑔=2ℎ_𝑘^2−3ℎ_𝑘</a:t>
                </a:r>
                <a:r>
                  <a:rPr lang="en-US" dirty="0"/>
                  <a:t> </a:t>
                </a:r>
              </a:p>
              <a:p>
                <a:r>
                  <a:rPr lang="en-US" dirty="0"/>
                  <a:t>Giả </a:t>
                </a:r>
                <a:r>
                  <a:rPr lang="en-US" dirty="0" err="1"/>
                  <a:t>sử</a:t>
                </a:r>
                <a:r>
                  <a:rPr lang="en-US" dirty="0"/>
                  <a:t> ta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giao</a:t>
                </a:r>
                <a:r>
                  <a:rPr lang="en-US" dirty="0"/>
                  <a:t> </a:t>
                </a:r>
                <a:r>
                  <a:rPr lang="en-US" dirty="0" err="1"/>
                  <a:t>điểm</a:t>
                </a:r>
                <a:r>
                  <a:rPr lang="en-US" dirty="0"/>
                  <a:t> </a:t>
                </a:r>
                <a:r>
                  <a:rPr lang="en-US" dirty="0" err="1"/>
                  <a:t>giữa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 Shell </a:t>
                </a:r>
                <a:r>
                  <a:rPr lang="en-US" dirty="0" err="1"/>
                  <a:t>và</a:t>
                </a:r>
                <a:r>
                  <a:rPr lang="en-US" dirty="0"/>
                  <a:t> Hibbard </a:t>
                </a:r>
                <a:r>
                  <a:rPr lang="en-US" dirty="0" err="1"/>
                  <a:t>với</a:t>
                </a:r>
                <a:r>
                  <a:rPr lang="en-US" dirty="0"/>
                  <a:t> chi </a:t>
                </a:r>
                <a:r>
                  <a:rPr lang="en-US" dirty="0" err="1"/>
                  <a:t>phí</a:t>
                </a:r>
                <a:r>
                  <a:rPr lang="en-US" dirty="0"/>
                  <a:t> </a:t>
                </a:r>
                <a:r>
                  <a:rPr lang="en-US" dirty="0" err="1"/>
                  <a:t>lần</a:t>
                </a:r>
                <a:r>
                  <a:rPr lang="en-US" dirty="0"/>
                  <a:t> </a:t>
                </a:r>
                <a:r>
                  <a:rPr lang="en-US" dirty="0" err="1"/>
                  <a:t>lượt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baseline="0" dirty="0"/>
                  <a:t> </a:t>
                </a:r>
                <a:r>
                  <a:rPr lang="en-US" b="0" i="0">
                    <a:latin typeface="Cambria Math" panose="02040503050406030204" pitchFamily="18" charset="0"/>
                  </a:rPr>
                  <a:t>𝑁^2/ℎ</a:t>
                </a:r>
                <a:r>
                  <a:rPr lang="en-US" dirty="0"/>
                  <a:t> =</a:t>
                </a:r>
                <a:r>
                  <a:rPr lang="en-US" baseline="0" dirty="0"/>
                  <a:t> </a:t>
                </a:r>
                <a:r>
                  <a:rPr lang="en-US" b="0" i="0" baseline="0">
                    <a:latin typeface="Cambria Math" panose="02040503050406030204" pitchFamily="18" charset="0"/>
                  </a:rPr>
                  <a:t>𝑁</a:t>
                </a:r>
                <a:r>
                  <a:rPr lang="en-US" b="0" i="0" baseline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∙𝑔=𝑁∙ℎ(2ℎ−3)</a:t>
                </a:r>
                <a:endParaRPr lang="en-US" b="0" baseline="0" dirty="0">
                  <a:ea typeface="Cambria Math" panose="02040503050406030204" pitchFamily="18" charset="0"/>
                </a:endParaRPr>
              </a:p>
              <a:p>
                <a:r>
                  <a:rPr lang="en-US" i="0" dirty="0">
                    <a:latin typeface="+mn-lt"/>
                  </a:rPr>
                  <a:t>Từ</a:t>
                </a:r>
                <a:r>
                  <a:rPr lang="en-US" i="0" baseline="0" dirty="0">
                    <a:latin typeface="+mn-lt"/>
                  </a:rPr>
                  <a:t> phương trình trên ta được </a:t>
                </a:r>
                <a:r>
                  <a:rPr lang="en-US" b="0" i="0">
                    <a:latin typeface="Cambria Math" panose="02040503050406030204" pitchFamily="18" charset="0"/>
                  </a:rPr>
                  <a:t>𝑁=ℎ^2 (2ℎ−3)</a:t>
                </a:r>
                <a:endParaRPr lang="en-US" dirty="0"/>
              </a:p>
              <a:p>
                <a:r>
                  <a:rPr lang="en-GB" dirty="0" err="1"/>
                  <a:t>Với</a:t>
                </a:r>
                <a:r>
                  <a:rPr lang="en-GB" dirty="0"/>
                  <a:t> </a:t>
                </a:r>
                <a:r>
                  <a:rPr lang="en-US" b="0" i="0">
                    <a:latin typeface="Cambria Math" panose="02040503050406030204" pitchFamily="18" charset="0"/>
                  </a:rPr>
                  <a:t>𝑁=10^6→ℎ≈19</a:t>
                </a:r>
                <a:endParaRPr lang="en-GB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534394-925E-90AF-5422-996C9EE9F9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6E8E1B-683D-4636-A679-4455696B47F1}" type="slidenum">
              <a:rPr lang="en-GB" smtClean="0"/>
              <a:t>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158236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1768C7-521A-425F-EE4A-255CFD0B5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BE7A8D-DE0B-B2B9-6F89-EB0BE198B5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4C176999-3C0D-F582-2D36-246FA8022BDC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9A97A72A-9525-CB5E-1257-DE4D60DADDC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Hibbard </a:t>
                </a:r>
                <a:r>
                  <a:rPr lang="en-US" dirty="0" err="1"/>
                  <a:t>xấp</a:t>
                </a:r>
                <a:r>
                  <a:rPr lang="en-US" dirty="0"/>
                  <a:t> </a:t>
                </a:r>
                <a:r>
                  <a:rPr lang="en-US" dirty="0" err="1"/>
                  <a:t>xỉ</a:t>
                </a:r>
                <a:r>
                  <a:rPr lang="en-US" dirty="0"/>
                  <a:t> </a:t>
                </a:r>
                <a:r>
                  <a:rPr lang="en-US" dirty="0" err="1"/>
                  <a:t>luỹ</a:t>
                </a:r>
                <a:r>
                  <a:rPr lang="en-US" dirty="0"/>
                  <a:t> </a:t>
                </a:r>
                <a:r>
                  <a:rPr lang="en-US" dirty="0" err="1"/>
                  <a:t>thừa</a:t>
                </a:r>
                <a:r>
                  <a:rPr lang="en-US" dirty="0"/>
                  <a:t> </a:t>
                </a:r>
                <a:r>
                  <a:rPr lang="en-US" dirty="0" err="1"/>
                  <a:t>của</a:t>
                </a:r>
                <a:r>
                  <a:rPr lang="en-US" dirty="0"/>
                  <a:t> 2 </a:t>
                </a:r>
                <a:r>
                  <a:rPr lang="en-US" dirty="0" err="1"/>
                  <a:t>nên</a:t>
                </a:r>
                <a:r>
                  <a:rPr lang="en-US" dirty="0"/>
                  <a:t> </a:t>
                </a:r>
                <a:r>
                  <a:rPr lang="en-US" b="0" i="0">
                    <a:latin typeface="Cambria Math" panose="02040503050406030204" pitchFamily="18" charset="0"/>
                  </a:rPr>
                  <a:t>ℎ_(𝑘+1)=2ℎ_𝑘  </a:t>
                </a:r>
                <a:r>
                  <a:rPr lang="en-US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→𝑔=2ℎ_𝑘^2−3ℎ_𝑘</a:t>
                </a:r>
                <a:r>
                  <a:rPr lang="en-US" dirty="0"/>
                  <a:t> </a:t>
                </a:r>
              </a:p>
              <a:p>
                <a:r>
                  <a:rPr lang="en-US" dirty="0"/>
                  <a:t>Giả </a:t>
                </a:r>
                <a:r>
                  <a:rPr lang="en-US" dirty="0" err="1"/>
                  <a:t>sử</a:t>
                </a:r>
                <a:r>
                  <a:rPr lang="en-US" dirty="0"/>
                  <a:t> ta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giao</a:t>
                </a:r>
                <a:r>
                  <a:rPr lang="en-US" dirty="0"/>
                  <a:t> </a:t>
                </a:r>
                <a:r>
                  <a:rPr lang="en-US" dirty="0" err="1"/>
                  <a:t>điểm</a:t>
                </a:r>
                <a:r>
                  <a:rPr lang="en-US" dirty="0"/>
                  <a:t> </a:t>
                </a:r>
                <a:r>
                  <a:rPr lang="en-US" dirty="0" err="1"/>
                  <a:t>giữa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 Shell </a:t>
                </a:r>
                <a:r>
                  <a:rPr lang="en-US" dirty="0" err="1"/>
                  <a:t>và</a:t>
                </a:r>
                <a:r>
                  <a:rPr lang="en-US" dirty="0"/>
                  <a:t> Hibbard </a:t>
                </a:r>
                <a:r>
                  <a:rPr lang="en-US" dirty="0" err="1"/>
                  <a:t>với</a:t>
                </a:r>
                <a:r>
                  <a:rPr lang="en-US" dirty="0"/>
                  <a:t> chi </a:t>
                </a:r>
                <a:r>
                  <a:rPr lang="en-US" dirty="0" err="1"/>
                  <a:t>phí</a:t>
                </a:r>
                <a:r>
                  <a:rPr lang="en-US" dirty="0"/>
                  <a:t> </a:t>
                </a:r>
                <a:r>
                  <a:rPr lang="en-US" dirty="0" err="1"/>
                  <a:t>lần</a:t>
                </a:r>
                <a:r>
                  <a:rPr lang="en-US" dirty="0"/>
                  <a:t> </a:t>
                </a:r>
                <a:r>
                  <a:rPr lang="en-US" dirty="0" err="1"/>
                  <a:t>lượt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baseline="0" dirty="0"/>
                  <a:t> </a:t>
                </a:r>
                <a:r>
                  <a:rPr lang="en-US" b="0" i="0">
                    <a:latin typeface="Cambria Math" panose="02040503050406030204" pitchFamily="18" charset="0"/>
                  </a:rPr>
                  <a:t>𝑁^2/ℎ</a:t>
                </a:r>
                <a:r>
                  <a:rPr lang="en-US" dirty="0"/>
                  <a:t> =</a:t>
                </a:r>
                <a:r>
                  <a:rPr lang="en-US" baseline="0" dirty="0"/>
                  <a:t> </a:t>
                </a:r>
                <a:r>
                  <a:rPr lang="en-US" b="0" i="0" baseline="0">
                    <a:latin typeface="Cambria Math" panose="02040503050406030204" pitchFamily="18" charset="0"/>
                  </a:rPr>
                  <a:t>𝑁</a:t>
                </a:r>
                <a:r>
                  <a:rPr lang="en-US" b="0" i="0" baseline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∙𝑔=𝑁∙ℎ(2ℎ−3)</a:t>
                </a:r>
                <a:endParaRPr lang="en-US" b="0" baseline="0" dirty="0">
                  <a:ea typeface="Cambria Math" panose="02040503050406030204" pitchFamily="18" charset="0"/>
                </a:endParaRPr>
              </a:p>
              <a:p>
                <a:r>
                  <a:rPr lang="en-US" i="0" dirty="0">
                    <a:latin typeface="+mn-lt"/>
                  </a:rPr>
                  <a:t>Từ</a:t>
                </a:r>
                <a:r>
                  <a:rPr lang="en-US" i="0" baseline="0" dirty="0">
                    <a:latin typeface="+mn-lt"/>
                  </a:rPr>
                  <a:t> phương trình trên ta được </a:t>
                </a:r>
                <a:r>
                  <a:rPr lang="en-US" b="0" i="0">
                    <a:latin typeface="Cambria Math" panose="02040503050406030204" pitchFamily="18" charset="0"/>
                  </a:rPr>
                  <a:t>𝑁=ℎ^2 (2ℎ−3)</a:t>
                </a:r>
                <a:endParaRPr lang="en-US" dirty="0"/>
              </a:p>
              <a:p>
                <a:r>
                  <a:rPr lang="en-GB" dirty="0" err="1"/>
                  <a:t>Với</a:t>
                </a:r>
                <a:r>
                  <a:rPr lang="en-GB" dirty="0"/>
                  <a:t> </a:t>
                </a:r>
                <a:r>
                  <a:rPr lang="en-US" b="0" i="0">
                    <a:latin typeface="Cambria Math" panose="02040503050406030204" pitchFamily="18" charset="0"/>
                  </a:rPr>
                  <a:t>𝑁=10^6→ℎ≈19</a:t>
                </a:r>
                <a:endParaRPr lang="en-GB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F1D059-A8DA-9589-846A-D25EA08EDF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6E8E1B-683D-4636-A679-4455696B47F1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7940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FD8759-1D10-0035-761E-56C93E9235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48AF85B-D66E-7A90-9F89-3335B8F9D8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B9A027-9404-5843-118A-4DD6C158F2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ABC7D9-450E-4864-A5F6-E7AD5F4B662F}" type="datetimeFigureOut">
              <a:rPr lang="en-GB" smtClean="0"/>
              <a:t>23/02/2026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022474-282B-F1A8-D0A5-F2985E846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EA35A3-CFA9-0AF6-DCCD-94572E1AA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1C8E9-C992-47C4-8262-04D75BF2075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98692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E11ADE-1C8A-26B7-2543-B3AE36439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51FABB-4919-D35D-B516-0DFE4C319D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44D4DC-2295-9413-A25D-27BBD22A1F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ABC7D9-450E-4864-A5F6-E7AD5F4B662F}" type="datetimeFigureOut">
              <a:rPr lang="en-GB" smtClean="0"/>
              <a:t>23/02/2026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8B9DBF-6A0C-3C80-6FC4-9768F1EC65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45AD8A-66F9-6D64-BE5C-D253928A3E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1C8E9-C992-47C4-8262-04D75BF2075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3710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415CE1-A93C-46EB-106A-2BBCDAEB92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C4A956-436F-7FBA-0364-4EF70B7AAB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DDC012-68A4-8D92-D9BA-F17D256A47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ABC7D9-450E-4864-A5F6-E7AD5F4B662F}" type="datetimeFigureOut">
              <a:rPr lang="en-GB" smtClean="0"/>
              <a:t>23/02/2026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E6E2E7-85E8-A152-5551-FCF248319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ACA58D-CCDC-0D49-92EB-065EC44DD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1C8E9-C992-47C4-8262-04D75BF2075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9991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D0F85-78DE-B96B-A688-8E717AA03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859DA9-37E1-B582-378F-7E952E8094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03349C-652D-6E2C-F435-EA0726BB5E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E4FC03-D1CA-5FA5-D2CD-09722544DE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ABC7D9-450E-4864-A5F6-E7AD5F4B662F}" type="datetimeFigureOut">
              <a:rPr lang="en-GB" smtClean="0"/>
              <a:t>23/02/2026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8F7156-976C-D306-9CE3-41FF90402C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6369A0-04BB-5522-0529-63D481B2EB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1C8E9-C992-47C4-8262-04D75BF2075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26968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914D2C-7F2C-5945-F05A-FEB54F5F6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0AB65D-8595-3930-3116-E0A9DEB17B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969E4D-8483-94E4-2BE5-C0D624B103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131963-8AF4-C031-749F-7CE2331BBF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907C639-BEF1-A095-BB5D-A16211E845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F16CF6B-D3F0-B7E7-D46B-EB29F4F38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ABC7D9-450E-4864-A5F6-E7AD5F4B662F}" type="datetimeFigureOut">
              <a:rPr lang="en-GB" smtClean="0"/>
              <a:t>23/02/2026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8330F29-0308-D320-DF7A-82FA00777C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D84DD0F-736B-EB15-59C2-CD9A1E293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1C8E9-C992-47C4-8262-04D75BF2075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9966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7F227-7E01-2403-6002-FC25094ED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ABC696-797A-3B06-23A5-A83B7B2AFC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ABC7D9-450E-4864-A5F6-E7AD5F4B662F}" type="datetimeFigureOut">
              <a:rPr lang="en-GB" smtClean="0"/>
              <a:t>23/02/2026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2F6AB7-55C2-5A96-B4D1-3FE932CCFF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B7D489-150C-556B-F433-6FA6400BD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1C8E9-C992-47C4-8262-04D75BF2075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28079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01C96C1-4867-C2F7-64B8-661AA498C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ABC7D9-450E-4864-A5F6-E7AD5F4B662F}" type="datetimeFigureOut">
              <a:rPr lang="en-GB" smtClean="0"/>
              <a:t>23/02/2026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95A206-D97E-79F9-90FB-50995E11F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99197F-AF8A-99ED-16BE-591B3FBB2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1C8E9-C992-47C4-8262-04D75BF2075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80572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B9E60-E9E1-9F36-95FA-EFAFEDA62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976F76-6AB4-AE8D-85A2-A85EE7D8D8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5FE531-3729-AA6C-BCA0-AD34D5694E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A481D7-336B-9AF6-C092-619089DBF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ABC7D9-450E-4864-A5F6-E7AD5F4B662F}" type="datetimeFigureOut">
              <a:rPr lang="en-GB" smtClean="0"/>
              <a:t>23/02/2026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42D8CC-2968-009A-EB99-D7A61B8C15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91BADD-6D3E-42AF-90BD-3ECFDC286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1C8E9-C992-47C4-8262-04D75BF2075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303226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F894D-0E46-C2A3-A54A-EC6E4FB0A1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7DDC247-17B7-8E94-D26D-7001D974C8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EF1747-2395-0C08-C533-68F064CD7C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368C87-EAA0-250D-329B-52E768A2BC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ABC7D9-450E-4864-A5F6-E7AD5F4B662F}" type="datetimeFigureOut">
              <a:rPr lang="en-GB" smtClean="0"/>
              <a:t>23/02/2026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BFB651-E9ED-0C52-B704-E10D15716A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8C7BB-1C35-EA8F-5064-4644E055D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1C8E9-C992-47C4-8262-04D75BF2075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97170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8CC69-00C5-98E9-1B5F-EFDFAB1102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946A3F-9BF6-E17E-2B16-6A5FB77F41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36D4CD-4C4D-9754-B4EB-B86EB87E83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ABC7D9-450E-4864-A5F6-E7AD5F4B662F}" type="datetimeFigureOut">
              <a:rPr lang="en-GB" smtClean="0"/>
              <a:t>23/02/2026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D2AA2B-53D6-DC7F-07A4-F483B2C9AE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6AA4E1-7A4F-B5E5-34F5-865977C57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1C8E9-C992-47C4-8262-04D75BF2075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32636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79814D9-92F3-7DC4-EE42-BAA78DB4172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ACA4C1-EF8B-0949-1237-69A9CE3189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33D388-DEB4-0F68-75BA-8AB3A621B4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ABC7D9-450E-4864-A5F6-E7AD5F4B662F}" type="datetimeFigureOut">
              <a:rPr lang="en-GB" smtClean="0"/>
              <a:t>23/02/2026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6DD612-97AB-BAF6-7415-D43B923FE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AD80E4-A90E-EE5A-B85D-F7A97167C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1C8E9-C992-47C4-8262-04D75BF2075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5096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5B1428C-D317-E003-C524-02F9159DE9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79243C-9C6C-E30D-F6C2-B68C404EA3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410F53-9919-9AAD-35DC-F1EBA18941B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9ABC7D9-450E-4864-A5F6-E7AD5F4B662F}" type="datetimeFigureOut">
              <a:rPr lang="en-GB" smtClean="0"/>
              <a:t>23/02/2026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D87782-4693-25AA-A258-2249C7CE1A6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376AA7-45BB-E463-4005-3BE7280C29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01C8E9-C992-47C4-8262-04D75BF2075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1554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2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5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BEF3E4-82B9-1823-4CF7-D0BE8BD75D8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Sắp</a:t>
            </a:r>
            <a:r>
              <a:rPr lang="en-US" dirty="0"/>
              <a:t> </a:t>
            </a:r>
            <a:r>
              <a:rPr lang="en-US" dirty="0" err="1"/>
              <a:t>xếp</a:t>
            </a:r>
            <a:r>
              <a:rPr lang="en-US" dirty="0"/>
              <a:t> </a:t>
            </a:r>
            <a:r>
              <a:rPr lang="en-US" dirty="0" err="1"/>
              <a:t>chèn</a:t>
            </a:r>
            <a:r>
              <a:rPr lang="en-US" dirty="0"/>
              <a:t> </a:t>
            </a:r>
            <a:r>
              <a:rPr lang="en-US" dirty="0" err="1"/>
              <a:t>với</a:t>
            </a:r>
            <a:r>
              <a:rPr lang="en-US" dirty="0"/>
              <a:t> </a:t>
            </a:r>
            <a:r>
              <a:rPr lang="en-US" dirty="0" err="1"/>
              <a:t>độ</a:t>
            </a:r>
            <a:r>
              <a:rPr lang="en-US" dirty="0"/>
              <a:t> </a:t>
            </a:r>
            <a:r>
              <a:rPr lang="en-US" dirty="0" err="1"/>
              <a:t>dài</a:t>
            </a:r>
            <a:r>
              <a:rPr lang="en-US" dirty="0"/>
              <a:t> </a:t>
            </a:r>
            <a:r>
              <a:rPr lang="en-US" dirty="0" err="1"/>
              <a:t>bước</a:t>
            </a:r>
            <a:r>
              <a:rPr lang="en-US" dirty="0"/>
              <a:t> </a:t>
            </a:r>
            <a:r>
              <a:rPr lang="en-US" dirty="0" err="1"/>
              <a:t>giảm</a:t>
            </a:r>
            <a:r>
              <a:rPr lang="en-US" dirty="0"/>
              <a:t> </a:t>
            </a:r>
            <a:r>
              <a:rPr lang="en-US" dirty="0" err="1"/>
              <a:t>dần</a:t>
            </a:r>
            <a:r>
              <a:rPr lang="en-US" dirty="0"/>
              <a:t> – Shell Sort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ubtitle 2">
                <a:extLst>
                  <a:ext uri="{FF2B5EF4-FFF2-40B4-BE49-F238E27FC236}">
                    <a16:creationId xmlns:a16="http://schemas.microsoft.com/office/drawing/2014/main" id="{6167B35D-72C7-3409-0DB2-FE84EC95FD35}"/>
                  </a:ext>
                </a:extLst>
              </p:cNvPr>
              <p:cNvSpPr>
                <a:spLocks noGrp="1"/>
              </p:cNvSpPr>
              <p:nvPr>
                <p:ph type="subTitle" idx="1"/>
              </p:nvPr>
            </p:nvSpPr>
            <p:spPr/>
            <p:txBody>
              <a:bodyPr/>
              <a:lstStyle/>
              <a:p>
                <a:r>
                  <a:rPr lang="en-US" dirty="0"/>
                  <a:t>Lê Văn Minh</a:t>
                </a:r>
              </a:p>
              <a:p>
                <a:r>
                  <a:rPr lang="en-US" dirty="0" err="1"/>
                  <a:t>Trần</a:t>
                </a:r>
                <a:r>
                  <a:rPr lang="en-US" dirty="0"/>
                  <a:t> Hoàng Đức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∙</m:t>
                    </m:r>
                  </m:oMath>
                </a14:m>
                <a:r>
                  <a:rPr lang="en-GB" dirty="0"/>
                  <a:t> Nguyễn Anh </a:t>
                </a:r>
                <a:r>
                  <a:rPr lang="en-GB" dirty="0" err="1"/>
                  <a:t>Phú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∙</m:t>
                    </m:r>
                  </m:oMath>
                </a14:m>
                <a:r>
                  <a:rPr lang="en-GB" dirty="0"/>
                  <a:t> Lê Nguyễn Minh </a:t>
                </a:r>
                <a:r>
                  <a:rPr lang="en-GB" dirty="0" err="1"/>
                  <a:t>Khôi</a:t>
                </a:r>
                <a:endParaRPr lang="en-GB" dirty="0"/>
              </a:p>
              <a:p>
                <a:r>
                  <a:rPr lang="en-GB" dirty="0"/>
                  <a:t>Phạm Dương </a:t>
                </a:r>
                <a:r>
                  <a:rPr lang="en-GB" dirty="0" err="1"/>
                  <a:t>Toàn</a:t>
                </a:r>
                <a:r>
                  <a:rPr lang="en-GB" dirty="0"/>
                  <a:t> Long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∙</m:t>
                    </m:r>
                  </m:oMath>
                </a14:m>
                <a:r>
                  <a:rPr lang="en-GB" dirty="0"/>
                  <a:t> </a:t>
                </a:r>
                <a:r>
                  <a:rPr lang="en-GB" dirty="0" err="1"/>
                  <a:t>Tô</a:t>
                </a:r>
                <a:r>
                  <a:rPr lang="en-GB" dirty="0"/>
                  <a:t> Anh </a:t>
                </a:r>
                <a:r>
                  <a:rPr lang="en-GB" dirty="0" err="1"/>
                  <a:t>Tần</a:t>
                </a:r>
                <a:endParaRPr lang="en-GB" dirty="0"/>
              </a:p>
            </p:txBody>
          </p:sp>
        </mc:Choice>
        <mc:Fallback xmlns="">
          <p:sp>
            <p:nvSpPr>
              <p:cNvPr id="3" name="Subtitle 2">
                <a:extLst>
                  <a:ext uri="{FF2B5EF4-FFF2-40B4-BE49-F238E27FC236}">
                    <a16:creationId xmlns:a16="http://schemas.microsoft.com/office/drawing/2014/main" id="{6167B35D-72C7-3409-0DB2-FE84EC95FD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1"/>
              </p:nvPr>
            </p:nvSpPr>
            <p:spPr>
              <a:blipFill>
                <a:blip r:embed="rId2"/>
                <a:stretch>
                  <a:fillRect t="-477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540447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A56C8C-3E33-95CB-3E14-CABCC689DB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1. Insertion Sort</a:t>
            </a:r>
            <a:br>
              <a:rPr lang="en-GB" dirty="0"/>
            </a:br>
            <a:r>
              <a:rPr lang="en-US" dirty="0"/>
              <a:t>1.1.</a:t>
            </a:r>
            <a:r>
              <a:rPr lang="vi-VN" dirty="0">
                <a:latin typeface="Aptos Display" panose="020B0004020202020204" pitchFamily="34" charset="0"/>
              </a:rPr>
              <a:t> Tóm tắt ý tưởng và thuật toán</a:t>
            </a:r>
            <a:endParaRPr lang="en-GB" dirty="0">
              <a:latin typeface="Aptos Display" panose="020B00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49880B-50D9-53F1-975E-2BEB5A7062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/>
              <a:lstStyle/>
              <a:p>
                <a:r>
                  <a:rPr lang="vi-VN" dirty="0"/>
                  <a:t>Ý tưởng chính: ta sẽ sắp xếp lần lượt từng đoạn gồm </a:t>
                </a:r>
                <a14:m>
                  <m:oMath xmlns:m="http://schemas.openxmlformats.org/officeDocument/2006/math">
                    <m:r>
                      <a:rPr lang="vi-VN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vi-VN" dirty="0"/>
                  <a:t> phần tử đầu tiên, </a:t>
                </a:r>
                <a14:m>
                  <m:oMath xmlns:m="http://schemas.openxmlformats.org/officeDocument/2006/math">
                    <m:r>
                      <a:rPr lang="vi-VN" i="1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vi-VN" dirty="0"/>
                  <a:t> phần tử đầu tiên, ..., </a:t>
                </a:r>
                <a14:m>
                  <m:oMath xmlns:m="http://schemas.openxmlformats.org/officeDocument/2006/math">
                    <m:r>
                      <a:rPr lang="vi-VN" i="1" dirty="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vi-VN" dirty="0"/>
                  <a:t> phần tử.</a:t>
                </a:r>
                <a:endParaRPr lang="vi-VN" b="0" dirty="0">
                  <a:effectLst/>
                </a:endParaRPr>
              </a:p>
              <a:p>
                <a:r>
                  <a:rPr lang="vi-VN" dirty="0"/>
                  <a:t>Giả sử ta đã sắp xếp xong </a:t>
                </a:r>
                <a14:m>
                  <m:oMath xmlns:m="http://schemas.openxmlformats.org/officeDocument/2006/math">
                    <m:r>
                      <a:rPr lang="vi-VN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vi-VN" dirty="0"/>
                  <a:t> phần tử của mảng. Để sắp xếp 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vi-VN" i="1" dirty="0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vi-VN" i="1" dirty="0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vi-VN" dirty="0"/>
                  <a:t> phần tử đầu tiên, ta tìm vị trí phù hợp của phần tử thứ 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vi-VN" i="1" dirty="0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vi-VN" i="1" dirty="0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vi-VN" dirty="0"/>
                  <a:t> và "chèn" nó vào đó.</a:t>
                </a: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49880B-50D9-53F1-975E-2BEB5A7062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2"/>
                <a:stretch>
                  <a:fillRect l="-1043" t="-2381" r="-156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709309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65992E22-23B3-567D-7D56-BF5A9A7FD06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GB" dirty="0"/>
                  <a:t>Cài </a:t>
                </a:r>
                <a:r>
                  <a:rPr lang="en-GB" dirty="0" err="1"/>
                  <a:t>đặt</a:t>
                </a:r>
                <a:r>
                  <a:rPr lang="en-GB" dirty="0"/>
                  <a:t> Insertion Sort </a:t>
                </a:r>
                <a:r>
                  <a:rPr lang="en-GB" dirty="0" err="1"/>
                  <a:t>tăng</a:t>
                </a:r>
                <a:r>
                  <a:rPr lang="en-GB" dirty="0"/>
                  <a:t> </a:t>
                </a:r>
                <a:r>
                  <a:rPr lang="en-GB" dirty="0" err="1"/>
                  <a:t>dần</a:t>
                </a:r>
                <a:r>
                  <a:rPr lang="en-GB" dirty="0"/>
                  <a:t> (</a:t>
                </a:r>
                <a:r>
                  <a:rPr lang="en-GB" dirty="0" err="1"/>
                  <a:t>mảng</a:t>
                </a:r>
                <a:r>
                  <a:rPr lang="en-GB" dirty="0"/>
                  <a:t> </a:t>
                </a:r>
                <a:r>
                  <a:rPr lang="en-GB" dirty="0" err="1"/>
                  <a:t>chạy</a:t>
                </a:r>
                <a:r>
                  <a:rPr lang="en-GB" dirty="0"/>
                  <a:t> </a:t>
                </a:r>
                <a:r>
                  <a:rPr lang="en-GB" dirty="0" err="1"/>
                  <a:t>trong</a:t>
                </a:r>
                <a:r>
                  <a:rPr lang="en-GB" dirty="0"/>
                  <a:t> </a:t>
                </a:r>
                <a:r>
                  <a:rPr lang="en-GB" dirty="0" err="1"/>
                  <a:t>đoạn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𝑙𝑒𝑓𝑡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𝑟𝑖𝑔h𝑡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GB" dirty="0"/>
                  <a:t>):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65992E22-23B3-567D-7D56-BF5A9A7FD0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2903" b="-2165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ABE04F01-23F7-CE89-79AD-DD3AB79E3D09}"/>
              </a:ext>
            </a:extLst>
          </p:cNvPr>
          <p:cNvSpPr txBox="1"/>
          <p:nvPr/>
        </p:nvSpPr>
        <p:spPr>
          <a:xfrm>
            <a:off x="838200" y="1690688"/>
            <a:ext cx="10515600" cy="4524315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static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void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InsertionSort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vi-VN" sz="18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&gt;(</a:t>
            </a:r>
            <a:r>
              <a:rPr lang="vi-VN" sz="18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[]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vi-VN" sz="18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left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vi-VN" sz="18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right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where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: </a:t>
            </a:r>
            <a:r>
              <a:rPr lang="vi-VN" sz="18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IComparable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vi-VN" sz="18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{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vi-VN" sz="18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for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vi-VN" sz="18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left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right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++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{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</a:t>
            </a:r>
            <a:r>
              <a:rPr lang="vi-VN" sz="18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key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];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</a:t>
            </a:r>
            <a:r>
              <a:rPr lang="vi-VN" sz="18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-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</a:t>
            </a:r>
            <a:r>
              <a:rPr lang="vi-VN" sz="18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while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&gt;=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left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&amp;&amp;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vi-VN" sz="1800" b="0" i="0" u="none" strike="noStrike" dirty="0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CompareTo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key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&gt;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0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en-US" dirty="0">
                <a:solidFill>
                  <a:srgbClr val="CCCCCC"/>
                </a:solidFill>
                <a:latin typeface="Courier New" panose="02070309020205020404" pitchFamily="49" charset="0"/>
              </a:rPr>
              <a:t>        </a:t>
            </a:r>
            <a:r>
              <a:rPr lang="vi-VN" sz="1800" b="0" i="0" u="none" strike="noStrike" dirty="0">
                <a:solidFill>
                  <a:srgbClr val="6A9955"/>
                </a:solidFill>
                <a:effectLst/>
                <a:latin typeface="Courier New" panose="02070309020205020404" pitchFamily="49" charset="0"/>
              </a:rPr>
              <a:t>// arr[j] &gt; key tương đương với arr[j].CompareTo(key) &gt; 0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{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    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];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    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--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}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key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}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}</a:t>
            </a:r>
            <a:endParaRPr lang="vi-VN" b="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40537679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DBA4EF-F5A9-F49B-C641-2FCDBCE6A4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04550"/>
          </a:xfrm>
        </p:spPr>
        <p:txBody>
          <a:bodyPr/>
          <a:lstStyle/>
          <a:p>
            <a:r>
              <a:rPr lang="en-US" dirty="0"/>
              <a:t>1.2.</a:t>
            </a:r>
            <a:r>
              <a:rPr lang="vi-VN" dirty="0">
                <a:latin typeface="Aptos Display" panose="020B0004020202020204" pitchFamily="34" charset="0"/>
              </a:rPr>
              <a:t> Ưu điểm:</a:t>
            </a:r>
            <a:endParaRPr lang="en-GB" dirty="0">
              <a:latin typeface="Aptos Display" panose="020B00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BA22283-CB76-8297-0669-0072FB12D8C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069677"/>
                <a:ext cx="10515600" cy="2596550"/>
              </a:xfrm>
            </p:spPr>
            <p:txBody>
              <a:bodyPr/>
              <a:lstStyle/>
              <a:p>
                <a:r>
                  <a:rPr lang="en-GB" dirty="0" err="1"/>
                  <a:t>Dễ</a:t>
                </a:r>
                <a:r>
                  <a:rPr lang="en-GB" dirty="0"/>
                  <a:t> </a:t>
                </a:r>
                <a:r>
                  <a:rPr lang="en-GB" dirty="0" err="1"/>
                  <a:t>cài</a:t>
                </a:r>
                <a:r>
                  <a:rPr lang="en-GB" dirty="0"/>
                  <a:t> </a:t>
                </a:r>
                <a:r>
                  <a:rPr lang="en-GB" dirty="0" err="1"/>
                  <a:t>đặt</a:t>
                </a:r>
                <a:r>
                  <a:rPr lang="en-GB" dirty="0"/>
                  <a:t>.</a:t>
                </a:r>
              </a:p>
              <a:p>
                <a:r>
                  <a:rPr lang="en-GB" dirty="0" err="1"/>
                  <a:t>Tính</a:t>
                </a:r>
                <a:r>
                  <a:rPr lang="en-GB" dirty="0"/>
                  <a:t> </a:t>
                </a:r>
                <a:r>
                  <a:rPr lang="en-GB" dirty="0" err="1"/>
                  <a:t>ổn</a:t>
                </a:r>
                <a:r>
                  <a:rPr lang="en-GB" dirty="0"/>
                  <a:t> </a:t>
                </a:r>
                <a:r>
                  <a:rPr lang="en-GB" dirty="0" err="1"/>
                  <a:t>định</a:t>
                </a:r>
                <a:r>
                  <a:rPr lang="en-GB" dirty="0"/>
                  <a:t> </a:t>
                </a:r>
                <a:r>
                  <a:rPr lang="en-GB" dirty="0" err="1"/>
                  <a:t>cao</a:t>
                </a:r>
                <a:r>
                  <a:rPr lang="en-GB" dirty="0"/>
                  <a:t>.</a:t>
                </a:r>
              </a:p>
              <a:p>
                <a:r>
                  <a:rPr lang="en-GB" dirty="0" err="1"/>
                  <a:t>Độ</a:t>
                </a:r>
                <a:r>
                  <a:rPr lang="en-GB" dirty="0"/>
                  <a:t> </a:t>
                </a:r>
                <a:r>
                  <a:rPr lang="en-GB" dirty="0" err="1"/>
                  <a:t>phức</a:t>
                </a:r>
                <a:r>
                  <a:rPr lang="en-GB" dirty="0"/>
                  <a:t> </a:t>
                </a:r>
                <a:r>
                  <a:rPr lang="en-GB" dirty="0" err="1"/>
                  <a:t>tạp</a:t>
                </a:r>
                <a:r>
                  <a:rPr lang="en-GB" dirty="0"/>
                  <a:t> </a:t>
                </a:r>
                <a:r>
                  <a:rPr lang="en-GB" dirty="0" err="1"/>
                  <a:t>không</a:t>
                </a:r>
                <a:r>
                  <a:rPr lang="en-GB" dirty="0"/>
                  <a:t> </a:t>
                </a:r>
                <a:r>
                  <a:rPr lang="en-GB" dirty="0" err="1"/>
                  <a:t>gian</a:t>
                </a:r>
                <a:r>
                  <a:rPr lang="en-GB" dirty="0"/>
                  <a:t> </a:t>
                </a:r>
                <a:r>
                  <a:rPr lang="en-GB" dirty="0" err="1"/>
                  <a:t>hằng</a:t>
                </a:r>
                <a:r>
                  <a:rPr lang="en-GB" dirty="0"/>
                  <a:t> </a:t>
                </a:r>
                <a:r>
                  <a:rPr lang="en-GB" dirty="0" err="1"/>
                  <a:t>số</a:t>
                </a:r>
                <a:r>
                  <a:rPr lang="en-GB" dirty="0"/>
                  <a:t> -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GB" dirty="0"/>
                  <a:t>.</a:t>
                </a:r>
              </a:p>
              <a:p>
                <a:r>
                  <a:rPr lang="en-GB" dirty="0" err="1"/>
                  <a:t>Mảng</a:t>
                </a:r>
                <a:r>
                  <a:rPr lang="en-GB" dirty="0"/>
                  <a:t> </a:t>
                </a:r>
                <a:r>
                  <a:rPr lang="en-GB" dirty="0" err="1"/>
                  <a:t>sẽ</a:t>
                </a:r>
                <a:r>
                  <a:rPr lang="en-GB" dirty="0"/>
                  <a:t> </a:t>
                </a:r>
                <a:r>
                  <a:rPr lang="en-GB" dirty="0" err="1"/>
                  <a:t>sắp</a:t>
                </a:r>
                <a:r>
                  <a:rPr lang="en-GB" dirty="0"/>
                  <a:t> </a:t>
                </a:r>
                <a:r>
                  <a:rPr lang="en-GB" dirty="0" err="1"/>
                  <a:t>xếp</a:t>
                </a:r>
                <a:r>
                  <a:rPr lang="en-GB" dirty="0"/>
                  <a:t> </a:t>
                </a:r>
                <a:r>
                  <a:rPr lang="en-GB" dirty="0" err="1"/>
                  <a:t>cực</a:t>
                </a:r>
                <a:r>
                  <a:rPr lang="en-GB" dirty="0"/>
                  <a:t> </a:t>
                </a:r>
                <a:r>
                  <a:rPr lang="en-GB" dirty="0" err="1"/>
                  <a:t>nhanh</a:t>
                </a:r>
                <a:r>
                  <a:rPr lang="en-GB" dirty="0"/>
                  <a:t> </a:t>
                </a:r>
                <a:r>
                  <a:rPr lang="en-GB" dirty="0" err="1"/>
                  <a:t>nếu</a:t>
                </a:r>
                <a:r>
                  <a:rPr lang="en-GB" dirty="0"/>
                  <a:t> </a:t>
                </a:r>
                <a:r>
                  <a:rPr lang="en-GB" dirty="0" err="1"/>
                  <a:t>kích</a:t>
                </a:r>
                <a:r>
                  <a:rPr lang="en-GB" dirty="0"/>
                  <a:t> </a:t>
                </a:r>
                <a:r>
                  <a:rPr lang="en-GB" dirty="0" err="1"/>
                  <a:t>thước</a:t>
                </a:r>
                <a:r>
                  <a:rPr lang="en-GB" dirty="0"/>
                  <a:t> </a:t>
                </a:r>
                <a:r>
                  <a:rPr lang="en-GB" dirty="0" err="1"/>
                  <a:t>của</a:t>
                </a:r>
                <a:r>
                  <a:rPr lang="en-GB" dirty="0"/>
                  <a:t> </a:t>
                </a:r>
                <a:r>
                  <a:rPr lang="en-GB" dirty="0" err="1"/>
                  <a:t>mảng</a:t>
                </a:r>
                <a:r>
                  <a:rPr lang="en-GB" dirty="0"/>
                  <a:t> </a:t>
                </a:r>
                <a:r>
                  <a:rPr lang="en-GB" dirty="0" err="1"/>
                  <a:t>trong</a:t>
                </a:r>
                <a:r>
                  <a:rPr lang="en-GB" dirty="0"/>
                  <a:t> </a:t>
                </a:r>
                <a:r>
                  <a:rPr lang="en-GB" dirty="0" err="1"/>
                  <a:t>khoảng</a:t>
                </a:r>
                <a:r>
                  <a:rPr lang="en-GB" dirty="0"/>
                  <a:t> 16 </a:t>
                </a:r>
                <a:r>
                  <a:rPr lang="en-GB" dirty="0" err="1"/>
                  <a:t>phần</a:t>
                </a:r>
                <a:r>
                  <a:rPr lang="en-GB" dirty="0"/>
                  <a:t> </a:t>
                </a:r>
                <a:r>
                  <a:rPr lang="en-GB" dirty="0" err="1"/>
                  <a:t>tử</a:t>
                </a:r>
                <a:r>
                  <a:rPr lang="en-GB" dirty="0"/>
                  <a:t> </a:t>
                </a:r>
                <a:r>
                  <a:rPr lang="en-GB" dirty="0" err="1"/>
                  <a:t>trở</a:t>
                </a:r>
                <a:r>
                  <a:rPr lang="en-GB" dirty="0"/>
                  <a:t> </a:t>
                </a:r>
                <a:r>
                  <a:rPr lang="en-GB" dirty="0" err="1"/>
                  <a:t>xuống</a:t>
                </a:r>
                <a:r>
                  <a:rPr lang="en-GB" dirty="0"/>
                  <a:t> </a:t>
                </a:r>
                <a:r>
                  <a:rPr lang="en-GB" dirty="0" err="1"/>
                  <a:t>hoặc</a:t>
                </a:r>
                <a:r>
                  <a:rPr lang="en-GB" dirty="0"/>
                  <a:t> </a:t>
                </a:r>
                <a:r>
                  <a:rPr lang="en-GB" dirty="0" err="1"/>
                  <a:t>là</a:t>
                </a:r>
                <a:r>
                  <a:rPr lang="en-GB" dirty="0"/>
                  <a:t> </a:t>
                </a:r>
                <a:r>
                  <a:rPr lang="en-GB" dirty="0" err="1"/>
                  <a:t>khi</a:t>
                </a:r>
                <a:r>
                  <a:rPr lang="en-GB" dirty="0"/>
                  <a:t> </a:t>
                </a:r>
                <a:r>
                  <a:rPr lang="en-GB" dirty="0" err="1"/>
                  <a:t>mảng</a:t>
                </a:r>
                <a:r>
                  <a:rPr lang="en-GB" dirty="0"/>
                  <a:t> </a:t>
                </a:r>
                <a:r>
                  <a:rPr lang="en-GB" dirty="0" err="1"/>
                  <a:t>gần</a:t>
                </a:r>
                <a:r>
                  <a:rPr lang="en-GB" dirty="0"/>
                  <a:t> </a:t>
                </a:r>
                <a:r>
                  <a:rPr lang="en-GB" dirty="0" err="1"/>
                  <a:t>như</a:t>
                </a:r>
                <a:r>
                  <a:rPr lang="en-GB" dirty="0"/>
                  <a:t> </a:t>
                </a:r>
                <a:r>
                  <a:rPr lang="en-GB" dirty="0" err="1"/>
                  <a:t>đã</a:t>
                </a:r>
                <a:r>
                  <a:rPr lang="en-GB" dirty="0"/>
                  <a:t> </a:t>
                </a:r>
                <a:r>
                  <a:rPr lang="en-GB" dirty="0" err="1"/>
                  <a:t>sắp</a:t>
                </a:r>
                <a:r>
                  <a:rPr lang="en-GB" dirty="0"/>
                  <a:t> </a:t>
                </a:r>
                <a:r>
                  <a:rPr lang="en-GB" dirty="0" err="1"/>
                  <a:t>xếp</a:t>
                </a:r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BA22283-CB76-8297-0669-0072FB12D8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069677"/>
                <a:ext cx="10515600" cy="2596550"/>
              </a:xfrm>
              <a:blipFill>
                <a:blip r:embed="rId3"/>
                <a:stretch>
                  <a:fillRect l="-1043" t="-3991" r="-110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1">
            <a:extLst>
              <a:ext uri="{FF2B5EF4-FFF2-40B4-BE49-F238E27FC236}">
                <a16:creationId xmlns:a16="http://schemas.microsoft.com/office/drawing/2014/main" id="{40F32EA1-F322-6D47-23CB-1F1C73ED4836}"/>
              </a:ext>
            </a:extLst>
          </p:cNvPr>
          <p:cNvSpPr txBox="1">
            <a:spLocks/>
          </p:cNvSpPr>
          <p:nvPr/>
        </p:nvSpPr>
        <p:spPr>
          <a:xfrm>
            <a:off x="843954" y="3450503"/>
            <a:ext cx="10515600" cy="7045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1.3.</a:t>
            </a:r>
            <a:r>
              <a:rPr lang="vi-VN" dirty="0">
                <a:latin typeface="Aptos Display" panose="020B0004020202020204" pitchFamily="34" charset="0"/>
              </a:rPr>
              <a:t> Nhược điểm:</a:t>
            </a:r>
            <a:endParaRPr lang="en-GB" dirty="0">
              <a:latin typeface="Aptos Display" panose="020B00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BE338005-D50B-A9A2-F7F2-FE5AC8B75BC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43954" y="4155054"/>
                <a:ext cx="10515600" cy="259655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Độ </a:t>
                </a:r>
                <a:r>
                  <a:rPr lang="en-US" dirty="0" err="1"/>
                  <a:t>phức</a:t>
                </a:r>
                <a:r>
                  <a:rPr lang="en-US" dirty="0"/>
                  <a:t> </a:t>
                </a:r>
                <a:r>
                  <a:rPr lang="en-US" dirty="0" err="1"/>
                  <a:t>tạp</a:t>
                </a:r>
                <a:r>
                  <a:rPr lang="en-US" dirty="0"/>
                  <a:t> </a:t>
                </a:r>
                <a:r>
                  <a:rPr lang="en-US" dirty="0" err="1"/>
                  <a:t>thời</a:t>
                </a:r>
                <a:r>
                  <a:rPr lang="en-US" dirty="0"/>
                  <a:t> </a:t>
                </a:r>
                <a:r>
                  <a:rPr lang="en-US" dirty="0" err="1"/>
                  <a:t>gian</a:t>
                </a:r>
                <a:r>
                  <a:rPr lang="en-US" dirty="0"/>
                  <a:t> </a:t>
                </a:r>
                <a:r>
                  <a:rPr lang="en-US" dirty="0" err="1"/>
                  <a:t>cao</a:t>
                </a:r>
                <a:r>
                  <a:rPr lang="en-US" dirty="0"/>
                  <a:t> </a:t>
                </a:r>
                <a:r>
                  <a:rPr lang="en-US" dirty="0" err="1"/>
                  <a:t>trong</a:t>
                </a:r>
                <a:r>
                  <a:rPr lang="en-US" dirty="0"/>
                  <a:t> </a:t>
                </a:r>
                <a:r>
                  <a:rPr lang="en-US" dirty="0" err="1"/>
                  <a:t>trường</a:t>
                </a:r>
                <a:r>
                  <a:rPr lang="en-US" dirty="0"/>
                  <a:t> </a:t>
                </a:r>
                <a:r>
                  <a:rPr lang="en-US" dirty="0" err="1"/>
                  <a:t>hợp</a:t>
                </a:r>
                <a:r>
                  <a:rPr lang="en-US" dirty="0"/>
                  <a:t> </a:t>
                </a:r>
                <a:r>
                  <a:rPr lang="en-US" dirty="0" err="1"/>
                  <a:t>trung</a:t>
                </a:r>
                <a:r>
                  <a:rPr lang="en-US" dirty="0"/>
                  <a:t> </a:t>
                </a:r>
                <a:r>
                  <a:rPr lang="en-US" dirty="0" err="1"/>
                  <a:t>bình</a:t>
                </a:r>
                <a:r>
                  <a:rPr lang="en-US" dirty="0"/>
                  <a:t> </a:t>
                </a:r>
                <a:r>
                  <a:rPr lang="en-US" dirty="0" err="1"/>
                  <a:t>và</a:t>
                </a:r>
                <a:r>
                  <a:rPr lang="en-US" dirty="0"/>
                  <a:t> </a:t>
                </a:r>
                <a:r>
                  <a:rPr lang="en-US" dirty="0" err="1"/>
                  <a:t>tệ</a:t>
                </a:r>
                <a:r>
                  <a:rPr lang="en-US" dirty="0"/>
                  <a:t> </a:t>
                </a:r>
                <a:r>
                  <a:rPr lang="en-US" dirty="0" err="1"/>
                  <a:t>nhất</a:t>
                </a:r>
                <a:r>
                  <a:rPr lang="en-US" dirty="0"/>
                  <a:t> -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O</m:t>
                    </m:r>
                    <m:r>
                      <a:rPr lang="el-GR" i="1" dirty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GB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BE338005-D50B-A9A2-F7F2-FE5AC8B75B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954" y="4155054"/>
                <a:ext cx="10515600" cy="2596550"/>
              </a:xfrm>
              <a:prstGeom prst="rect">
                <a:avLst/>
              </a:prstGeom>
              <a:blipFill>
                <a:blip r:embed="rId4"/>
                <a:stretch>
                  <a:fillRect l="-1043" t="-422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95962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FBE8A5E-60F1-CF8C-A733-FE15D275C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2. </a:t>
            </a:r>
            <a:r>
              <a:rPr lang="en-GB" dirty="0" err="1"/>
              <a:t>Sự</a:t>
            </a:r>
            <a:r>
              <a:rPr lang="en-GB" dirty="0"/>
              <a:t> </a:t>
            </a:r>
            <a:r>
              <a:rPr lang="en-GB" dirty="0" err="1"/>
              <a:t>ra</a:t>
            </a:r>
            <a:r>
              <a:rPr lang="en-GB" dirty="0"/>
              <a:t> </a:t>
            </a:r>
            <a:r>
              <a:rPr lang="en-GB" dirty="0" err="1"/>
              <a:t>đời</a:t>
            </a:r>
            <a:r>
              <a:rPr lang="en-GB" dirty="0"/>
              <a:t> </a:t>
            </a:r>
            <a:r>
              <a:rPr lang="en-GB" dirty="0" err="1"/>
              <a:t>của</a:t>
            </a:r>
            <a:r>
              <a:rPr lang="en-GB" dirty="0"/>
              <a:t> Shell Sort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5800019-2584-E1B1-D97B-58F30784CB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4251"/>
            <a:ext cx="10515600" cy="4351338"/>
          </a:xfrm>
        </p:spPr>
        <p:txBody>
          <a:bodyPr/>
          <a:lstStyle/>
          <a:p>
            <a:r>
              <a:rPr lang="vi-VN" dirty="0"/>
              <a:t>Nhược điểm </a:t>
            </a:r>
            <a:r>
              <a:rPr lang="en-US" dirty="0" err="1"/>
              <a:t>khác</a:t>
            </a:r>
            <a:r>
              <a:rPr lang="en-US" dirty="0"/>
              <a:t> </a:t>
            </a:r>
            <a:r>
              <a:rPr lang="vi-VN" dirty="0"/>
              <a:t>của thuật toán Insertion Sort thể hiện khi mà ta luôn phải chèn một khoá vào vị trí gần đầu dãy.</a:t>
            </a:r>
            <a:endParaRPr lang="en-US" dirty="0"/>
          </a:p>
          <a:p>
            <a:r>
              <a:rPr lang="en-US" dirty="0" err="1"/>
              <a:t>Năm</a:t>
            </a:r>
            <a:r>
              <a:rPr lang="en-US" dirty="0"/>
              <a:t> 1959, Donald L. Shell </a:t>
            </a:r>
            <a:r>
              <a:rPr lang="en-US" dirty="0" err="1"/>
              <a:t>đã</a:t>
            </a:r>
            <a:r>
              <a:rPr lang="en-US" dirty="0"/>
              <a:t> </a:t>
            </a:r>
            <a:r>
              <a:rPr lang="en-US" dirty="0" err="1"/>
              <a:t>đưa</a:t>
            </a:r>
            <a:r>
              <a:rPr lang="en-US" dirty="0"/>
              <a:t> </a:t>
            </a:r>
            <a:r>
              <a:rPr lang="en-US" dirty="0" err="1"/>
              <a:t>ra</a:t>
            </a:r>
            <a:r>
              <a:rPr lang="en-US" dirty="0"/>
              <a:t> </a:t>
            </a:r>
            <a:r>
              <a:rPr lang="en-US" dirty="0" err="1"/>
              <a:t>thuật</a:t>
            </a:r>
            <a:r>
              <a:rPr lang="en-US" dirty="0"/>
              <a:t> </a:t>
            </a:r>
            <a:r>
              <a:rPr lang="en-US" dirty="0" err="1"/>
              <a:t>toán</a:t>
            </a:r>
            <a:r>
              <a:rPr lang="en-US" dirty="0"/>
              <a:t> </a:t>
            </a:r>
            <a:r>
              <a:rPr lang="en-US" dirty="0" err="1"/>
              <a:t>sắp</a:t>
            </a:r>
            <a:r>
              <a:rPr lang="en-US" dirty="0"/>
              <a:t> </a:t>
            </a:r>
            <a:r>
              <a:rPr lang="en-US" dirty="0" err="1"/>
              <a:t>xếp</a:t>
            </a:r>
            <a:r>
              <a:rPr lang="en-US" dirty="0"/>
              <a:t> </a:t>
            </a:r>
            <a:r>
              <a:rPr lang="en-US" dirty="0" err="1"/>
              <a:t>chèn</a:t>
            </a:r>
            <a:r>
              <a:rPr lang="en-US" dirty="0"/>
              <a:t> </a:t>
            </a:r>
            <a:r>
              <a:rPr lang="en-US" dirty="0" err="1"/>
              <a:t>với</a:t>
            </a:r>
            <a:r>
              <a:rPr lang="en-US" dirty="0"/>
              <a:t> </a:t>
            </a:r>
            <a:r>
              <a:rPr lang="en-US" dirty="0" err="1"/>
              <a:t>độ</a:t>
            </a:r>
            <a:r>
              <a:rPr lang="en-US" dirty="0"/>
              <a:t> </a:t>
            </a:r>
            <a:r>
              <a:rPr lang="en-US" dirty="0" err="1"/>
              <a:t>dài</a:t>
            </a:r>
            <a:r>
              <a:rPr lang="en-US" dirty="0"/>
              <a:t> </a:t>
            </a:r>
            <a:r>
              <a:rPr lang="en-US" dirty="0" err="1"/>
              <a:t>bước</a:t>
            </a:r>
            <a:r>
              <a:rPr lang="en-US" dirty="0"/>
              <a:t> </a:t>
            </a:r>
            <a:r>
              <a:rPr lang="en-US" dirty="0" err="1"/>
              <a:t>giảm</a:t>
            </a:r>
            <a:r>
              <a:rPr lang="en-US" dirty="0"/>
              <a:t> </a:t>
            </a:r>
            <a:r>
              <a:rPr lang="en-US" dirty="0" err="1"/>
              <a:t>dần</a:t>
            </a:r>
            <a:r>
              <a:rPr lang="en-US" dirty="0"/>
              <a:t>, hay </a:t>
            </a:r>
            <a:r>
              <a:rPr lang="en-US" dirty="0" err="1"/>
              <a:t>còn</a:t>
            </a:r>
            <a:r>
              <a:rPr lang="en-US" dirty="0"/>
              <a:t> </a:t>
            </a:r>
            <a:r>
              <a:rPr lang="en-US" dirty="0" err="1"/>
              <a:t>gọi</a:t>
            </a:r>
            <a:r>
              <a:rPr lang="en-US" dirty="0"/>
              <a:t> </a:t>
            </a:r>
            <a:r>
              <a:rPr lang="en-US" dirty="0" err="1"/>
              <a:t>là</a:t>
            </a:r>
            <a:r>
              <a:rPr lang="en-US" dirty="0"/>
              <a:t> Shell Sort </a:t>
            </a:r>
            <a:r>
              <a:rPr lang="en-US" dirty="0" err="1"/>
              <a:t>nhằm</a:t>
            </a:r>
            <a:r>
              <a:rPr lang="en-US" dirty="0"/>
              <a:t> </a:t>
            </a:r>
            <a:r>
              <a:rPr lang="en-US" dirty="0" err="1"/>
              <a:t>khắc</a:t>
            </a:r>
            <a:r>
              <a:rPr lang="en-US" dirty="0"/>
              <a:t> </a:t>
            </a:r>
            <a:r>
              <a:rPr lang="en-US" dirty="0" err="1"/>
              <a:t>phục</a:t>
            </a:r>
            <a:r>
              <a:rPr lang="en-US" dirty="0"/>
              <a:t> </a:t>
            </a:r>
            <a:r>
              <a:rPr lang="en-US" dirty="0" err="1"/>
              <a:t>điểm</a:t>
            </a:r>
            <a:r>
              <a:rPr lang="en-US" dirty="0"/>
              <a:t> </a:t>
            </a:r>
            <a:r>
              <a:rPr lang="en-US" dirty="0" err="1"/>
              <a:t>yếu</a:t>
            </a:r>
            <a:r>
              <a:rPr lang="en-US" dirty="0"/>
              <a:t> </a:t>
            </a:r>
            <a:r>
              <a:rPr lang="en-US" dirty="0" err="1"/>
              <a:t>này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Insertion Sort.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077433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B562F-7B07-1386-6C18-2B36C8E481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vi-VN" dirty="0">
                <a:latin typeface="Aptos Display" panose="020B0004020202020204" pitchFamily="34" charset="0"/>
              </a:rPr>
              <a:t>2. THUẬT TOÁN SHELL SORT</a:t>
            </a:r>
            <a:br>
              <a:rPr lang="vi-VN" b="0" dirty="0">
                <a:effectLst/>
                <a:latin typeface="Aptos Display" panose="020B0004020202020204" pitchFamily="34" charset="0"/>
              </a:rPr>
            </a:br>
            <a:r>
              <a:rPr lang="vi-VN" dirty="0">
                <a:latin typeface="Aptos Display" panose="020B0004020202020204" pitchFamily="34" charset="0"/>
              </a:rPr>
              <a:t>2.1. Tư tưởng thuật toán</a:t>
            </a:r>
            <a:endParaRPr lang="en-GB" dirty="0">
              <a:latin typeface="Aptos Display" panose="020B00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DAE7E5-01B4-E318-6CF3-3EB705981B5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51503"/>
                <a:ext cx="10515600" cy="435133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vi-VN" dirty="0"/>
                  <a:t>Với một bước </a:t>
                </a:r>
                <a14:m>
                  <m:oMath xmlns:m="http://schemas.openxmlformats.org/officeDocument/2006/math">
                    <m:r>
                      <a:rPr lang="vi-VN" i="1" dirty="0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vi-VN" dirty="0"/>
                  <a:t>, áp dụng thuật toán sắp xếp kiểu chèn từng dãy con độc lập để làm mịn dần dãy khoá chính. Rồi lại làm tương tự đối với bước h thấp hơn, cho tới khi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vi-VN" dirty="0"/>
                  <a:t> thì ta được dãy khoá sắp xếp.</a:t>
                </a:r>
                <a:endParaRPr lang="vi-VN" b="0" dirty="0">
                  <a:effectLst/>
                </a:endParaRPr>
              </a:p>
              <a:p>
                <a:pPr marL="0" indent="0">
                  <a:buNone/>
                </a:pPr>
                <a:r>
                  <a:rPr lang="vi-VN" dirty="0"/>
                  <a:t>Xét dãy khoá: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vi-VN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vi-VN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vi-VN" dirty="0"/>
                  <a:t>. Với một số nguyên dương h: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0&lt;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vi-VN" dirty="0"/>
                  <a:t>, ta có thể chia dãy đó thành h dãy con:</a:t>
                </a:r>
                <a:endParaRPr lang="vi-VN" b="0" dirty="0">
                  <a:effectLst/>
                </a:endParaRPr>
              </a:p>
              <a:p>
                <a:r>
                  <a:rPr lang="en-US" dirty="0"/>
                  <a:t>    </a:t>
                </a:r>
                <a:r>
                  <a:rPr lang="vi-VN" dirty="0"/>
                  <a:t>Dãy con 1: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vi-VN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vi-VN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vi-VN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vi-VN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vi-VN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vi-VN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vi-VN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vi-VN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vi-VN" dirty="0"/>
                  <a:t>,...</a:t>
                </a:r>
                <a:endParaRPr lang="vi-VN" b="0" dirty="0">
                  <a:effectLst/>
                </a:endParaRPr>
              </a:p>
              <a:p>
                <a:r>
                  <a:rPr lang="vi-VN" dirty="0"/>
                  <a:t>   Dãy con 2: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vi-VN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vi-VN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vi-VN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vi-VN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vi-VN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vi-VN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vi-VN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1+2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vi-VN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vi-VN" dirty="0"/>
                  <a:t>,...</a:t>
                </a:r>
                <a:endParaRPr lang="vi-VN" b="0" dirty="0">
                  <a:effectLst/>
                </a:endParaRPr>
              </a:p>
              <a:p>
                <a:r>
                  <a:rPr lang="vi-VN" dirty="0"/>
                  <a:t>   ...</a:t>
                </a:r>
                <a:endParaRPr lang="vi-VN" b="0" dirty="0">
                  <a:effectLst/>
                </a:endParaRPr>
              </a:p>
              <a:p>
                <a:r>
                  <a:rPr lang="vi-VN" dirty="0"/>
                  <a:t>   Dãy con h: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vi-VN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vi-VN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vi-VN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vi-VN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vi-VN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vi-VN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vi-VN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+3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vi-VN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vi-VN" dirty="0"/>
                  <a:t>,...</a:t>
                </a: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DAE7E5-01B4-E318-6CF3-3EB705981B5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51503"/>
                <a:ext cx="10515600" cy="4351338"/>
              </a:xfrm>
              <a:blipFill>
                <a:blip r:embed="rId2"/>
                <a:stretch>
                  <a:fillRect l="-1217" t="-3501" r="-115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33396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E8B9429-C863-4D6C-76BB-C801D44ECF8D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365125"/>
                <a:ext cx="10515600" cy="799441"/>
              </a:xfrm>
            </p:spPr>
            <p:txBody>
              <a:bodyPr>
                <a:normAutofit/>
              </a:bodyPr>
              <a:lstStyle/>
              <a:p>
                <a:r>
                  <a:rPr lang="pt-BR" sz="2400" dirty="0">
                    <a:latin typeface="+mn-lt"/>
                    <a:cs typeface="Times New Roman" panose="02020603050405020304" pitchFamily="18" charset="0"/>
                  </a:rPr>
                  <a:t>Ví dụ: dãy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[62, 83, 18, 53, 7, 17, 95, 86, 47, 69, 25, 28]</m:t>
                    </m:r>
                  </m:oMath>
                </a14:m>
                <a:r>
                  <a:rPr lang="pt-BR" sz="2400" dirty="0">
                    <a:latin typeface="+mn-lt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=12</m:t>
                    </m:r>
                  </m:oMath>
                </a14:m>
                <a:r>
                  <a:rPr lang="pt-BR" sz="2400" dirty="0">
                    <a:latin typeface="+mn-lt"/>
                    <a:cs typeface="Times New Roman" panose="02020603050405020304" pitchFamily="18" charset="0"/>
                  </a:rPr>
                  <a:t>. Chọn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h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5</m:t>
                    </m:r>
                  </m:oMath>
                </a14:m>
                <a:r>
                  <a:rPr lang="pt-BR" sz="2400" dirty="0">
                    <a:latin typeface="+mn-lt"/>
                    <a:cs typeface="Times New Roman" panose="02020603050405020304" pitchFamily="18" charset="0"/>
                  </a:rPr>
                  <a:t> ta có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2</m:t>
                    </m:r>
                  </m:oMath>
                </a14:m>
                <a:r>
                  <a:rPr lang="pt-BR" sz="2400" dirty="0">
                    <a:latin typeface="+mn-lt"/>
                    <a:cs typeface="Times New Roman" panose="02020603050405020304" pitchFamily="18" charset="0"/>
                  </a:rPr>
                  <a:t> dãy con:</a:t>
                </a:r>
                <a:endParaRPr lang="en-GB" sz="2400" dirty="0">
                  <a:latin typeface="+mn-lt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E8B9429-C863-4D6C-76BB-C801D44ECF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365125"/>
                <a:ext cx="10515600" cy="799441"/>
              </a:xfrm>
              <a:blipFill>
                <a:blip r:embed="rId3"/>
                <a:stretch>
                  <a:fillRect l="-928" t="-6870" r="-116" b="-152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E16773FF-5063-6F0A-473D-88454D44B3A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25523892"/>
                  </p:ext>
                </p:extLst>
              </p:nvPr>
            </p:nvGraphicFramePr>
            <p:xfrm>
              <a:off x="838199" y="1549669"/>
              <a:ext cx="10515601" cy="2209800"/>
            </p:xfrm>
            <a:graphic>
              <a:graphicData uri="http://schemas.openxmlformats.org/drawingml/2006/table">
                <a:tbl>
                  <a:tblPr/>
                  <a:tblGrid>
                    <a:gridCol w="2188525">
                      <a:extLst>
                        <a:ext uri="{9D8B030D-6E8A-4147-A177-3AD203B41FA5}">
                          <a16:colId xmlns:a16="http://schemas.microsoft.com/office/drawing/2014/main" val="4026751204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1696016974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2113321145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1130566698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1104864037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3342285931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3553182308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4247387715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1275603743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2870172955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654022144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1339109412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2396564617"/>
                        </a:ext>
                      </a:extLst>
                    </a:gridCol>
                  </a:tblGrid>
                  <a:tr h="736600">
                    <a:tc>
                      <a:txBody>
                        <a:bodyPr/>
                        <a:lstStyle/>
                        <a:p>
                          <a:pPr rtl="0" fontAlgn="t">
                            <a:buNone/>
                          </a:pPr>
                          <a:r>
                            <a:rPr lang="en-GB" sz="2000" b="0" i="0" u="none" strike="noStrike" dirty="0" err="1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</a:rPr>
                            <a:t>Dãy</a:t>
                          </a:r>
                          <a:r>
                            <a:rPr lang="en-GB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</a:rPr>
                            <a:t> </a:t>
                          </a:r>
                          <a:r>
                            <a:rPr lang="en-GB" sz="2000" b="0" i="0" u="none" strike="noStrike" dirty="0" err="1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</a:rPr>
                            <a:t>khoá</a:t>
                          </a:r>
                          <a:r>
                            <a:rPr lang="en-GB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</a:rPr>
                            <a:t> </a:t>
                          </a:r>
                          <a:r>
                            <a:rPr lang="en-GB" sz="2000" b="0" i="0" u="none" strike="noStrike" dirty="0" err="1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</a:rPr>
                            <a:t>chính</a:t>
                          </a:r>
                          <a:endParaRPr lang="en-GB" sz="2000" dirty="0">
                            <a:effectLst/>
                            <a:latin typeface="+mn-lt"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62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83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18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53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17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95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86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47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69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25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28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03417232"/>
                      </a:ext>
                    </a:extLst>
                  </a:tr>
                  <a:tr h="736600">
                    <a:tc>
                      <a:txBody>
                        <a:bodyPr/>
                        <a:lstStyle/>
                        <a:p>
                          <a:pPr rtl="0" fontAlgn="t">
                            <a:buNone/>
                          </a:pPr>
                          <a:r>
                            <a:rPr lang="en-GB" sz="2000" b="0" i="0" u="none" strike="noStrike" dirty="0" err="1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</a:rPr>
                            <a:t>Dãy</a:t>
                          </a:r>
                          <a:r>
                            <a:rPr lang="en-GB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</a:rPr>
                            <a:t> con </a:t>
                          </a:r>
                          <a14:m>
                            <m:oMath xmlns:m="http://schemas.openxmlformats.org/officeDocument/2006/math">
                              <m:r>
                                <a:rPr lang="en-GB" sz="2000" b="0" i="1" u="none" strike="noStrike" dirty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endParaRPr lang="en-GB" sz="2000" dirty="0">
                            <a:effectLst/>
                            <a:latin typeface="+mn-lt"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[7]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[1]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[3]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8922799"/>
                      </a:ext>
                    </a:extLst>
                  </a:tr>
                  <a:tr h="736600">
                    <a:tc>
                      <a:txBody>
                        <a:bodyPr/>
                        <a:lstStyle/>
                        <a:p>
                          <a:pPr rtl="0" fontAlgn="t">
                            <a:buNone/>
                          </a:pPr>
                          <a:r>
                            <a:rPr lang="en-GB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</a:rPr>
                            <a:t>Dãy con </a:t>
                          </a:r>
                          <a14:m>
                            <m:oMath xmlns:m="http://schemas.openxmlformats.org/officeDocument/2006/math">
                              <m:r>
                                <a:rPr lang="en-US" sz="2000" b="0" i="1" u="none" strike="noStrike" dirty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oMath>
                          </a14:m>
                          <a:endParaRPr lang="en-GB" sz="2000" dirty="0">
                            <a:effectLst/>
                            <a:latin typeface="+mn-lt"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[9]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[11]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[4]</m:t>
                                </m:r>
                              </m:oMath>
                            </m:oMathPara>
                          </a14:m>
                          <a:endParaRPr dirty="0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4469527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E16773FF-5063-6F0A-473D-88454D44B3A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25523892"/>
                  </p:ext>
                </p:extLst>
              </p:nvPr>
            </p:nvGraphicFramePr>
            <p:xfrm>
              <a:off x="838199" y="1549669"/>
              <a:ext cx="10515601" cy="2209800"/>
            </p:xfrm>
            <a:graphic>
              <a:graphicData uri="http://schemas.openxmlformats.org/drawingml/2006/table">
                <a:tbl>
                  <a:tblPr/>
                  <a:tblGrid>
                    <a:gridCol w="2188525">
                      <a:extLst>
                        <a:ext uri="{9D8B030D-6E8A-4147-A177-3AD203B41FA5}">
                          <a16:colId xmlns:a16="http://schemas.microsoft.com/office/drawing/2014/main" val="4026751204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1696016974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2113321145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1130566698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1104864037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3342285931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3553182308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4247387715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1275603743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2870172955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654022144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1339109412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2396564617"/>
                        </a:ext>
                      </a:extLst>
                    </a:gridCol>
                  </a:tblGrid>
                  <a:tr h="736600">
                    <a:tc>
                      <a:txBody>
                        <a:bodyPr/>
                        <a:lstStyle/>
                        <a:p>
                          <a:pPr rtl="0" fontAlgn="t">
                            <a:buNone/>
                          </a:pPr>
                          <a:r>
                            <a:rPr lang="en-GB" sz="2000" b="0" i="0" u="none" strike="noStrike" dirty="0" err="1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</a:rPr>
                            <a:t>Dãy</a:t>
                          </a:r>
                          <a:r>
                            <a:rPr lang="en-GB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</a:rPr>
                            <a:t> </a:t>
                          </a:r>
                          <a:r>
                            <a:rPr lang="en-GB" sz="2000" b="0" i="0" u="none" strike="noStrike" dirty="0" err="1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</a:rPr>
                            <a:t>khoá</a:t>
                          </a:r>
                          <a:r>
                            <a:rPr lang="en-GB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</a:rPr>
                            <a:t> </a:t>
                          </a:r>
                          <a:r>
                            <a:rPr lang="en-GB" sz="2000" b="0" i="0" u="none" strike="noStrike" dirty="0" err="1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</a:rPr>
                            <a:t>chính</a:t>
                          </a:r>
                          <a:endParaRPr lang="en-GB" sz="2000" dirty="0">
                            <a:effectLst/>
                            <a:latin typeface="+mn-lt"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15789" t="-826" r="-1100877" b="-2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415789" t="-826" r="-1000877" b="-2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515789" t="-826" r="-900877" b="-2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615789" t="-826" r="-800877" b="-2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715789" t="-826" r="-700877" b="-2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815789" t="-826" r="-600877" b="-2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915789" t="-826" r="-500877" b="-2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24779" t="-826" r="-405310" b="-2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114912" t="-826" r="-301754" b="-2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214912" t="-826" r="-201754" b="-2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314912" t="-826" r="-101754" b="-2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14912" t="-826" r="-1754" b="-20165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03417232"/>
                      </a:ext>
                    </a:extLst>
                  </a:tr>
                  <a:tr h="7366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79" t="-100826" r="-381337" b="-1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15789" t="-100826" r="-1100877" b="-1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815789" t="-100826" r="-600877" b="-1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314912" t="-100826" r="-101754" b="-1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8922799"/>
                      </a:ext>
                    </a:extLst>
                  </a:tr>
                  <a:tr h="7366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79" t="-200826" r="-381337" b="-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415789" t="-200826" r="-1000877" b="-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915789" t="-200826" r="-500877" b="-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14912" t="-200826" r="-1754" b="-165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4469527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81F6FFCD-E341-3132-AF7B-E9B11E00918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759468"/>
                <a:ext cx="10515600" cy="3098531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𝑎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</m:d>
                      </m:e>
                      <m:sub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h𝑖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ệ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ạ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=17=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𝑎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e>
                      <m:sub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𝑠𝑎𝑢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ắ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ế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2400" dirty="0"/>
              </a:p>
              <a:p>
                <a:r>
                  <a:rPr lang="en-US" sz="2400" dirty="0" err="1"/>
                  <a:t>Nếu</a:t>
                </a:r>
                <a:r>
                  <a:rPr lang="en-US" sz="2400" dirty="0"/>
                  <a:t> </a:t>
                </a:r>
                <a:r>
                  <a:rPr lang="en-US" sz="2400" dirty="0" err="1"/>
                  <a:t>dùng</a:t>
                </a:r>
                <a:r>
                  <a:rPr lang="en-US" sz="2400" dirty="0"/>
                  <a:t> Insertion Sort: </a:t>
                </a:r>
                <a:r>
                  <a:rPr lang="en-US" sz="2400" dirty="0" err="1"/>
                  <a:t>phải</a:t>
                </a:r>
                <a:r>
                  <a:rPr lang="en-US" sz="2400" dirty="0"/>
                  <a:t> </a:t>
                </a:r>
                <a:r>
                  <a:rPr lang="en-US" sz="2400" dirty="0" err="1"/>
                  <a:t>thao</a:t>
                </a:r>
                <a:r>
                  <a:rPr lang="en-US" sz="2400" dirty="0"/>
                  <a:t> </a:t>
                </a:r>
                <a:r>
                  <a:rPr lang="en-US" sz="2400" dirty="0" err="1"/>
                  <a:t>tác</a:t>
                </a:r>
                <a:r>
                  <a:rPr lang="en-US" sz="2400" dirty="0"/>
                  <a:t> </a:t>
                </a:r>
                <a:r>
                  <a:rPr lang="en-US" sz="2400" dirty="0" err="1"/>
                  <a:t>trên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r>
                  <a:rPr lang="en-US" sz="2400" dirty="0"/>
                  <a:t> </a:t>
                </a:r>
                <a:r>
                  <a:rPr lang="en-US" sz="2400" dirty="0" err="1"/>
                  <a:t>khoá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[18, 53, 62, 83]</m:t>
                    </m:r>
                  </m:oMath>
                </a14:m>
                <a:r>
                  <a:rPr lang="en-US" sz="2400" dirty="0"/>
                  <a:t>.</a:t>
                </a:r>
              </a:p>
              <a:p>
                <a:r>
                  <a:rPr lang="en-US" sz="2400" dirty="0" err="1"/>
                  <a:t>Nếu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[5]</m:t>
                    </m:r>
                  </m:oMath>
                </a14:m>
                <a:r>
                  <a:rPr lang="en-US" sz="2400" dirty="0"/>
                  <a:t> </a:t>
                </a:r>
                <a:r>
                  <a:rPr lang="en-US" sz="2400" dirty="0" err="1"/>
                  <a:t>là</a:t>
                </a:r>
                <a:r>
                  <a:rPr lang="en-US" sz="2400" dirty="0"/>
                  <a:t> </a:t>
                </a:r>
                <a:r>
                  <a:rPr lang="en-US" sz="2400" dirty="0" err="1"/>
                  <a:t>khoá</a:t>
                </a:r>
                <a:r>
                  <a:rPr lang="en-US" sz="2400" dirty="0"/>
                  <a:t> </a:t>
                </a:r>
                <a:r>
                  <a:rPr lang="en-US" sz="2400" dirty="0" err="1"/>
                  <a:t>của</a:t>
                </a:r>
                <a:r>
                  <a:rPr lang="en-US" sz="2400" dirty="0"/>
                  <a:t> </a:t>
                </a:r>
                <a:r>
                  <a:rPr lang="en-US" sz="2400" dirty="0" err="1"/>
                  <a:t>dãy</a:t>
                </a:r>
                <a:r>
                  <a:rPr lang="en-US" sz="2400" dirty="0"/>
                  <a:t> con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/>
                  <a:t> -&gt; </a:t>
                </a:r>
                <a:r>
                  <a:rPr lang="en-US" sz="2400" dirty="0" err="1"/>
                  <a:t>chèn</a:t>
                </a:r>
                <a:r>
                  <a:rPr lang="en-US" sz="2400" dirty="0"/>
                  <a:t> </a:t>
                </a:r>
                <a:r>
                  <a:rPr lang="en-US" sz="2400" dirty="0" err="1"/>
                  <a:t>vào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[0]=62</m:t>
                    </m:r>
                  </m:oMath>
                </a14:m>
                <a:r>
                  <a:rPr lang="en-US" sz="2400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[10]=25</m:t>
                    </m:r>
                  </m:oMath>
                </a14:m>
                <a:r>
                  <a:rPr lang="en-US" sz="2400" dirty="0"/>
                  <a:t> </a:t>
                </a:r>
                <a:r>
                  <a:rPr lang="en-US" sz="2400" dirty="0" err="1"/>
                  <a:t>cũng</a:t>
                </a:r>
                <a:r>
                  <a:rPr lang="en-US" sz="2400" dirty="0"/>
                  <a:t> </a:t>
                </a:r>
                <a:r>
                  <a:rPr lang="en-US" sz="2400" dirty="0" err="1"/>
                  <a:t>được</a:t>
                </a:r>
                <a:r>
                  <a:rPr lang="en-US" sz="2400" dirty="0"/>
                  <a:t> </a:t>
                </a:r>
                <a:r>
                  <a:rPr lang="en-US" sz="2400" dirty="0" err="1"/>
                  <a:t>chèn</a:t>
                </a:r>
                <a:r>
                  <a:rPr lang="en-US" sz="2400" dirty="0"/>
                  <a:t> </a:t>
                </a:r>
                <a:r>
                  <a:rPr lang="en-US" sz="2400" dirty="0" err="1"/>
                  <a:t>vào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[5]=62</m:t>
                    </m:r>
                  </m:oMath>
                </a14:m>
                <a:r>
                  <a:rPr lang="en-US" sz="2400" dirty="0"/>
                  <a:t>.</a:t>
                </a:r>
              </a:p>
              <a:p>
                <a:r>
                  <a:rPr lang="en-US" sz="2400" dirty="0"/>
                  <a:t>Shell Sort </a:t>
                </a:r>
                <a:r>
                  <a:rPr lang="en-US" sz="2400" dirty="0" err="1"/>
                  <a:t>hiệu</a:t>
                </a:r>
                <a:r>
                  <a:rPr lang="en-US" sz="2400" dirty="0"/>
                  <a:t> </a:t>
                </a:r>
                <a:r>
                  <a:rPr lang="en-US" sz="2400" dirty="0" err="1"/>
                  <a:t>quả</a:t>
                </a:r>
                <a:r>
                  <a:rPr lang="en-US" sz="2400" dirty="0"/>
                  <a:t> </a:t>
                </a:r>
                <a:r>
                  <a:rPr lang="en-US" sz="2400" dirty="0" err="1"/>
                  <a:t>hơn</a:t>
                </a:r>
                <a:r>
                  <a:rPr lang="en-US" sz="2400" dirty="0"/>
                  <a:t> Insertion Sort: </a:t>
                </a:r>
                <a:r>
                  <a:rPr lang="en-US" sz="2400" dirty="0" err="1"/>
                  <a:t>Khoá</a:t>
                </a:r>
                <a:r>
                  <a:rPr lang="en-US" sz="2400" dirty="0"/>
                  <a:t> </a:t>
                </a:r>
                <a:r>
                  <a:rPr lang="en-US" sz="2400" dirty="0" err="1"/>
                  <a:t>nhỏ</a:t>
                </a:r>
                <a:r>
                  <a:rPr lang="en-US" sz="2400" dirty="0"/>
                  <a:t> </a:t>
                </a:r>
                <a:r>
                  <a:rPr lang="en-US" sz="2400" dirty="0" err="1"/>
                  <a:t>được</a:t>
                </a:r>
                <a:r>
                  <a:rPr lang="en-US" sz="2400" dirty="0"/>
                  <a:t> </a:t>
                </a:r>
                <a:r>
                  <a:rPr lang="en-US" sz="2400" dirty="0" err="1"/>
                  <a:t>nhanh</a:t>
                </a:r>
                <a:r>
                  <a:rPr lang="en-US" sz="2400" dirty="0"/>
                  <a:t> </a:t>
                </a:r>
                <a:r>
                  <a:rPr lang="en-US" sz="2400" dirty="0" err="1"/>
                  <a:t>chóng</a:t>
                </a:r>
                <a:r>
                  <a:rPr lang="en-US" sz="2400" dirty="0"/>
                  <a:t> </a:t>
                </a:r>
                <a:r>
                  <a:rPr lang="en-US" sz="2400" dirty="0" err="1"/>
                  <a:t>đưa</a:t>
                </a:r>
                <a:r>
                  <a:rPr lang="en-US" sz="2400" dirty="0"/>
                  <a:t> </a:t>
                </a:r>
                <a:r>
                  <a:rPr lang="en-US" sz="2400" dirty="0" err="1"/>
                  <a:t>về</a:t>
                </a:r>
                <a:r>
                  <a:rPr lang="en-US" sz="2400" dirty="0"/>
                  <a:t> </a:t>
                </a:r>
                <a:r>
                  <a:rPr lang="en-US" sz="2400" dirty="0" err="1"/>
                  <a:t>vị</a:t>
                </a:r>
                <a:r>
                  <a:rPr lang="en-US" sz="2400" dirty="0"/>
                  <a:t> </a:t>
                </a:r>
                <a:r>
                  <a:rPr lang="en-US" sz="2400" dirty="0" err="1"/>
                  <a:t>trí</a:t>
                </a:r>
                <a:r>
                  <a:rPr lang="en-US" sz="2400" dirty="0"/>
                  <a:t> </a:t>
                </a:r>
                <a:r>
                  <a:rPr lang="en-US" sz="2400" dirty="0" err="1"/>
                  <a:t>đúng</a:t>
                </a:r>
                <a:r>
                  <a:rPr lang="en-US" sz="2400" dirty="0"/>
                  <a:t> </a:t>
                </a:r>
                <a:r>
                  <a:rPr lang="en-US" sz="2400" dirty="0" err="1"/>
                  <a:t>hoặc</a:t>
                </a:r>
                <a:r>
                  <a:rPr lang="en-US" sz="2400" dirty="0"/>
                  <a:t> </a:t>
                </a:r>
                <a:r>
                  <a:rPr lang="en-US" sz="2400" dirty="0" err="1"/>
                  <a:t>gần</a:t>
                </a:r>
                <a:r>
                  <a:rPr lang="en-US" sz="2400" dirty="0"/>
                  <a:t> </a:t>
                </a:r>
                <a:r>
                  <a:rPr lang="en-US" sz="2400" dirty="0" err="1"/>
                  <a:t>đúng</a:t>
                </a:r>
                <a:r>
                  <a:rPr lang="en-US" sz="2400" dirty="0"/>
                  <a:t> </a:t>
                </a:r>
                <a:r>
                  <a:rPr lang="en-US" sz="2400" dirty="0" err="1"/>
                  <a:t>của</a:t>
                </a:r>
                <a:r>
                  <a:rPr lang="en-US" sz="2400" dirty="0"/>
                  <a:t> </a:t>
                </a:r>
                <a:r>
                  <a:rPr lang="en-US" sz="2400" dirty="0" err="1"/>
                  <a:t>nó</a:t>
                </a:r>
                <a:r>
                  <a:rPr lang="en-US" sz="2400" dirty="0"/>
                  <a:t>.</a:t>
                </a:r>
                <a:endParaRPr lang="en-GB" sz="2400" dirty="0"/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81F6FFCD-E341-3132-AF7B-E9B11E00918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759468"/>
                <a:ext cx="10515600" cy="3098531"/>
              </a:xfrm>
              <a:blipFill>
                <a:blip r:embed="rId5"/>
                <a:stretch>
                  <a:fillRect l="-812" t="-177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642669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3609E1F-2BD3-3812-AF41-A2C2927037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5132066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95</a:t>
                      </a:r>
                      <a:endParaRPr lang="en-GB" sz="320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BB0AFF43-B499-6DEC-17E5-AB1754650900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5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955218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42B0E-9524-02E3-9458-9672A8BB1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4DC20B5-AC3E-05FF-A470-9681C0AA52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3922799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A1A83949-3C46-DDF3-B40E-C364F7775014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5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1525675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A5ABF2-FFFA-6C3E-5699-5D6C3F81C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4C39816-FBD5-CE50-F13D-2B5C4A3EB4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4593573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E4F33A88-22E8-7C3E-C700-7F4E2DFDAE10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5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7407868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C0F688-10F8-81E0-B484-3AEF94CC2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0221529-B615-E1F5-5D14-0DA3267C75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3984954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C26BD58-51FA-1D16-4AE1-C51DFC84D380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5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7625096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29353-F53C-704D-DE56-3960A32FF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7D2EBFD-05D9-5680-1250-504B5D5AA6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4891913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4A7CC93-C109-A35C-24A5-006F5CD62E84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5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9372707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4661A8-0154-4C4B-9E26-C9E772B54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6294E88-0A3A-9DBB-5899-99214597BC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5897958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0B5BB9C-B900-32F6-CC30-F662C97D0C94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5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7939297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E037A-7DD6-8EBE-908C-784556072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B2A2B04-E22D-28A3-D900-28407A0C35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173365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782616C4-63D5-24C9-705E-AC9AA0FAC876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5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0339084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E62BA2-F5E4-DA3D-4A7F-EAC9794B7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5E707DB-A96D-7606-E620-1AF8C33216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9999039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9B2710F-2914-72AF-CE84-18E90E030DFF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5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734045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E5EA8F-4AE3-DC82-3D57-1A56B1489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A4F8448-06F9-EEC0-9C1E-B3E8AC6FC1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1042143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155FFA2E-8D2B-8292-1729-593EFE78FCF5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5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3234244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75957-0424-2425-93C3-FCFB90753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D5C4B18-42D4-CD64-1A10-F2CE84F29B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5116939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5C701EFE-3835-7327-3BC3-AA1C9CAC9EC7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5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9136587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10D0DB-413E-88FE-FC6E-2192545CE8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4DFF5D2-0AAD-DEEE-A888-54EFC3C603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476614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E1F7C11-B606-A0D4-FDE3-5451E7EF2620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5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3208012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2C0F96-D7DB-AFBE-1944-A4A61EB12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7CB6542-804B-F799-E5D4-5647991FA4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5443679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8A2309A-FD84-1FFB-BBAC-69A73AA51588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5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1226548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81901D-BCFF-EAD3-3A6F-FC3561576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5890DE7-7CB7-58CB-3731-818DCEC106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4697061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5E19879-9ACD-8DD5-65A6-FE4214C19DF0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5 (h – sorted)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9280659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63941-B208-0D0B-C6FC-A673F11D4C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CB6AFD9-8BE0-AE71-E66D-252280A701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5178282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0C4CD154-2CB8-066E-7DB6-68360E3E1865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3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9197266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1294E-C064-2E0B-0002-D9D829141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F7DA338-A5BD-D387-31A6-BA1AA538D6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3411202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0D30B0F-8477-3142-B6E6-4BB5BDC2C705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3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6676058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C597A7-02E3-2E66-3DBF-6B05E4814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C4FB24B-C5F3-A0C9-BC0D-8D409B4CF4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7143468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B9B6573-DA92-8F4D-A107-E61CFF492DA5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3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8260871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4EE92-0411-1FA6-F1CF-0234DECE4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78E2FF9-3900-2730-D23E-6DAA7B6C18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3103756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1CA3000-E475-77DD-7264-D13924DDF02F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3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1887297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E7018-2AAB-C8DD-916E-AB378F9F2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C57409F-E991-8534-5C5E-CD985FFF0C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9401247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9460BCF-B297-3C1D-2740-DE9569FD81A1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3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999416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9D7AC-C4D1-583D-6D30-F8470176B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0400B3D-AE57-F26A-D8F0-5565622E27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9413615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F935FC2-0890-7B45-F366-51D99CE6C5B6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3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9429490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5A34C-021D-D20A-9C8E-B493811F8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FAE4A61-9609-2188-7102-10A96A7B28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2723483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C69F6A5-28AC-367F-2BD6-638780BB4507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3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8715051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CFFFF3-3B1F-9EC7-70C6-B62BFD083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5B63AFA-A0DC-4677-5C79-1EA0AB999D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9771493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E73AD16-889F-F54A-EF1B-377971595182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3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8376394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D5D44-2829-E2F6-8D65-01EC0131D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08BB783-D94E-6725-3520-FCA6E44AD1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3789054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B438772-0DE7-4DA9-B0EF-08F4014C38BD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3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37888633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D6A7E-8DE5-4AF2-2100-957B40CAC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EE5C5B6-4B72-ADFC-CC67-D740BF053F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315729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7580F98F-2D4D-6C53-FC97-7BA0001D81E0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3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47961303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4FDBEA-E60B-74A0-1D1E-8DFD92C8F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A6D4E8B-8ECD-02A2-B2EA-B5BC0E7B4C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6590423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30A53E1-EE3A-4F4E-A9AF-5FA7C0C6FDD3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3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844630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B3B7E-B2CE-7587-421B-2B6F90449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F8EDD6E-1FF8-8AE1-2D04-1F8A5A3C27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5842664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0A7784F0-6852-3672-3291-72C0F9A3CBC5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3 (h – sorted)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35553272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815F7-590D-9CD3-07F8-D8F4708F3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688765B-F416-60EF-58D1-B65CF2BE39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208149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EDB2768-07B0-50F0-BCC1-9A1255F22E4A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8325937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F6AE56-5F7D-ACEC-9C34-20B2D0237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B9E9AF6-9E4D-9C76-9693-E48DD56459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0458418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661D0EC-D93B-8229-54F3-FE9F0B36D0C1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145073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4DDB7-774B-8044-6E81-BBB644D04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69E1BF2-3507-81DC-C0DD-03F23A318B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6040491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CA627F8-12E2-8F22-7906-7475D6B68698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40544895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70AED4-5D6B-DDF4-E9FA-11758EA7C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1E9E69C-1BBC-B87C-4FE8-2800344F53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3177826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65044A2-AE70-0CCB-DE13-AA67492841AC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266455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40A9D1-2B69-D5ED-52DB-D6F513ED2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696D5F9-FF07-6C69-66DD-766998CED2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8115128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F3CF198-DA55-7F6F-88C3-3538195626D4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9217208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84B82-1D6D-94D3-2E43-AF66C925A1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B27FFB8-FC54-774D-E5B6-077BA57EED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2512519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33E9B34-B4E4-B7A6-314C-1604BC021AA7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9329216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00F95-F925-C8D8-01BB-A54D70879C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B0F396C-3950-9DB4-66C9-ABC5BDBD94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0824981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C4AC92-15FD-1512-5EA8-9D0891B10824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3805247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1C560-D950-848E-0A14-EF1AC5A0C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727322A-F7F1-FCC4-B13B-1C4D535B22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2240464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1CD16A1-BF69-DD09-D29A-1A00F5DD730D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477561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76693-28DE-FD58-C376-480690D84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59BCACB-3AF6-90E5-D303-0184AB217D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8821592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4CE970-7362-0A91-9511-E82F33FA8678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4692219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E1C85D-99DF-BCEF-3682-E0B2CAED9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BE4A428-C11E-B9E2-D27B-257D6C10CF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3573367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96664DE-594A-D249-46BB-B16F324DBFA7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41267768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02FC0-7BA4-6218-C5D6-15BFDB67F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0ACE169-ED23-7570-14D1-1352909017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6678243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F957D8E-F131-1202-44EE-92A53397A7A5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302029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6AF32-3924-1630-3944-53253416E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7D45442-C819-DD2F-D3AA-1F9385B010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802827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71E933E8-7138-D6A8-7308-781D49F977A0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733507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08214-B599-1D9D-0B40-70518A144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8AB4D13-8A31-AE69-687A-B842923AC2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0793747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B5286C1-5393-4DB6-30C0-8412CCB966D3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6875781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FA5A9-003E-F2AE-12D8-05D9EE6D1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4C40A9D-DC54-D65C-7D82-04608582DE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9996673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09B6FA2-8DC3-4086-C7FC-714389C5F36F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924765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1A761-3F63-BBE9-EDA4-CF3E6862F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655797A-9A59-F024-2897-48C27662BA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4501651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2D0569C-6E2A-B8B1-8984-5029AD7121BE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3401492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46044-B4ED-DB60-1FD4-0FD059A8F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14B84E4-78B6-5397-4D34-F0A0C66663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0034918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72FB2EF-2088-8305-B796-8B7243B28C64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27441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9E415-7FD1-5F00-6D6F-1AF43D811A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BF565B3-4A93-7A5A-8274-B18EB4FD13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9687715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C1D9414-70B8-5375-07F0-C1C6B18163A6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41251013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65812D-765D-4373-E9C5-0C94C19B1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21729E8-DBE1-CF1E-DA98-FE95B59A30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7892074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2B23A1B-122B-77D4-786A-6E54C765ED0C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0801669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5F0079-4516-3B23-1389-AEB923030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36D7EC0-7BAA-6B68-9AEE-C6FDFF34BC71}"/>
              </a:ext>
            </a:extLst>
          </p:cNvPr>
          <p:cNvGraphicFramePr>
            <a:graphicFrameLocks noGrp="1"/>
          </p:cNvGraphicFramePr>
          <p:nvPr/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30CFE97E-7F1A-0D07-5D13-FD6689D87F65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Sorted!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299308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"/>
    </mc:Choice>
    <mc:Fallback xmlns="">
      <p:transition advClick="0" advTm="100"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F39A28-103C-3A46-1EE8-FB33FD291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1FBD945-2E78-97CB-23F3-27CC33FB76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7807753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B9F32A76-7CC8-92E1-9ED7-4D6A66870F15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Sorted!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5494476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"/>
    </mc:Choice>
    <mc:Fallback xmlns="">
      <p:transition advClick="0" advTm="100"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CD675-F499-AFDE-9CF6-1540BA25F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5123B79-AA5F-2A62-8F3D-97F6F440E1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9188786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041BEEC5-3BBF-D210-0132-026CA8867EA9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Sorted!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5277544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"/>
    </mc:Choice>
    <mc:Fallback xmlns="">
      <p:transition advClick="0" advTm="100"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2D8421-0F74-9D2C-E865-2C6528305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065FCDD-85B7-E234-6D81-B31F087C99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1479971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09B3AF9C-5A62-D4AB-43BE-BC90F9055AD2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Sorted!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5125794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"/>
    </mc:Choice>
    <mc:Fallback xmlns="">
      <p:transition advClick="0" advTm="100"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129B1-3524-B0DE-0BCC-D4F84E2F4E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E400CD9-6466-22B5-5637-809F6CDC4F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4810736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4C9E5C4A-0038-8ADD-2945-01E81166367B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Sorted!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6576880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"/>
    </mc:Choice>
    <mc:Fallback xmlns="">
      <p:transition advClick="0" advTm="100"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C417BE-E33B-8049-5980-C8D1D81CC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61ACF0B-0735-1D18-EBE4-06AC0201DD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952406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274BE0CA-3803-0AAE-16C1-5BD864B8658A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Sorted!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9161814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"/>
    </mc:Choice>
    <mc:Fallback xmlns="">
      <p:transition advClick="0" advTm="100"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C1218-C387-693E-9DB1-DD6F3787D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C828663-32A8-81CF-29DF-8C9948FF76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3416412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CF88BC2F-1DF8-FC91-5292-72B4EE2ADF01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Sorted!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8546238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"/>
    </mc:Choice>
    <mc:Fallback xmlns="">
      <p:transition advClick="0" advTm="100"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E2CB6-9BCC-75E1-41AC-7DE2F53D4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2E1C860-8085-CF9C-9547-FB9B30F552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119488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D45361A9-D0BC-7C93-2900-12C6BFBCF367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Sorted!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002536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"/>
    </mc:Choice>
    <mc:Fallback xmlns="">
      <p:transition advClick="0" advTm="100"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E167D9-C85A-D6EB-BCA8-2CB811344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9F890D9-06F5-8D0C-2D9E-9AAE67F06D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6339146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4BFBC711-5C54-153B-6CCE-CDCB9BAAC53E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Sorted!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0326342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"/>
    </mc:Choice>
    <mc:Fallback xmlns="">
      <p:transition advClick="0" advTm="100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3B679-517A-6828-273F-72AED2CFDF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6207176-AA23-99CA-8F6E-1B6CE87339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6688202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EF67DDFA-7E22-8678-74E7-874862E2B16F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Sorted!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41992495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"/>
    </mc:Choice>
    <mc:Fallback xmlns="">
      <p:transition advClick="0" advTm="100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19BC96-C253-1C87-8C2A-397EB1389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BB785A0-B112-FDC1-0AA3-9D18F8CE13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1465930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7FDD4B14-6D32-3D96-6116-4DD72F0C5131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Sorted!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9789650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"/>
    </mc:Choice>
    <mc:Fallback xmlns="">
      <p:transition advClick="0" advTm="100"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FEA5E-FF94-BB25-8F3F-293A32101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3BFDEC2-90FF-4DA8-2C02-B998488EDF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5544991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0F995A97-73A4-F26A-C1EF-7E7B65D97623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Sorted!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805079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CB84A-D9EB-DA03-C2D0-80B1BDB7C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4. Cài </a:t>
            </a:r>
            <a:r>
              <a:rPr lang="en-US" dirty="0" err="1"/>
              <a:t>đặt</a:t>
            </a:r>
            <a:r>
              <a:rPr lang="en-US" dirty="0"/>
              <a:t> </a:t>
            </a:r>
            <a:r>
              <a:rPr lang="en-US" dirty="0" err="1"/>
              <a:t>tổng</a:t>
            </a:r>
            <a:r>
              <a:rPr lang="en-US" dirty="0"/>
              <a:t> </a:t>
            </a:r>
            <a:r>
              <a:rPr lang="en-US" dirty="0" err="1"/>
              <a:t>quát</a:t>
            </a:r>
            <a:r>
              <a:rPr lang="en-US" dirty="0"/>
              <a:t> (Generic)</a:t>
            </a:r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A8A041-1FE5-402F-9A92-0F9917434096}"/>
              </a:ext>
            </a:extLst>
          </p:cNvPr>
          <p:cNvSpPr txBox="1"/>
          <p:nvPr/>
        </p:nvSpPr>
        <p:spPr>
          <a:xfrm>
            <a:off x="1141379" y="1810464"/>
            <a:ext cx="9909241" cy="4832092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GB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static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void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ShellSort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4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&gt;(</a:t>
            </a:r>
            <a:r>
              <a:rPr lang="en-GB" sz="14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[] </a:t>
            </a:r>
            <a:r>
              <a:rPr lang="en-GB" sz="14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GB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left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GB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right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GB" sz="14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GB" sz="1400" b="0" dirty="0">
              <a:effectLst/>
            </a:endParaRPr>
          </a:p>
          <a:p>
            <a:pPr rtl="0">
              <a:buNone/>
            </a:pPr>
            <a:r>
              <a:rPr lang="en-GB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where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: </a:t>
            </a:r>
            <a:r>
              <a:rPr lang="en-GB" sz="1400" b="0" i="0" u="none" strike="noStrike" dirty="0" err="1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IComparable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4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</a:t>
            </a:r>
            <a:endParaRPr lang="en-GB" sz="1400" b="0" dirty="0">
              <a:effectLst/>
            </a:endParaRPr>
          </a:p>
          <a:p>
            <a:pPr rtl="0">
              <a:buNone/>
            </a:pP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{    </a:t>
            </a:r>
            <a:endParaRPr lang="en-GB" sz="1400" b="0" dirty="0">
              <a:effectLst/>
            </a:endParaRPr>
          </a:p>
          <a:p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400" dirty="0">
                <a:solidFill>
                  <a:srgbClr val="569CD6"/>
                </a:solidFill>
                <a:latin typeface="Courier New" panose="02070309020205020404" pitchFamily="49" charset="0"/>
              </a:rPr>
              <a:t>bool 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greater 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= 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left 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&gt;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 right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;</a:t>
            </a:r>
            <a:endParaRPr lang="en-GB" sz="1400" b="0" i="0" u="none" strike="noStrike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  <a:p>
            <a:r>
              <a:rPr lang="en-GB" sz="1400" dirty="0">
                <a:solidFill>
                  <a:srgbClr val="C586C0"/>
                </a:solidFill>
                <a:latin typeface="Courier New" panose="02070309020205020404" pitchFamily="49" charset="0"/>
              </a:rPr>
              <a:t>    if 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greater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) </a:t>
            </a:r>
            <a:r>
              <a:rPr lang="en-GB" sz="1400" dirty="0">
                <a:solidFill>
                  <a:srgbClr val="DCDCAA"/>
                </a:solidFill>
                <a:latin typeface="Courier New" panose="02070309020205020404" pitchFamily="49" charset="0"/>
              </a:rPr>
              <a:t>Swap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en-GB" sz="1400" dirty="0">
                <a:solidFill>
                  <a:srgbClr val="569CD6"/>
                </a:solidFill>
                <a:latin typeface="Courier New" panose="02070309020205020404" pitchFamily="49" charset="0"/>
              </a:rPr>
              <a:t>ref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 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left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,</a:t>
            </a:r>
            <a:r>
              <a:rPr lang="en-GB" sz="1400" dirty="0">
                <a:solidFill>
                  <a:srgbClr val="569CD6"/>
                </a:solidFill>
                <a:latin typeface="Courier New" panose="02070309020205020404" pitchFamily="49" charset="0"/>
              </a:rPr>
              <a:t> ref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 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right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);</a:t>
            </a:r>
            <a:endParaRPr lang="en-GB" sz="1400" b="0" i="0" u="none" strike="noStrike" dirty="0">
              <a:solidFill>
                <a:srgbClr val="C586C0"/>
              </a:solidFill>
              <a:effectLst/>
              <a:latin typeface="Courier New" panose="02070309020205020404" pitchFamily="49" charset="0"/>
            </a:endParaRPr>
          </a:p>
          <a:p>
            <a:r>
              <a:rPr lang="en-GB" sz="1400" dirty="0">
                <a:solidFill>
                  <a:srgbClr val="C586C0"/>
                </a:solidFill>
                <a:latin typeface="Courier New" panose="02070309020205020404" pitchFamily="49" charset="0"/>
              </a:rPr>
              <a:t>    </a:t>
            </a:r>
            <a:r>
              <a:rPr lang="en-GB" sz="14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foreach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en-GB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h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in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GB" sz="1400" b="0" dirty="0">
              <a:effectLst/>
            </a:endParaRPr>
          </a:p>
          <a:p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{</a:t>
            </a:r>
            <a:endParaRPr lang="en-GB" sz="1400" b="0" i="0" u="none" strike="noStrike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  <a:p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    </a:t>
            </a:r>
            <a:r>
              <a:rPr lang="en-GB" sz="1400" dirty="0">
                <a:solidFill>
                  <a:srgbClr val="C586C0"/>
                </a:solidFill>
                <a:latin typeface="Courier New" panose="02070309020205020404" pitchFamily="49" charset="0"/>
              </a:rPr>
              <a:t>if 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h 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&gt;=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 right 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–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 left 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+ </a:t>
            </a:r>
            <a:r>
              <a:rPr lang="en-GB" sz="1400" dirty="0">
                <a:solidFill>
                  <a:srgbClr val="B5CEA8"/>
                </a:solidFill>
                <a:latin typeface="Courier New" panose="02070309020205020404" pitchFamily="49" charset="0"/>
              </a:rPr>
              <a:t>1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) </a:t>
            </a:r>
            <a:r>
              <a:rPr lang="en-GB" sz="1400" dirty="0">
                <a:solidFill>
                  <a:srgbClr val="C586C0"/>
                </a:solidFill>
                <a:latin typeface="Courier New" panose="02070309020205020404" pitchFamily="49" charset="0"/>
              </a:rPr>
              <a:t>continue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;</a:t>
            </a:r>
            <a:endParaRPr lang="en-GB" sz="1400" b="0" i="0" u="none" strike="noStrike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  <a:p>
            <a:pPr rtl="0">
              <a:buNone/>
            </a:pP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        </a:t>
            </a:r>
            <a:r>
              <a:rPr lang="en-GB" sz="14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for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en-GB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left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h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  <a:r>
              <a:rPr lang="en-GB" sz="14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&lt;=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right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  <a:r>
              <a:rPr lang="en-GB" sz="14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++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GB" sz="1400" b="0" dirty="0">
              <a:effectLst/>
            </a:endParaRPr>
          </a:p>
          <a:p>
            <a:pPr rtl="0">
              <a:buNone/>
            </a:pP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{</a:t>
            </a:r>
            <a:endParaRPr lang="en-GB" sz="1400" b="0" dirty="0">
              <a:effectLst/>
            </a:endParaRPr>
          </a:p>
          <a:p>
            <a:pPr rtl="0">
              <a:buNone/>
            </a:pP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    </a:t>
            </a:r>
            <a:r>
              <a:rPr lang="en-GB" sz="14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key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GB" sz="14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];</a:t>
            </a:r>
            <a:endParaRPr lang="en-GB" sz="1400" b="0" dirty="0">
              <a:effectLst/>
            </a:endParaRPr>
          </a:p>
          <a:p>
            <a:pPr rtl="0">
              <a:buNone/>
            </a:pP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    </a:t>
            </a:r>
            <a:r>
              <a:rPr lang="en-GB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en-GB" sz="1400" b="0" dirty="0">
              <a:effectLst/>
            </a:endParaRPr>
          </a:p>
          <a:p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    </a:t>
            </a:r>
            <a:r>
              <a:rPr lang="en-GB" sz="14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while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&gt;=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left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h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&amp;&amp;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greater 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? </a:t>
            </a:r>
          </a:p>
          <a:p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                  </a:t>
            </a:r>
            <a:r>
              <a:rPr lang="en-GB" sz="14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-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h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GB" sz="1400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CompareTo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key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&gt;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0 </a:t>
            </a:r>
            <a:r>
              <a:rPr lang="en-GB" sz="1400" dirty="0">
                <a:solidFill>
                  <a:srgbClr val="D4D4D4"/>
                </a:solidFill>
                <a:latin typeface="Courier New" panose="02070309020205020404" pitchFamily="49" charset="0"/>
              </a:rPr>
              <a:t>: </a:t>
            </a:r>
            <a:r>
              <a:rPr lang="en-GB" sz="1400" dirty="0" err="1">
                <a:solidFill>
                  <a:srgbClr val="9CDCFE"/>
                </a:solidFill>
                <a:latin typeface="Courier New" panose="02070309020205020404" pitchFamily="49" charset="0"/>
              </a:rPr>
              <a:t>arr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[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j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 </a:t>
            </a:r>
            <a:r>
              <a:rPr lang="en-GB" sz="1400" dirty="0">
                <a:solidFill>
                  <a:srgbClr val="D4D4D4"/>
                </a:solidFill>
                <a:latin typeface="Courier New" panose="02070309020205020404" pitchFamily="49" charset="0"/>
              </a:rPr>
              <a:t>-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 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h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]</a:t>
            </a:r>
            <a:r>
              <a:rPr lang="en-GB" sz="1400" dirty="0">
                <a:solidFill>
                  <a:srgbClr val="D4D4D4"/>
                </a:solidFill>
                <a:latin typeface="Courier New" panose="02070309020205020404" pitchFamily="49" charset="0"/>
              </a:rPr>
              <a:t>.</a:t>
            </a:r>
            <a:r>
              <a:rPr lang="en-GB" sz="1400" dirty="0" err="1">
                <a:solidFill>
                  <a:srgbClr val="DCDCAA"/>
                </a:solidFill>
                <a:latin typeface="Courier New" panose="02070309020205020404" pitchFamily="49" charset="0"/>
              </a:rPr>
              <a:t>CompareTo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key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) </a:t>
            </a:r>
            <a:r>
              <a:rPr lang="en-GB" sz="1400" dirty="0">
                <a:solidFill>
                  <a:srgbClr val="D4D4D4"/>
                </a:solidFill>
                <a:latin typeface="Courier New" panose="02070309020205020404" pitchFamily="49" charset="0"/>
              </a:rPr>
              <a:t>&lt;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 </a:t>
            </a:r>
            <a:r>
              <a:rPr lang="en-GB" sz="1400" dirty="0">
                <a:solidFill>
                  <a:srgbClr val="B5CEA8"/>
                </a:solidFill>
                <a:latin typeface="Courier New" panose="02070309020205020404" pitchFamily="49" charset="0"/>
              </a:rPr>
              <a:t>0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))   </a:t>
            </a:r>
            <a:endParaRPr lang="en-GB" sz="1400" b="0" dirty="0">
              <a:effectLst/>
            </a:endParaRPr>
          </a:p>
          <a:p>
            <a:pPr rtl="0">
              <a:buNone/>
            </a:pP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    {</a:t>
            </a:r>
            <a:endParaRPr lang="en-GB" sz="1400" b="0" dirty="0">
              <a:effectLst/>
            </a:endParaRPr>
          </a:p>
          <a:p>
            <a:pPr rtl="0">
              <a:buNone/>
            </a:pP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        </a:t>
            </a:r>
            <a:r>
              <a:rPr lang="en-GB" sz="14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-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h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];</a:t>
            </a:r>
            <a:endParaRPr lang="en-GB" sz="1400" b="0" dirty="0">
              <a:effectLst/>
            </a:endParaRPr>
          </a:p>
          <a:p>
            <a:pPr rtl="0">
              <a:buNone/>
            </a:pP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        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-=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h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en-GB" sz="1400" b="0" dirty="0">
              <a:effectLst/>
            </a:endParaRPr>
          </a:p>
          <a:p>
            <a:pPr rtl="0">
              <a:buNone/>
            </a:pP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    }</a:t>
            </a:r>
            <a:endParaRPr lang="en-GB" sz="1400" b="0" dirty="0">
              <a:effectLst/>
            </a:endParaRPr>
          </a:p>
          <a:p>
            <a:pPr rtl="0">
              <a:buNone/>
            </a:pP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    </a:t>
            </a:r>
            <a:r>
              <a:rPr lang="en-GB" sz="14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key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en-GB" sz="1400" b="0" dirty="0">
              <a:effectLst/>
            </a:endParaRPr>
          </a:p>
          <a:p>
            <a:pPr rtl="0">
              <a:buNone/>
            </a:pP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}</a:t>
            </a:r>
            <a:endParaRPr lang="en-GB" sz="1400" b="0" dirty="0">
              <a:effectLst/>
            </a:endParaRPr>
          </a:p>
          <a:p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    }</a:t>
            </a:r>
          </a:p>
          <a:p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7784585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FD408-25A3-2708-CCB0-8B7B0AAF2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Output</a:t>
            </a: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ACFA23D-AE19-87CD-34F9-978FF038B6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071" y="1690688"/>
            <a:ext cx="10621857" cy="5982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21651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EB60C4-6739-E9C8-9CCC-60472BE4A6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5. Trường </a:t>
            </a:r>
            <a:r>
              <a:rPr lang="en-US" dirty="0" err="1"/>
              <a:t>hợp</a:t>
            </a:r>
            <a:r>
              <a:rPr lang="en-US" dirty="0"/>
              <a:t> </a:t>
            </a:r>
            <a:r>
              <a:rPr lang="en-US" dirty="0" err="1"/>
              <a:t>tốt</a:t>
            </a:r>
            <a:r>
              <a:rPr lang="en-US" dirty="0"/>
              <a:t> </a:t>
            </a:r>
            <a:r>
              <a:rPr lang="en-US" dirty="0" err="1"/>
              <a:t>nhất</a:t>
            </a:r>
            <a:r>
              <a:rPr lang="en-US" dirty="0"/>
              <a:t> </a:t>
            </a:r>
            <a:r>
              <a:rPr lang="en-US" dirty="0" err="1"/>
              <a:t>cho</a:t>
            </a:r>
            <a:r>
              <a:rPr lang="en-US" dirty="0"/>
              <a:t> </a:t>
            </a:r>
            <a:r>
              <a:rPr lang="en-US" dirty="0" err="1"/>
              <a:t>mọi</a:t>
            </a:r>
            <a:r>
              <a:rPr lang="en-US" dirty="0"/>
              <a:t> </a:t>
            </a:r>
            <a:r>
              <a:rPr lang="en-US" dirty="0" err="1"/>
              <a:t>dãy</a:t>
            </a:r>
            <a:r>
              <a:rPr lang="en-US" dirty="0"/>
              <a:t> </a:t>
            </a:r>
            <a:r>
              <a:rPr lang="en-US" dirty="0" err="1"/>
              <a:t>khoảng</a:t>
            </a:r>
            <a:r>
              <a:rPr lang="en-US" dirty="0"/>
              <a:t> </a:t>
            </a:r>
            <a:r>
              <a:rPr lang="en-US" dirty="0" err="1"/>
              <a:t>cách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E4015BCF-7A11-1D1B-CF3C-F69673D2E052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12322" y="1799746"/>
                <a:ext cx="5181600" cy="5058253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Khi </a:t>
                </a:r>
                <a:r>
                  <a:rPr lang="en-US" dirty="0" err="1"/>
                  <a:t>mảng</a:t>
                </a:r>
                <a:r>
                  <a:rPr lang="en-US" dirty="0"/>
                  <a:t> </a:t>
                </a:r>
                <a:r>
                  <a:rPr lang="en-US" dirty="0" err="1"/>
                  <a:t>đã</a:t>
                </a:r>
                <a:r>
                  <a:rPr lang="en-US" dirty="0"/>
                  <a:t> </a:t>
                </a:r>
                <a:r>
                  <a:rPr lang="en-US" dirty="0" err="1"/>
                  <a:t>được</a:t>
                </a:r>
                <a:r>
                  <a:rPr lang="en-US" dirty="0"/>
                  <a:t> </a:t>
                </a:r>
                <a:r>
                  <a:rPr lang="en-US" dirty="0" err="1"/>
                  <a:t>sắp</a:t>
                </a:r>
                <a:r>
                  <a:rPr lang="en-US" dirty="0"/>
                  <a:t> </a:t>
                </a:r>
                <a:r>
                  <a:rPr lang="en-US" dirty="0" err="1"/>
                  <a:t>xếp</a:t>
                </a:r>
                <a:r>
                  <a:rPr lang="en-US" dirty="0"/>
                  <a:t> </a:t>
                </a:r>
                <a:r>
                  <a:rPr lang="en-US" dirty="0" err="1"/>
                  <a:t>sẵn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Mỗi</a:t>
                </a:r>
                <a:r>
                  <a:rPr lang="en-US" dirty="0"/>
                  <a:t> </a:t>
                </a:r>
                <a:r>
                  <a:rPr lang="en-US" dirty="0" err="1"/>
                  <a:t>lượt</a:t>
                </a:r>
                <a:r>
                  <a:rPr lang="en-US" dirty="0"/>
                  <a:t> duyệt gap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baseline="-2500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sẽ</a:t>
                </a:r>
                <a:r>
                  <a:rPr lang="en-US" dirty="0"/>
                  <a:t> </a:t>
                </a:r>
                <a:r>
                  <a:rPr lang="en-US" dirty="0" err="1"/>
                  <a:t>tốn</a:t>
                </a:r>
                <a:r>
                  <a:rPr lang="en-US" dirty="0"/>
                  <a:t>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−1 −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lượt</a:t>
                </a:r>
                <a:r>
                  <a:rPr lang="en-US" dirty="0"/>
                  <a:t> so </a:t>
                </a:r>
                <a:r>
                  <a:rPr lang="en-US" dirty="0" err="1"/>
                  <a:t>sánh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Gọi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dirty="0"/>
                  <a:t> </a:t>
                </a:r>
                <a:r>
                  <a:rPr lang="en-US" dirty="0" err="1"/>
                  <a:t>số</a:t>
                </a:r>
                <a:r>
                  <a:rPr lang="en-US" dirty="0"/>
                  <a:t> </a:t>
                </a:r>
                <a:r>
                  <a:rPr lang="en-US" dirty="0" err="1"/>
                  <a:t>lượng</a:t>
                </a:r>
                <a:r>
                  <a:rPr lang="en-US" dirty="0"/>
                  <a:t> gap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dirty="0"/>
                  <a:t>. </a:t>
                </a:r>
                <a:r>
                  <a:rPr lang="en-US" dirty="0" err="1"/>
                  <a:t>Tổng</a:t>
                </a:r>
                <a:r>
                  <a:rPr lang="en-US" dirty="0"/>
                  <a:t> chi </a:t>
                </a:r>
                <a:r>
                  <a:rPr lang="en-US" dirty="0" err="1"/>
                  <a:t>phí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dirty="0"/>
                  <a:t>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𝐶𝑜𝑠𝑡</m:t>
                      </m:r>
                      <m:r>
                        <a:rPr lang="en-US" sz="2400" b="0" i="1" baseline="-25000" smtClean="0">
                          <a:latin typeface="Cambria Math" panose="02040503050406030204" pitchFamily="18" charset="0"/>
                        </a:rPr>
                        <m:t>𝑡𝑜𝑡𝑎𝑙</m:t>
                      </m:r>
                      <m:r>
                        <a:rPr lang="pt-BR" sz="24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−1)−</m:t>
                      </m:r>
                      <m:nary>
                        <m:naryPr>
                          <m:chr m:val="∑"/>
                          <m:ctrlPr>
                            <a:rPr lang="pt-BR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40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2400" b="0" i="1" baseline="-2500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  <a:p>
                <a:r>
                  <a:rPr lang="en-US" dirty="0" err="1"/>
                  <a:t>Với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10</m:t>
                    </m:r>
                    <m:r>
                      <a:rPr lang="en-US" b="0" i="1" baseline="3000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6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phần</a:t>
                </a:r>
                <a:r>
                  <a:rPr lang="en-US" dirty="0"/>
                  <a:t> </a:t>
                </a:r>
                <a:r>
                  <a:rPr lang="en-US" dirty="0" err="1"/>
                  <a:t>tử</a:t>
                </a:r>
                <a:r>
                  <a:rPr lang="en-US" dirty="0"/>
                  <a:t> </a:t>
                </a:r>
                <a:r>
                  <a:rPr lang="en-US" dirty="0" err="1"/>
                  <a:t>thì</a:t>
                </a:r>
                <a:r>
                  <a:rPr lang="en-US" dirty="0"/>
                  <a:t> </a:t>
                </a: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=9 ~ 142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phần</a:t>
                </a:r>
                <a:r>
                  <a:rPr lang="en-US" dirty="0"/>
                  <a:t> </a:t>
                </a:r>
                <a:r>
                  <a:rPr lang="en-US" dirty="0" err="1"/>
                  <a:t>tử</a:t>
                </a:r>
                <a:r>
                  <a:rPr lang="en-US" dirty="0"/>
                  <a:t> </a:t>
                </a:r>
                <a:r>
                  <a:rPr lang="en-US" dirty="0" err="1"/>
                  <a:t>tuỳ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. </a:t>
                </a:r>
                <a:r>
                  <a:rPr lang="en-US" dirty="0" err="1"/>
                  <a:t>Vì</a:t>
                </a:r>
                <a:r>
                  <a:rPr lang="en-US" dirty="0"/>
                  <a:t> </a:t>
                </a:r>
                <a:r>
                  <a:rPr lang="en-US" dirty="0" err="1"/>
                  <a:t>vậy</a:t>
                </a:r>
                <a:r>
                  <a:rPr lang="en-US" dirty="0"/>
                  <a:t>, </a:t>
                </a:r>
                <a:r>
                  <a:rPr lang="en-US" dirty="0" err="1"/>
                  <a:t>trong</a:t>
                </a:r>
                <a:r>
                  <a:rPr lang="en-US" dirty="0"/>
                  <a:t> </a:t>
                </a:r>
                <a:r>
                  <a:rPr lang="en-US" dirty="0" err="1"/>
                  <a:t>trường</a:t>
                </a:r>
                <a:r>
                  <a:rPr lang="en-US" dirty="0"/>
                  <a:t> </a:t>
                </a:r>
                <a:r>
                  <a:rPr lang="en-US" dirty="0" err="1"/>
                  <a:t>hợp</a:t>
                </a:r>
                <a:r>
                  <a:rPr lang="en-US" dirty="0"/>
                  <a:t> </a:t>
                </a:r>
                <a:r>
                  <a:rPr lang="en-US" dirty="0" err="1"/>
                  <a:t>tốt</a:t>
                </a:r>
                <a:r>
                  <a:rPr lang="en-US" dirty="0"/>
                  <a:t> </a:t>
                </a:r>
                <a:r>
                  <a:rPr lang="en-US" dirty="0" err="1"/>
                  <a:t>nhất</a:t>
                </a:r>
                <a:r>
                  <a:rPr lang="en-US" dirty="0"/>
                  <a:t> </a:t>
                </a:r>
                <a:r>
                  <a:rPr lang="en-US" dirty="0" err="1"/>
                  <a:t>độ</a:t>
                </a:r>
                <a:r>
                  <a:rPr lang="en-US" dirty="0"/>
                  <a:t> </a:t>
                </a:r>
                <a:r>
                  <a:rPr lang="en-US" dirty="0" err="1"/>
                  <a:t>phức</a:t>
                </a:r>
                <a:r>
                  <a:rPr lang="en-US" dirty="0"/>
                  <a:t> </a:t>
                </a:r>
                <a:r>
                  <a:rPr lang="en-US" dirty="0" err="1"/>
                  <a:t>tạp</a:t>
                </a:r>
                <a:r>
                  <a:rPr lang="en-US" dirty="0"/>
                  <a:t> </a:t>
                </a:r>
                <a:r>
                  <a:rPr lang="en-US" dirty="0" err="1"/>
                  <a:t>thuật</a:t>
                </a:r>
                <a:r>
                  <a:rPr lang="en-US" dirty="0"/>
                  <a:t> </a:t>
                </a:r>
                <a:r>
                  <a:rPr lang="en-US" dirty="0" err="1"/>
                  <a:t>toán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𝑁𝑙𝑜𝑔𝑁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  <a:endParaRPr lang="en-US" baseline="30000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E4015BCF-7A11-1D1B-CF3C-F69673D2E0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12322" y="1799746"/>
                <a:ext cx="5181600" cy="5058253"/>
              </a:xfrm>
              <a:blipFill>
                <a:blip r:embed="rId3"/>
                <a:stretch>
                  <a:fillRect l="-2118" t="-2651" r="-176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542FB831-9F12-08A2-05D1-B78D4E3C86EE}"/>
              </a:ext>
            </a:extLst>
          </p:cNvPr>
          <p:cNvSpPr txBox="1"/>
          <p:nvPr/>
        </p:nvSpPr>
        <p:spPr>
          <a:xfrm>
            <a:off x="6019800" y="1822451"/>
            <a:ext cx="6172200" cy="1754326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static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[] </a:t>
            </a:r>
            <a:r>
              <a:rPr lang="en-GB" sz="1200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BestGenerateValue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size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GB" sz="1200" b="0" dirty="0">
              <a:effectLst/>
            </a:endParaRPr>
          </a:p>
          <a:p>
            <a:pPr rtl="0">
              <a:buNone/>
            </a:pP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{</a:t>
            </a:r>
            <a:endParaRPr lang="en-GB" sz="1200" b="0" dirty="0">
              <a:effectLst/>
            </a:endParaRPr>
          </a:p>
          <a:p>
            <a:pPr rtl="0">
              <a:buNone/>
            </a:pP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2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Random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rand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new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Random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();</a:t>
            </a:r>
            <a:endParaRPr lang="en-GB" sz="1200" b="0" dirty="0">
              <a:effectLst/>
            </a:endParaRPr>
          </a:p>
          <a:p>
            <a:pPr rtl="0">
              <a:buNone/>
            </a:pP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[] 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new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GB" sz="12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size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];</a:t>
            </a:r>
            <a:endParaRPr lang="en-GB" sz="1200" b="0" dirty="0">
              <a:effectLst/>
            </a:endParaRPr>
          </a:p>
          <a:p>
            <a:pPr rtl="0">
              <a:buNone/>
            </a:pP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GB" sz="12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0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 </a:t>
            </a:r>
            <a:r>
              <a:rPr lang="en-GB" sz="12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en-GB" sz="1200" b="0" dirty="0">
              <a:effectLst/>
            </a:endParaRPr>
          </a:p>
          <a:p>
            <a:pPr rtl="0">
              <a:buNone/>
            </a:pP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2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for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size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GB" sz="12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++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GB" sz="1200" b="0" dirty="0">
              <a:effectLst/>
            </a:endParaRPr>
          </a:p>
          <a:p>
            <a:pPr rtl="0">
              <a:buNone/>
            </a:pP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 </a:t>
            </a:r>
            <a:r>
              <a:rPr lang="en-GB" sz="12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rand</a:t>
            </a:r>
            <a:r>
              <a:rPr lang="en-GB" sz="1200" b="0" i="0" u="none" strike="noStrike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GB" sz="1200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Next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GB" sz="12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- </a:t>
            </a:r>
            <a:r>
              <a:rPr lang="en-GB" sz="12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 </a:t>
            </a:r>
            <a:r>
              <a:rPr lang="en-GB" sz="12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GB" sz="12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- </a:t>
            </a:r>
            <a:r>
              <a:rPr lang="en-GB" sz="12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 </a:t>
            </a:r>
            <a:r>
              <a:rPr lang="en-GB" sz="12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100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);</a:t>
            </a:r>
            <a:endParaRPr lang="en-GB" sz="1200" b="0" dirty="0">
              <a:effectLst/>
            </a:endParaRPr>
          </a:p>
          <a:p>
            <a:pPr rtl="0">
              <a:buNone/>
            </a:pP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2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return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en-GB" sz="1200" b="0" dirty="0">
              <a:effectLst/>
            </a:endParaRPr>
          </a:p>
          <a:p>
            <a:pPr rtl="0">
              <a:buNone/>
            </a:pP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}</a:t>
            </a:r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249627715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D1348-36C3-4D28-1433-D13524A8B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1CD0805-9F1C-2D1E-30EC-CF6404CBF4D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Sử </a:t>
                </a:r>
                <a:r>
                  <a:rPr lang="en-US" dirty="0" err="1"/>
                  <a:t>dụng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 </a:t>
                </a:r>
                <a:r>
                  <a:rPr lang="en-US" dirty="0" err="1"/>
                  <a:t>của</a:t>
                </a:r>
                <a:r>
                  <a:rPr lang="en-US" dirty="0"/>
                  <a:t> Sedgewick 1982, </a:t>
                </a:r>
                <a:r>
                  <a:rPr lang="en-US" dirty="0" err="1"/>
                  <a:t>lấy</a:t>
                </a:r>
                <a:r>
                  <a:rPr lang="en-US" dirty="0"/>
                  <a:t> </a:t>
                </a: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9</m:t>
                        </m:r>
                      </m:sup>
                    </m:sSup>
                    <m:r>
                      <a:rPr lang="en-GB" b="0" i="1" smtClean="0">
                        <a:latin typeface="Cambria Math" panose="02040503050406030204" pitchFamily="18" charset="0"/>
                      </a:rPr>
                      <m:t>+3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+2</m:t>
                    </m:r>
                  </m:oMath>
                </a14:m>
                <a:r>
                  <a:rPr lang="en-GB" dirty="0"/>
                  <a:t>, </a:t>
                </a:r>
                <a:r>
                  <a:rPr lang="en-GB" dirty="0" err="1"/>
                  <a:t>chạy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1000</m:t>
                    </m:r>
                  </m:oMath>
                </a14:m>
                <a:r>
                  <a:rPr lang="en-GB" dirty="0"/>
                  <a:t> lần.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1CD0805-9F1C-2D1E-30EC-CF6404CBF4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77" t="-12442" b="-2212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1EC0E5BD-1959-E4AD-6EF4-719AA80244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071" y="1690688"/>
            <a:ext cx="10621857" cy="5982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840598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08EBF7-A8D4-DE53-6CE8-B12D75C6B5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6. Các </a:t>
            </a:r>
            <a:r>
              <a:rPr lang="en-US" dirty="0" err="1"/>
              <a:t>dãy</a:t>
            </a:r>
            <a:r>
              <a:rPr lang="en-US" dirty="0"/>
              <a:t> </a:t>
            </a:r>
            <a:r>
              <a:rPr lang="en-US" dirty="0" err="1"/>
              <a:t>khoảng</a:t>
            </a:r>
            <a:r>
              <a:rPr lang="en-US" dirty="0"/>
              <a:t> </a:t>
            </a:r>
            <a:r>
              <a:rPr lang="en-US" dirty="0" err="1"/>
              <a:t>cách</a:t>
            </a:r>
            <a:r>
              <a:rPr lang="en-US" dirty="0"/>
              <a:t> </a:t>
            </a:r>
            <a:r>
              <a:rPr lang="en-US" dirty="0" err="1"/>
              <a:t>cổ</a:t>
            </a:r>
            <a:r>
              <a:rPr lang="en-US" dirty="0"/>
              <a:t> </a:t>
            </a:r>
            <a:r>
              <a:rPr lang="en-US" dirty="0" err="1"/>
              <a:t>điển</a:t>
            </a:r>
            <a:br>
              <a:rPr lang="en-US" dirty="0"/>
            </a:br>
            <a:r>
              <a:rPr lang="en-US" dirty="0"/>
              <a:t>6.1. Shell (1959)</a:t>
            </a:r>
            <a:endParaRPr lang="en-GB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0E720AEF-3F35-F172-C760-E3248E0BFA8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vi-VN" dirty="0"/>
                  <a:t>Độ dài mỗi </a:t>
                </a:r>
                <a:r>
                  <a:rPr lang="en-US" dirty="0" err="1"/>
                  <a:t>khoảng</a:t>
                </a:r>
                <a:r>
                  <a:rPr lang="en-US" dirty="0"/>
                  <a:t> </a:t>
                </a:r>
                <a:r>
                  <a:rPr lang="en-US" dirty="0" err="1"/>
                  <a:t>giảm</a:t>
                </a:r>
                <a:r>
                  <a:rPr lang="en-US" dirty="0"/>
                  <a:t> </a:t>
                </a:r>
                <a:r>
                  <a:rPr lang="en-US" dirty="0" err="1"/>
                  <a:t>một</a:t>
                </a:r>
                <a:r>
                  <a:rPr lang="en-US" dirty="0"/>
                  <a:t> </a:t>
                </a:r>
                <a:r>
                  <a:rPr lang="en-US" dirty="0" err="1"/>
                  <a:t>nửa</a:t>
                </a:r>
                <a:r>
                  <a:rPr lang="en-US" dirty="0"/>
                  <a:t>, </a:t>
                </a:r>
                <a:r>
                  <a:rPr lang="en-US" dirty="0" err="1"/>
                  <a:t>tối</a:t>
                </a:r>
                <a:r>
                  <a:rPr lang="en-US" dirty="0"/>
                  <a:t> </a:t>
                </a:r>
                <a:r>
                  <a:rPr lang="en-US" dirty="0" err="1"/>
                  <a:t>thiểu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dirty="0"/>
                  <a:t> 1, hay </a:t>
                </a:r>
                <a:r>
                  <a:rPr lang="en-US" dirty="0" err="1"/>
                  <a:t>còn</a:t>
                </a:r>
                <a:r>
                  <a:rPr lang="en-US" dirty="0"/>
                  <a:t> </a:t>
                </a:r>
                <a:r>
                  <a:rPr lang="en-US" dirty="0" err="1"/>
                  <a:t>gọi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dirty="0"/>
                  <a:t> gap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p>
                            </m:sSup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≥1)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Trường </a:t>
                </a:r>
                <a:r>
                  <a:rPr lang="en-US" dirty="0" err="1"/>
                  <a:t>hợp</a:t>
                </a:r>
                <a:r>
                  <a:rPr lang="en-US" dirty="0"/>
                  <a:t> </a:t>
                </a:r>
                <a:r>
                  <a:rPr lang="en-US" dirty="0" err="1"/>
                  <a:t>tệ</a:t>
                </a:r>
                <a:r>
                  <a:rPr lang="en-US" dirty="0"/>
                  <a:t> </a:t>
                </a:r>
                <a:r>
                  <a:rPr lang="en-US" dirty="0" err="1"/>
                  <a:t>nhất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. </a:t>
                </a:r>
                <a:r>
                  <a:rPr lang="en-US" dirty="0" err="1"/>
                  <a:t>Mảng</a:t>
                </a:r>
                <a:r>
                  <a:rPr lang="en-US" dirty="0"/>
                  <a:t> </a:t>
                </a:r>
                <a:r>
                  <a:rPr lang="en-US" dirty="0" err="1"/>
                  <a:t>lúc</a:t>
                </a:r>
                <a:r>
                  <a:rPr lang="en-US" dirty="0"/>
                  <a:t> </a:t>
                </a:r>
                <a:r>
                  <a:rPr lang="en-US" dirty="0" err="1"/>
                  <a:t>này</a:t>
                </a:r>
                <a:r>
                  <a:rPr lang="en-US" dirty="0"/>
                  <a:t>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dirty="0"/>
                  <a:t>. </a:t>
                </a:r>
                <a:r>
                  <a:rPr lang="en-US" dirty="0" err="1"/>
                  <a:t>Một</a:t>
                </a:r>
                <a:r>
                  <a:rPr lang="en-US" dirty="0"/>
                  <a:t> </a:t>
                </a:r>
                <a:r>
                  <a:rPr lang="en-US" dirty="0" err="1"/>
                  <a:t>trong</a:t>
                </a:r>
                <a:r>
                  <a:rPr lang="en-US" dirty="0"/>
                  <a:t> </a:t>
                </a:r>
                <a:r>
                  <a:rPr lang="en-US" dirty="0" err="1"/>
                  <a:t>hai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 </a:t>
                </a:r>
                <a:r>
                  <a:rPr lang="en-US" dirty="0" err="1"/>
                  <a:t>lẻ</a:t>
                </a:r>
                <a:r>
                  <a:rPr lang="en-US" dirty="0"/>
                  <a:t> </a:t>
                </a:r>
                <a:r>
                  <a:rPr lang="en-US" dirty="0" err="1"/>
                  <a:t>hoặc</a:t>
                </a:r>
                <a:r>
                  <a:rPr lang="en-US" dirty="0"/>
                  <a:t> </a:t>
                </a:r>
                <a:r>
                  <a:rPr lang="en-US" dirty="0" err="1"/>
                  <a:t>chẵn</a:t>
                </a:r>
                <a:r>
                  <a:rPr lang="en-US" dirty="0"/>
                  <a:t>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các</a:t>
                </a:r>
                <a:r>
                  <a:rPr lang="en-US" dirty="0"/>
                  <a:t> </a:t>
                </a:r>
                <a:r>
                  <a:rPr lang="en-US" dirty="0" err="1"/>
                  <a:t>phần</a:t>
                </a:r>
                <a:r>
                  <a:rPr lang="en-US" dirty="0"/>
                  <a:t> </a:t>
                </a:r>
                <a:r>
                  <a:rPr lang="en-US" dirty="0" err="1"/>
                  <a:t>tử</a:t>
                </a:r>
                <a:r>
                  <a:rPr lang="en-US" dirty="0"/>
                  <a:t> </a:t>
                </a:r>
                <a:r>
                  <a:rPr lang="en-US" dirty="0" err="1"/>
                  <a:t>lớn</a:t>
                </a:r>
                <a:r>
                  <a:rPr lang="en-US" dirty="0"/>
                  <a:t> </a:t>
                </a:r>
                <a:r>
                  <a:rPr lang="en-US" dirty="0" err="1"/>
                  <a:t>hơn</a:t>
                </a:r>
                <a:r>
                  <a:rPr lang="en-US" dirty="0"/>
                  <a:t> </a:t>
                </a:r>
                <a:r>
                  <a:rPr lang="en-US" dirty="0" err="1"/>
                  <a:t>trung</a:t>
                </a:r>
                <a:r>
                  <a:rPr lang="en-US" dirty="0"/>
                  <a:t> </a:t>
                </a:r>
                <a:r>
                  <a:rPr lang="en-US" dirty="0" err="1"/>
                  <a:t>vị</a:t>
                </a:r>
                <a:r>
                  <a:rPr lang="en-US" dirty="0"/>
                  <a:t> </a:t>
                </a:r>
                <a:r>
                  <a:rPr lang="en-US" dirty="0" err="1"/>
                  <a:t>của</a:t>
                </a:r>
                <a:r>
                  <a:rPr lang="en-US" dirty="0"/>
                  <a:t> </a:t>
                </a:r>
                <a:r>
                  <a:rPr lang="en-US" dirty="0" err="1"/>
                  <a:t>mảng</a:t>
                </a:r>
                <a:r>
                  <a:rPr lang="en-US" dirty="0"/>
                  <a:t>. Các </a:t>
                </a:r>
                <a:r>
                  <a:rPr lang="en-US" dirty="0" err="1"/>
                  <a:t>phần</a:t>
                </a:r>
                <a:r>
                  <a:rPr lang="en-US" dirty="0"/>
                  <a:t> </a:t>
                </a:r>
                <a:r>
                  <a:rPr lang="en-US" dirty="0" err="1"/>
                  <a:t>tử</a:t>
                </a:r>
                <a:r>
                  <a:rPr lang="en-US" dirty="0"/>
                  <a:t> </a:t>
                </a:r>
                <a:r>
                  <a:rPr lang="en-US" dirty="0" err="1"/>
                  <a:t>vị</a:t>
                </a:r>
                <a:r>
                  <a:rPr lang="en-US" dirty="0"/>
                  <a:t> </a:t>
                </a:r>
                <a:r>
                  <a:rPr lang="en-US" dirty="0" err="1"/>
                  <a:t>trí</a:t>
                </a:r>
                <a:r>
                  <a:rPr lang="en-US" dirty="0"/>
                  <a:t> </a:t>
                </a:r>
                <a:r>
                  <a:rPr lang="en-US" dirty="0" err="1"/>
                  <a:t>lẻ</a:t>
                </a:r>
                <a:r>
                  <a:rPr lang="en-US" dirty="0"/>
                  <a:t> </a:t>
                </a:r>
                <a:r>
                  <a:rPr lang="en-US" dirty="0" err="1"/>
                  <a:t>không</a:t>
                </a:r>
                <a:r>
                  <a:rPr lang="en-US" dirty="0"/>
                  <a:t> so </a:t>
                </a:r>
                <a:r>
                  <a:rPr lang="en-US" dirty="0" err="1"/>
                  <a:t>sánh</a:t>
                </a:r>
                <a:r>
                  <a:rPr lang="en-US" dirty="0"/>
                  <a:t> </a:t>
                </a:r>
                <a:r>
                  <a:rPr lang="en-US" dirty="0" err="1"/>
                  <a:t>được</a:t>
                </a:r>
                <a:r>
                  <a:rPr lang="en-US" dirty="0"/>
                  <a:t> </a:t>
                </a:r>
                <a:r>
                  <a:rPr lang="en-US" dirty="0" err="1"/>
                  <a:t>với</a:t>
                </a:r>
                <a:r>
                  <a:rPr lang="en-US" dirty="0"/>
                  <a:t> </a:t>
                </a:r>
                <a:r>
                  <a:rPr lang="en-US" dirty="0" err="1"/>
                  <a:t>các</a:t>
                </a:r>
                <a:r>
                  <a:rPr lang="en-US" dirty="0"/>
                  <a:t> </a:t>
                </a:r>
                <a:r>
                  <a:rPr lang="en-US" dirty="0" err="1"/>
                  <a:t>phần</a:t>
                </a:r>
                <a:r>
                  <a:rPr lang="en-US" dirty="0"/>
                  <a:t> </a:t>
                </a:r>
                <a:r>
                  <a:rPr lang="en-US" dirty="0" err="1"/>
                  <a:t>tử</a:t>
                </a:r>
                <a:r>
                  <a:rPr lang="en-US" dirty="0"/>
                  <a:t> </a:t>
                </a:r>
                <a:r>
                  <a:rPr lang="en-US" dirty="0" err="1"/>
                  <a:t>vị</a:t>
                </a:r>
                <a:r>
                  <a:rPr lang="en-US" dirty="0"/>
                  <a:t> </a:t>
                </a:r>
                <a:r>
                  <a:rPr lang="en-US" dirty="0" err="1"/>
                  <a:t>trí</a:t>
                </a:r>
                <a:r>
                  <a:rPr lang="en-US" dirty="0"/>
                  <a:t> </a:t>
                </a:r>
                <a:r>
                  <a:rPr lang="en-US" dirty="0" err="1"/>
                  <a:t>chẵn</a:t>
                </a:r>
                <a:r>
                  <a:rPr lang="en-US" dirty="0"/>
                  <a:t> </a:t>
                </a:r>
                <a:r>
                  <a:rPr lang="en-US" dirty="0" err="1"/>
                  <a:t>cho</a:t>
                </a:r>
                <a:r>
                  <a:rPr lang="en-US" dirty="0"/>
                  <a:t> </a:t>
                </a:r>
                <a:r>
                  <a:rPr lang="en-US" dirty="0" err="1"/>
                  <a:t>đến</a:t>
                </a:r>
                <a:r>
                  <a:rPr lang="en-US" dirty="0"/>
                  <a:t> </a:t>
                </a:r>
                <a:r>
                  <a:rPr lang="en-US" dirty="0" err="1"/>
                  <a:t>khi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, </a:t>
                </a:r>
                <a:r>
                  <a:rPr lang="en-US" dirty="0" err="1"/>
                  <a:t>lúc</a:t>
                </a:r>
                <a:r>
                  <a:rPr lang="en-US" dirty="0"/>
                  <a:t> </a:t>
                </a:r>
                <a:r>
                  <a:rPr lang="en-US" dirty="0" err="1"/>
                  <a:t>này</a:t>
                </a:r>
                <a:r>
                  <a:rPr lang="en-US" dirty="0"/>
                  <a:t> </a:t>
                </a:r>
                <a:r>
                  <a:rPr lang="en-US" dirty="0" err="1"/>
                  <a:t>việc</a:t>
                </a:r>
                <a:r>
                  <a:rPr lang="en-US" dirty="0"/>
                  <a:t> </a:t>
                </a:r>
                <a:r>
                  <a:rPr lang="en-US" dirty="0" err="1"/>
                  <a:t>sử</a:t>
                </a:r>
                <a:r>
                  <a:rPr lang="en-US" dirty="0"/>
                  <a:t> </a:t>
                </a:r>
                <a:r>
                  <a:rPr lang="en-US" dirty="0" err="1"/>
                  <a:t>dụng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 Shell </a:t>
                </a:r>
                <a:r>
                  <a:rPr lang="en-US" dirty="0" err="1"/>
                  <a:t>không</a:t>
                </a:r>
                <a:r>
                  <a:rPr lang="en-US" dirty="0"/>
                  <a:t> </a:t>
                </a:r>
                <a:r>
                  <a:rPr lang="en-US" dirty="0" err="1"/>
                  <a:t>khác</a:t>
                </a:r>
                <a:r>
                  <a:rPr lang="en-US" dirty="0"/>
                  <a:t> </a:t>
                </a:r>
                <a:r>
                  <a:rPr lang="en-US" dirty="0" err="1"/>
                  <a:t>gì</a:t>
                </a:r>
                <a:r>
                  <a:rPr lang="en-US" dirty="0"/>
                  <a:t> Insertion Sort.</a:t>
                </a:r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0E720AEF-3F35-F172-C760-E3248E0BFA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118" t="-3027" r="-188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FEB66684-0A2D-2A82-163C-CDE127786A3A}"/>
              </a:ext>
            </a:extLst>
          </p:cNvPr>
          <p:cNvSpPr txBox="1"/>
          <p:nvPr/>
        </p:nvSpPr>
        <p:spPr>
          <a:xfrm>
            <a:off x="6172202" y="1825625"/>
            <a:ext cx="5257800" cy="2031325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r>
              <a:rPr lang="en-GB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static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 </a:t>
            </a:r>
            <a:r>
              <a:rPr lang="en-GB" b="0" i="0" u="none" strike="noStrike" dirty="0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Shell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GB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Courier New" panose="02070309020205020404" pitchFamily="49" charset="0"/>
              </a:rPr>
              <a:t>size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GB" b="0" dirty="0">
              <a:effectLst/>
            </a:endParaRPr>
          </a:p>
          <a:p>
            <a:pPr rtl="0">
              <a:buNone/>
            </a:pP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{</a:t>
            </a:r>
            <a:endParaRPr lang="en-GB" b="0" dirty="0">
              <a:effectLst/>
            </a:endParaRPr>
          </a:p>
          <a:p>
            <a:pPr rtl="0">
              <a:buNone/>
            </a:pP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 </a:t>
            </a:r>
            <a:r>
              <a:rPr lang="en-GB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new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&gt;();</a:t>
            </a:r>
            <a:endParaRPr lang="en-GB" b="0" dirty="0">
              <a:effectLst/>
            </a:endParaRPr>
          </a:p>
          <a:p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 </a:t>
            </a:r>
            <a:r>
              <a:rPr lang="en-GB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while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en-GB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en-GB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size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/</a:t>
            </a:r>
            <a:r>
              <a:rPr lang="en-GB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2</a:t>
            </a:r>
            <a:r>
              <a:rPr lang="en-GB" dirty="0">
                <a:solidFill>
                  <a:srgbClr val="CCCCCC"/>
                </a:solidFill>
                <a:latin typeface="Courier New" panose="02070309020205020404" pitchFamily="49" charset="0"/>
              </a:rPr>
              <a:t>)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&gt; </a:t>
            </a:r>
            <a:r>
              <a:rPr lang="en-GB" dirty="0">
                <a:solidFill>
                  <a:srgbClr val="B5CEA8"/>
                </a:solidFill>
                <a:latin typeface="Courier New" panose="02070309020205020404" pitchFamily="49" charset="0"/>
              </a:rPr>
              <a:t>0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GB" b="0" dirty="0">
              <a:effectLst/>
            </a:endParaRPr>
          </a:p>
          <a:p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</a:t>
            </a:r>
            <a:r>
              <a:rPr lang="en-GB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b="0" i="0" u="none" strike="noStrike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GB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Add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GB" dirty="0">
                <a:solidFill>
                  <a:srgbClr val="9CDCFE"/>
                </a:solidFill>
                <a:latin typeface="Courier New" panose="02070309020205020404" pitchFamily="49" charset="0"/>
              </a:rPr>
              <a:t>size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);</a:t>
            </a:r>
            <a:endParaRPr lang="en-GB" b="0" dirty="0">
              <a:effectLst/>
            </a:endParaRPr>
          </a:p>
          <a:p>
            <a:pPr rtl="0">
              <a:buNone/>
            </a:pP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return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en-GB" b="0" dirty="0">
              <a:effectLst/>
            </a:endParaRPr>
          </a:p>
          <a:p>
            <a:pPr rtl="0">
              <a:buNone/>
            </a:pP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}</a:t>
            </a:r>
            <a:endParaRPr lang="en-GB" b="0" dirty="0">
              <a:effectLst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26440C-B2F1-EB5C-4C28-C9209313A6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2" y="3856950"/>
            <a:ext cx="5257800" cy="1446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69695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A9E276D-5340-CB8C-C656-B235324B6F7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Trường </a:t>
                </a:r>
                <a:r>
                  <a:rPr lang="en-US" dirty="0" err="1"/>
                  <a:t>hợp</a:t>
                </a:r>
                <a:r>
                  <a:rPr lang="en-US" dirty="0"/>
                  <a:t> </a:t>
                </a:r>
                <a:r>
                  <a:rPr lang="en-US" dirty="0" err="1"/>
                  <a:t>tệ</a:t>
                </a:r>
                <a:r>
                  <a:rPr lang="en-US" dirty="0"/>
                  <a:t> </a:t>
                </a:r>
                <a:r>
                  <a:rPr lang="en-US" dirty="0" err="1"/>
                  <a:t>nhất</a:t>
                </a:r>
                <a:r>
                  <a:rPr lang="en-US" dirty="0"/>
                  <a:t> </a:t>
                </a:r>
                <a:r>
                  <a:rPr lang="en-US" dirty="0" err="1"/>
                  <a:t>với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20</m:t>
                        </m:r>
                      </m:sup>
                    </m:sSup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GB" dirty="0"/>
                  <a:t> </a:t>
                </a:r>
                <a:r>
                  <a:rPr lang="en-GB" dirty="0" err="1"/>
                  <a:t>lần</a:t>
                </a:r>
                <a:r>
                  <a:rPr lang="en-GB" dirty="0"/>
                  <a:t> </a:t>
                </a:r>
                <a:r>
                  <a:rPr lang="en-GB" dirty="0" err="1"/>
                  <a:t>chạy</a:t>
                </a:r>
                <a:r>
                  <a:rPr lang="en-GB" dirty="0"/>
                  <a:t>. </a:t>
                </a:r>
                <a:r>
                  <a:rPr lang="en-GB" dirty="0" err="1"/>
                  <a:t>Độ</a:t>
                </a:r>
                <a:r>
                  <a:rPr lang="en-GB" dirty="0"/>
                  <a:t> </a:t>
                </a:r>
                <a:r>
                  <a:rPr lang="en-GB" dirty="0" err="1"/>
                  <a:t>phức</a:t>
                </a:r>
                <a:r>
                  <a:rPr lang="en-GB" dirty="0"/>
                  <a:t> </a:t>
                </a:r>
                <a:r>
                  <a:rPr lang="en-GB" dirty="0" err="1"/>
                  <a:t>tạp</a:t>
                </a:r>
                <a:r>
                  <a:rPr lang="en-GB" dirty="0"/>
                  <a:t> </a:t>
                </a:r>
                <a:r>
                  <a:rPr lang="en-GB" dirty="0" err="1"/>
                  <a:t>là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A9E276D-5340-CB8C-C656-B235324B6F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77" t="-12442" b="-2212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B4136488-461C-5BFA-090F-AF2B6E9E75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071" y="1690688"/>
            <a:ext cx="10621857" cy="5982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740003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E24F85-83E7-1A4D-0834-E55485839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53CAEF3-9177-7F06-7CCC-4C891C58A04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Thực </a:t>
                </a:r>
                <a:r>
                  <a:rPr lang="en-US" dirty="0" err="1"/>
                  <a:t>nghiệm</a:t>
                </a:r>
                <a:r>
                  <a:rPr lang="en-US" dirty="0"/>
                  <a:t> </a:t>
                </a:r>
                <a:r>
                  <a:rPr lang="en-US" dirty="0" err="1"/>
                  <a:t>với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20</m:t>
                        </m:r>
                      </m:sup>
                    </m:sSup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000</m:t>
                    </m:r>
                  </m:oMath>
                </a14:m>
                <a:r>
                  <a:rPr lang="en-GB" dirty="0"/>
                  <a:t> </a:t>
                </a:r>
                <a:r>
                  <a:rPr lang="en-GB" dirty="0" err="1"/>
                  <a:t>lần</a:t>
                </a:r>
                <a:r>
                  <a:rPr lang="en-GB" dirty="0"/>
                  <a:t> </a:t>
                </a:r>
                <a:r>
                  <a:rPr lang="en-GB" dirty="0" err="1"/>
                  <a:t>chạy</a:t>
                </a:r>
                <a:br>
                  <a:rPr lang="en-GB" dirty="0"/>
                </a:br>
                <a:r>
                  <a:rPr lang="en-US" dirty="0"/>
                  <a:t>Đ</a:t>
                </a:r>
                <a:r>
                  <a:rPr lang="en-GB" dirty="0"/>
                  <a:t>ộ </a:t>
                </a:r>
                <a:r>
                  <a:rPr lang="en-GB" dirty="0" err="1"/>
                  <a:t>phức</a:t>
                </a:r>
                <a:r>
                  <a:rPr lang="en-GB" dirty="0"/>
                  <a:t> </a:t>
                </a:r>
                <a:r>
                  <a:rPr lang="en-GB" dirty="0" err="1"/>
                  <a:t>tạp</a:t>
                </a:r>
                <a:r>
                  <a:rPr lang="en-GB" dirty="0"/>
                  <a:t> </a:t>
                </a:r>
                <a:r>
                  <a:rPr lang="en-GB" dirty="0" err="1"/>
                  <a:t>xấp</a:t>
                </a:r>
                <a:r>
                  <a:rPr lang="en-GB" dirty="0"/>
                  <a:t> </a:t>
                </a:r>
                <a:r>
                  <a:rPr lang="en-GB" dirty="0" err="1"/>
                  <a:t>xỉ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1.6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53CAEF3-9177-7F06-7CCC-4C891C58A0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2442" b="-2212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4D6A3334-AABC-DFA6-7A83-6FB0609951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071" y="1690688"/>
            <a:ext cx="10621857" cy="5982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938875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33083-0292-009E-9A7D-BC916E428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26278E-BE74-9776-D38F-719A7B1ACF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6. Các </a:t>
            </a:r>
            <a:r>
              <a:rPr lang="en-US" dirty="0" err="1"/>
              <a:t>dãy</a:t>
            </a:r>
            <a:r>
              <a:rPr lang="en-US" dirty="0"/>
              <a:t> </a:t>
            </a:r>
            <a:r>
              <a:rPr lang="en-US" dirty="0" err="1"/>
              <a:t>khoảng</a:t>
            </a:r>
            <a:r>
              <a:rPr lang="en-US" dirty="0"/>
              <a:t> </a:t>
            </a:r>
            <a:r>
              <a:rPr lang="en-US" dirty="0" err="1"/>
              <a:t>cách</a:t>
            </a:r>
            <a:r>
              <a:rPr lang="en-US" dirty="0"/>
              <a:t> </a:t>
            </a:r>
            <a:r>
              <a:rPr lang="en-US" dirty="0" err="1"/>
              <a:t>cổ</a:t>
            </a:r>
            <a:r>
              <a:rPr lang="en-US" dirty="0"/>
              <a:t> </a:t>
            </a:r>
            <a:r>
              <a:rPr lang="en-US" dirty="0" err="1"/>
              <a:t>điển</a:t>
            </a:r>
            <a:br>
              <a:rPr lang="en-US" dirty="0"/>
            </a:br>
            <a:r>
              <a:rPr lang="en-US" dirty="0"/>
              <a:t>6.2. Hibbard (1963)</a:t>
            </a:r>
            <a:endParaRPr lang="en-GB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6B08C74E-BF50-0169-0A4B-FABD29FEEC41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34250"/>
                <a:ext cx="5181600" cy="5023749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Dãy </a:t>
                </a:r>
                <a:r>
                  <a:rPr lang="en-US" dirty="0" err="1"/>
                  <a:t>của</a:t>
                </a:r>
                <a:r>
                  <a:rPr lang="en-US" dirty="0"/>
                  <a:t> Hibbard </a:t>
                </a:r>
                <a:r>
                  <a:rPr lang="en-US" dirty="0" err="1"/>
                  <a:t>biểu</a:t>
                </a:r>
                <a:r>
                  <a:rPr lang="en-US" dirty="0"/>
                  <a:t> </a:t>
                </a:r>
                <a:r>
                  <a:rPr lang="en-US" dirty="0" err="1"/>
                  <a:t>diễn</a:t>
                </a:r>
                <a:r>
                  <a:rPr lang="en-US" dirty="0"/>
                  <a:t> </a:t>
                </a:r>
                <a:r>
                  <a:rPr lang="en-US" dirty="0" err="1"/>
                  <a:t>theo</a:t>
                </a:r>
                <a:r>
                  <a:rPr lang="en-US" dirty="0"/>
                  <a:t> chu </a:t>
                </a:r>
                <a:r>
                  <a:rPr lang="en-US" dirty="0" err="1"/>
                  <a:t>kỳ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US" b="0" i="1" baseline="3000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−1 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≥1)</m:t>
                    </m:r>
                  </m:oMath>
                </a14:m>
                <a:endParaRPr lang="en-US" dirty="0"/>
              </a:p>
              <a:p>
                <a:r>
                  <a:rPr lang="en-US" dirty="0" err="1"/>
                  <a:t>Độ</a:t>
                </a:r>
                <a:r>
                  <a:rPr lang="en-US" dirty="0"/>
                  <a:t> </a:t>
                </a:r>
                <a:r>
                  <a:rPr lang="en-US" dirty="0" err="1"/>
                  <a:t>phức</a:t>
                </a:r>
                <a:r>
                  <a:rPr lang="en-US" dirty="0"/>
                  <a:t> </a:t>
                </a:r>
                <a:r>
                  <a:rPr lang="en-US" dirty="0" err="1"/>
                  <a:t>tạp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O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f>
                          <m:fPr>
                            <m:type m:val="li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 err="1"/>
                  <a:t>Điều</a:t>
                </a:r>
                <a:r>
                  <a:rPr lang="en-US" dirty="0"/>
                  <a:t> </a:t>
                </a:r>
                <a:r>
                  <a:rPr lang="en-US" dirty="0" err="1"/>
                  <a:t>kiện</a:t>
                </a:r>
                <a:r>
                  <a:rPr lang="en-US" dirty="0"/>
                  <a:t> </a:t>
                </a:r>
                <a:r>
                  <a:rPr lang="en-US" dirty="0" err="1"/>
                  <a:t>để</a:t>
                </a:r>
                <a:r>
                  <a:rPr lang="en-US" dirty="0"/>
                  <a:t> </a:t>
                </a:r>
                <a:r>
                  <a:rPr lang="en-US" dirty="0" err="1"/>
                  <a:t>đẩy</a:t>
                </a:r>
                <a:r>
                  <a:rPr lang="en-US" dirty="0"/>
                  <a:t> </a:t>
                </a:r>
                <a:r>
                  <a:rPr lang="en-US" dirty="0" err="1"/>
                  <a:t>độ</a:t>
                </a:r>
                <a:r>
                  <a:rPr lang="en-US" dirty="0"/>
                  <a:t> </a:t>
                </a:r>
                <a:r>
                  <a:rPr lang="en-US" dirty="0" err="1"/>
                  <a:t>phức</a:t>
                </a:r>
                <a:r>
                  <a:rPr lang="en-US" dirty="0"/>
                  <a:t> </a:t>
                </a:r>
                <a:r>
                  <a:rPr lang="en-US" dirty="0" err="1"/>
                  <a:t>tạp</a:t>
                </a:r>
                <a:r>
                  <a:rPr lang="en-US" dirty="0"/>
                  <a:t> </a:t>
                </a:r>
                <a:r>
                  <a:rPr lang="en-US" dirty="0" err="1"/>
                  <a:t>của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 </a:t>
                </a:r>
                <a:r>
                  <a:rPr lang="en-US" dirty="0" err="1"/>
                  <a:t>này</a:t>
                </a:r>
                <a:r>
                  <a:rPr lang="en-US" dirty="0"/>
                  <a:t> </a:t>
                </a:r>
                <a:r>
                  <a:rPr lang="en-US" dirty="0" err="1"/>
                  <a:t>lên</a:t>
                </a:r>
                <a:r>
                  <a:rPr lang="en-US" dirty="0"/>
                  <a:t> </a:t>
                </a:r>
                <a:r>
                  <a:rPr lang="en-US" dirty="0" err="1"/>
                  <a:t>mức</a:t>
                </a:r>
                <a:r>
                  <a:rPr lang="en-US" dirty="0"/>
                  <a:t> </a:t>
                </a:r>
                <a:r>
                  <a:rPr lang="en-US" dirty="0" err="1"/>
                  <a:t>trên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dirty="0"/>
                  <a:t> </a:t>
                </a:r>
                <a:r>
                  <a:rPr lang="en-US" dirty="0" err="1"/>
                  <a:t>rất</a:t>
                </a:r>
                <a:r>
                  <a:rPr lang="en-US" dirty="0"/>
                  <a:t> </a:t>
                </a:r>
                <a:r>
                  <a:rPr lang="en-US" dirty="0" err="1"/>
                  <a:t>khó</a:t>
                </a:r>
                <a:r>
                  <a:rPr lang="en-US" dirty="0"/>
                  <a:t> </a:t>
                </a:r>
                <a:r>
                  <a:rPr lang="en-US" dirty="0" err="1"/>
                  <a:t>và</a:t>
                </a:r>
                <a:r>
                  <a:rPr lang="en-US" dirty="0"/>
                  <a:t> </a:t>
                </a:r>
                <a:r>
                  <a:rPr lang="en-US" dirty="0" err="1"/>
                  <a:t>không</a:t>
                </a:r>
                <a:r>
                  <a:rPr lang="en-US" dirty="0"/>
                  <a:t> </a:t>
                </a:r>
                <a:r>
                  <a:rPr lang="en-US" dirty="0" err="1"/>
                  <a:t>chỉ</a:t>
                </a:r>
                <a:r>
                  <a:rPr lang="en-US" dirty="0"/>
                  <a:t> </a:t>
                </a:r>
                <a:r>
                  <a:rPr lang="en-US" dirty="0" err="1"/>
                  <a:t>dừng</a:t>
                </a:r>
                <a:r>
                  <a:rPr lang="en-US" dirty="0"/>
                  <a:t> </a:t>
                </a:r>
                <a:r>
                  <a:rPr lang="en-US" dirty="0" err="1"/>
                  <a:t>lại</a:t>
                </a:r>
                <a:r>
                  <a:rPr lang="en-US" dirty="0"/>
                  <a:t> ở </a:t>
                </a:r>
                <a:r>
                  <a:rPr lang="en-US" dirty="0" err="1"/>
                  <a:t>hoán</a:t>
                </a:r>
                <a:r>
                  <a:rPr lang="en-US" dirty="0"/>
                  <a:t> </a:t>
                </a:r>
                <a:r>
                  <a:rPr lang="en-US" dirty="0" err="1"/>
                  <a:t>vị</a:t>
                </a:r>
                <a:r>
                  <a:rPr lang="en-US" dirty="0"/>
                  <a:t> </a:t>
                </a:r>
                <a:r>
                  <a:rPr lang="en-US" dirty="0" err="1"/>
                  <a:t>mà</a:t>
                </a:r>
                <a:r>
                  <a:rPr lang="en-US" dirty="0"/>
                  <a:t> </a:t>
                </a:r>
                <a:r>
                  <a:rPr lang="en-US" dirty="0" err="1"/>
                  <a:t>còn</a:t>
                </a:r>
                <a:r>
                  <a:rPr lang="en-US" dirty="0"/>
                  <a:t> </a:t>
                </a:r>
                <a:r>
                  <a:rPr lang="en-US" dirty="0" err="1"/>
                  <a:t>phải</a:t>
                </a:r>
                <a:r>
                  <a:rPr lang="en-US" dirty="0"/>
                  <a:t> </a:t>
                </a:r>
                <a:r>
                  <a:rPr lang="en-US" dirty="0" err="1"/>
                  <a:t>kết</a:t>
                </a:r>
                <a:r>
                  <a:rPr lang="en-US" dirty="0"/>
                  <a:t> </a:t>
                </a:r>
                <a:r>
                  <a:rPr lang="en-US" dirty="0" err="1"/>
                  <a:t>hợp</a:t>
                </a:r>
                <a:r>
                  <a:rPr lang="en-US" dirty="0"/>
                  <a:t> </a:t>
                </a:r>
                <a:r>
                  <a:rPr lang="en-US" dirty="0" err="1"/>
                  <a:t>với</a:t>
                </a:r>
                <a:r>
                  <a:rPr lang="en-US" dirty="0"/>
                  <a:t> </a:t>
                </a:r>
                <a:r>
                  <a:rPr lang="en-US" dirty="0" err="1"/>
                  <a:t>nhiều</a:t>
                </a:r>
                <a:r>
                  <a:rPr lang="en-US" dirty="0"/>
                  <a:t> </a:t>
                </a:r>
                <a:r>
                  <a:rPr lang="en-US" dirty="0" err="1"/>
                  <a:t>kiến</a:t>
                </a:r>
                <a:r>
                  <a:rPr lang="en-US" dirty="0"/>
                  <a:t> </a:t>
                </a:r>
                <a:r>
                  <a:rPr lang="en-US" dirty="0" err="1"/>
                  <a:t>thức</a:t>
                </a:r>
                <a:r>
                  <a:rPr lang="en-US" dirty="0"/>
                  <a:t> </a:t>
                </a:r>
                <a:r>
                  <a:rPr lang="en-US" dirty="0" err="1"/>
                  <a:t>số</a:t>
                </a:r>
                <a:r>
                  <a:rPr lang="en-US" dirty="0"/>
                  <a:t> </a:t>
                </a:r>
                <a:r>
                  <a:rPr lang="en-US" dirty="0" err="1"/>
                  <a:t>học</a:t>
                </a:r>
                <a:r>
                  <a:rPr lang="en-US" dirty="0"/>
                  <a:t> </a:t>
                </a:r>
                <a:r>
                  <a:rPr lang="en-US" dirty="0" err="1"/>
                  <a:t>phức</a:t>
                </a:r>
                <a:r>
                  <a:rPr lang="en-US" dirty="0"/>
                  <a:t> </a:t>
                </a:r>
                <a:r>
                  <a:rPr lang="en-US" dirty="0" err="1"/>
                  <a:t>tạp</a:t>
                </a:r>
                <a:r>
                  <a:rPr lang="en-US" dirty="0"/>
                  <a:t>.</a:t>
                </a:r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6B08C74E-BF50-0169-0A4B-FABD29FEEC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34250"/>
                <a:ext cx="5181600" cy="5023749"/>
              </a:xfrm>
              <a:blipFill>
                <a:blip r:embed="rId3"/>
                <a:stretch>
                  <a:fillRect l="-2118" t="-2184" r="-47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80A8BA28-CD3C-D548-88C8-DC1FCC85DF05}"/>
              </a:ext>
            </a:extLst>
          </p:cNvPr>
          <p:cNvSpPr txBox="1"/>
          <p:nvPr/>
        </p:nvSpPr>
        <p:spPr>
          <a:xfrm>
            <a:off x="6172202" y="1829808"/>
            <a:ext cx="5119775" cy="1754326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static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 </a:t>
            </a:r>
            <a:r>
              <a:rPr lang="en-GB" sz="1200" b="0" i="0" u="none" strike="noStrike" dirty="0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Hibbard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size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GB" sz="1200" b="0" dirty="0">
              <a:effectLst/>
            </a:endParaRPr>
          </a:p>
          <a:p>
            <a:pPr rtl="0">
              <a:buNone/>
            </a:pP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{</a:t>
            </a:r>
            <a:endParaRPr lang="en-GB" sz="1200" b="0" dirty="0">
              <a:effectLst/>
            </a:endParaRPr>
          </a:p>
          <a:p>
            <a:pPr rtl="0">
              <a:buNone/>
            </a:pP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2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 </a:t>
            </a:r>
            <a:r>
              <a:rPr lang="en-GB" sz="12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new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&gt;();</a:t>
            </a:r>
          </a:p>
          <a:p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200" dirty="0" err="1">
                <a:solidFill>
                  <a:srgbClr val="9CDCFE"/>
                </a:solidFill>
                <a:latin typeface="Courier New" panose="02070309020205020404" pitchFamily="49" charset="0"/>
              </a:rPr>
              <a:t>gaps</a:t>
            </a:r>
            <a:r>
              <a:rPr lang="en-GB" sz="1200" dirty="0" err="1">
                <a:solidFill>
                  <a:srgbClr val="D4D4D4"/>
                </a:solidFill>
                <a:latin typeface="Courier New" panose="02070309020205020404" pitchFamily="49" charset="0"/>
              </a:rPr>
              <a:t>.</a:t>
            </a:r>
            <a:r>
              <a:rPr lang="en-GB" sz="1200" dirty="0" err="1">
                <a:solidFill>
                  <a:srgbClr val="DCDCAA"/>
                </a:solidFill>
                <a:latin typeface="Courier New" panose="02070309020205020404" pitchFamily="49" charset="0"/>
              </a:rPr>
              <a:t>Add</a:t>
            </a:r>
            <a:r>
              <a:rPr lang="en-GB" sz="1200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en-GB" sz="1200" dirty="0">
                <a:solidFill>
                  <a:srgbClr val="B5CEA8"/>
                </a:solidFill>
                <a:latin typeface="Courier New" panose="02070309020205020404" pitchFamily="49" charset="0"/>
              </a:rPr>
              <a:t>1</a:t>
            </a:r>
            <a:r>
              <a:rPr lang="en-GB" sz="1200" dirty="0">
                <a:solidFill>
                  <a:srgbClr val="CCCCCC"/>
                </a:solidFill>
                <a:latin typeface="Courier New" panose="02070309020205020404" pitchFamily="49" charset="0"/>
              </a:rPr>
              <a:t>);</a:t>
            </a:r>
          </a:p>
          <a:p>
            <a:r>
              <a:rPr lang="en-GB" sz="1200" dirty="0">
                <a:solidFill>
                  <a:srgbClr val="C586C0"/>
                </a:solidFill>
                <a:latin typeface="Courier New" panose="02070309020205020404" pitchFamily="49" charset="0"/>
              </a:rPr>
              <a:t>    while </a:t>
            </a:r>
            <a:r>
              <a:rPr lang="en-GB" sz="1200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en-GB" sz="1200" dirty="0">
                <a:solidFill>
                  <a:srgbClr val="9CDCFE"/>
                </a:solidFill>
                <a:latin typeface="Courier New" panose="02070309020205020404" pitchFamily="49" charset="0"/>
              </a:rPr>
              <a:t>gaps</a:t>
            </a:r>
            <a:r>
              <a:rPr lang="en-GB" sz="1200" dirty="0">
                <a:solidFill>
                  <a:srgbClr val="CCCCCC"/>
                </a:solidFill>
                <a:latin typeface="Courier New" panose="02070309020205020404" pitchFamily="49" charset="0"/>
              </a:rPr>
              <a:t>[</a:t>
            </a:r>
            <a:r>
              <a:rPr lang="en-GB" sz="1200" dirty="0" err="1">
                <a:solidFill>
                  <a:srgbClr val="9CDCFE"/>
                </a:solidFill>
                <a:latin typeface="Courier New" panose="02070309020205020404" pitchFamily="49" charset="0"/>
              </a:rPr>
              <a:t>gaps</a:t>
            </a:r>
            <a:r>
              <a:rPr lang="en-GB" sz="1200" dirty="0" err="1">
                <a:solidFill>
                  <a:srgbClr val="CCCCCC"/>
                </a:solidFill>
                <a:latin typeface="Courier New" panose="02070309020205020404" pitchFamily="49" charset="0"/>
              </a:rPr>
              <a:t>.</a:t>
            </a:r>
            <a:r>
              <a:rPr lang="en-GB" sz="1200" dirty="0" err="1">
                <a:solidFill>
                  <a:srgbClr val="9CDCFE"/>
                </a:solidFill>
                <a:latin typeface="Courier New" panose="02070309020205020404" pitchFamily="49" charset="0"/>
              </a:rPr>
              <a:t>Count</a:t>
            </a:r>
            <a:r>
              <a:rPr lang="en-GB" sz="1200" dirty="0">
                <a:solidFill>
                  <a:srgbClr val="D4D4D4"/>
                </a:solidFill>
                <a:latin typeface="Courier New" panose="02070309020205020404" pitchFamily="49" charset="0"/>
              </a:rPr>
              <a:t> -</a:t>
            </a:r>
            <a:r>
              <a:rPr lang="en-GB" sz="1200" dirty="0">
                <a:solidFill>
                  <a:srgbClr val="CCCCCC"/>
                </a:solidFill>
                <a:latin typeface="Courier New" panose="02070309020205020404" pitchFamily="49" charset="0"/>
              </a:rPr>
              <a:t> </a:t>
            </a:r>
            <a:r>
              <a:rPr lang="en-GB" sz="1200" dirty="0">
                <a:solidFill>
                  <a:srgbClr val="B5CEA8"/>
                </a:solidFill>
                <a:latin typeface="Courier New" panose="02070309020205020404" pitchFamily="49" charset="0"/>
              </a:rPr>
              <a:t>1</a:t>
            </a:r>
            <a:r>
              <a:rPr lang="en-GB" sz="1200" dirty="0">
                <a:solidFill>
                  <a:srgbClr val="CCCCCC"/>
                </a:solidFill>
                <a:latin typeface="Courier New" panose="02070309020205020404" pitchFamily="49" charset="0"/>
              </a:rPr>
              <a:t>]</a:t>
            </a:r>
            <a:r>
              <a:rPr lang="en-GB" sz="1200" dirty="0">
                <a:solidFill>
                  <a:srgbClr val="D4D4D4"/>
                </a:solidFill>
                <a:latin typeface="Courier New" panose="02070309020205020404" pitchFamily="49" charset="0"/>
              </a:rPr>
              <a:t> *</a:t>
            </a:r>
            <a:r>
              <a:rPr lang="en-GB" sz="1200" dirty="0">
                <a:solidFill>
                  <a:srgbClr val="B5CEA8"/>
                </a:solidFill>
                <a:latin typeface="Courier New" panose="02070309020205020404" pitchFamily="49" charset="0"/>
              </a:rPr>
              <a:t> 2 </a:t>
            </a:r>
            <a:r>
              <a:rPr lang="en-GB" sz="1200" dirty="0">
                <a:solidFill>
                  <a:srgbClr val="D4D4D4"/>
                </a:solidFill>
                <a:latin typeface="Courier New" panose="02070309020205020404" pitchFamily="49" charset="0"/>
              </a:rPr>
              <a:t>+ </a:t>
            </a:r>
            <a:r>
              <a:rPr lang="en-GB" sz="1200" dirty="0">
                <a:solidFill>
                  <a:srgbClr val="B5CEA8"/>
                </a:solidFill>
                <a:latin typeface="Courier New" panose="02070309020205020404" pitchFamily="49" charset="0"/>
              </a:rPr>
              <a:t>1</a:t>
            </a:r>
            <a:r>
              <a:rPr lang="en-GB" sz="1200" dirty="0">
                <a:solidFill>
                  <a:srgbClr val="CCCCCC"/>
                </a:solidFill>
                <a:latin typeface="Courier New" panose="02070309020205020404" pitchFamily="49" charset="0"/>
              </a:rPr>
              <a:t> </a:t>
            </a:r>
            <a:r>
              <a:rPr lang="en-GB" sz="1200" dirty="0">
                <a:solidFill>
                  <a:srgbClr val="D4D4D4"/>
                </a:solidFill>
                <a:latin typeface="Courier New" panose="02070309020205020404" pitchFamily="49" charset="0"/>
              </a:rPr>
              <a:t>&lt;</a:t>
            </a:r>
            <a:r>
              <a:rPr lang="en-GB" sz="1200" dirty="0">
                <a:solidFill>
                  <a:srgbClr val="CCCCCC"/>
                </a:solidFill>
                <a:latin typeface="Courier New" panose="02070309020205020404" pitchFamily="49" charset="0"/>
              </a:rPr>
              <a:t> </a:t>
            </a:r>
            <a:r>
              <a:rPr lang="en-GB" sz="1200" dirty="0">
                <a:solidFill>
                  <a:srgbClr val="9CDCFE"/>
                </a:solidFill>
                <a:latin typeface="Courier New" panose="02070309020205020404" pitchFamily="49" charset="0"/>
              </a:rPr>
              <a:t>size</a:t>
            </a:r>
            <a:r>
              <a:rPr lang="en-GB" sz="1200" dirty="0">
                <a:solidFill>
                  <a:srgbClr val="CCCCCC"/>
                </a:solidFill>
                <a:latin typeface="Courier New" panose="02070309020205020404" pitchFamily="49" charset="0"/>
              </a:rPr>
              <a:t>)</a:t>
            </a:r>
            <a:endParaRPr lang="en-GB" sz="1200" b="0" dirty="0">
              <a:effectLst/>
            </a:endParaRPr>
          </a:p>
          <a:p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    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200" b="0" i="0" u="none" strike="noStrike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GB" sz="1200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Add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GB" sz="1200" dirty="0">
                <a:solidFill>
                  <a:srgbClr val="9CDCFE"/>
                </a:solidFill>
                <a:latin typeface="Courier New" panose="02070309020205020404" pitchFamily="49" charset="0"/>
              </a:rPr>
              <a:t>gaps</a:t>
            </a:r>
            <a:r>
              <a:rPr lang="en-GB" sz="1200" dirty="0">
                <a:solidFill>
                  <a:srgbClr val="CCCCCC"/>
                </a:solidFill>
                <a:latin typeface="Courier New" panose="02070309020205020404" pitchFamily="49" charset="0"/>
              </a:rPr>
              <a:t>[</a:t>
            </a:r>
            <a:r>
              <a:rPr lang="en-GB" sz="1200" dirty="0" err="1">
                <a:solidFill>
                  <a:srgbClr val="9CDCFE"/>
                </a:solidFill>
                <a:latin typeface="Courier New" panose="02070309020205020404" pitchFamily="49" charset="0"/>
              </a:rPr>
              <a:t>gaps</a:t>
            </a:r>
            <a:r>
              <a:rPr lang="en-GB" sz="1200" dirty="0" err="1">
                <a:solidFill>
                  <a:srgbClr val="CCCCCC"/>
                </a:solidFill>
                <a:latin typeface="Courier New" panose="02070309020205020404" pitchFamily="49" charset="0"/>
              </a:rPr>
              <a:t>.</a:t>
            </a:r>
            <a:r>
              <a:rPr lang="en-GB" sz="1200" dirty="0" err="1">
                <a:solidFill>
                  <a:srgbClr val="9CDCFE"/>
                </a:solidFill>
                <a:latin typeface="Courier New" panose="02070309020205020404" pitchFamily="49" charset="0"/>
              </a:rPr>
              <a:t>Count</a:t>
            </a:r>
            <a:r>
              <a:rPr lang="en-GB" sz="1200" dirty="0">
                <a:solidFill>
                  <a:srgbClr val="D4D4D4"/>
                </a:solidFill>
                <a:latin typeface="Courier New" panose="02070309020205020404" pitchFamily="49" charset="0"/>
              </a:rPr>
              <a:t> -</a:t>
            </a:r>
            <a:r>
              <a:rPr lang="en-GB" sz="1200" dirty="0">
                <a:solidFill>
                  <a:srgbClr val="CCCCCC"/>
                </a:solidFill>
                <a:latin typeface="Courier New" panose="02070309020205020404" pitchFamily="49" charset="0"/>
              </a:rPr>
              <a:t> </a:t>
            </a:r>
            <a:r>
              <a:rPr lang="en-GB" sz="1200" dirty="0">
                <a:solidFill>
                  <a:srgbClr val="B5CEA8"/>
                </a:solidFill>
                <a:latin typeface="Courier New" panose="02070309020205020404" pitchFamily="49" charset="0"/>
              </a:rPr>
              <a:t>1</a:t>
            </a:r>
            <a:r>
              <a:rPr lang="en-GB" sz="1200" dirty="0">
                <a:solidFill>
                  <a:srgbClr val="CCCCCC"/>
                </a:solidFill>
                <a:latin typeface="Courier New" panose="02070309020205020404" pitchFamily="49" charset="0"/>
              </a:rPr>
              <a:t>]</a:t>
            </a:r>
            <a:r>
              <a:rPr lang="en-GB" sz="1200" dirty="0">
                <a:solidFill>
                  <a:srgbClr val="D4D4D4"/>
                </a:solidFill>
                <a:latin typeface="Courier New" panose="02070309020205020404" pitchFamily="49" charset="0"/>
              </a:rPr>
              <a:t> *</a:t>
            </a:r>
            <a:r>
              <a:rPr lang="en-GB" sz="1200" dirty="0">
                <a:solidFill>
                  <a:srgbClr val="B5CEA8"/>
                </a:solidFill>
                <a:latin typeface="Courier New" panose="02070309020205020404" pitchFamily="49" charset="0"/>
              </a:rPr>
              <a:t> 2 </a:t>
            </a:r>
            <a:r>
              <a:rPr lang="en-GB" sz="1200" dirty="0">
                <a:solidFill>
                  <a:srgbClr val="D4D4D4"/>
                </a:solidFill>
                <a:latin typeface="Courier New" panose="02070309020205020404" pitchFamily="49" charset="0"/>
              </a:rPr>
              <a:t>+ </a:t>
            </a:r>
            <a:r>
              <a:rPr lang="en-GB" sz="1200" dirty="0">
                <a:solidFill>
                  <a:srgbClr val="B5CEA8"/>
                </a:solidFill>
                <a:latin typeface="Courier New" panose="02070309020205020404" pitchFamily="49" charset="0"/>
              </a:rPr>
              <a:t>1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);</a:t>
            </a:r>
            <a:endParaRPr lang="en-GB" sz="1200" b="0" dirty="0">
              <a:effectLst/>
            </a:endParaRPr>
          </a:p>
          <a:p>
            <a:pPr rtl="0">
              <a:buNone/>
            </a:pP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200" b="0" i="0" u="none" strike="noStrike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GB" sz="1200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Reverse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();</a:t>
            </a:r>
            <a:endParaRPr lang="en-GB" sz="1200" b="0" dirty="0">
              <a:effectLst/>
            </a:endParaRPr>
          </a:p>
          <a:p>
            <a:pPr rtl="0">
              <a:buNone/>
            </a:pP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2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return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en-GB" sz="1200" b="0" dirty="0">
              <a:effectLst/>
            </a:endParaRPr>
          </a:p>
          <a:p>
            <a:pPr rtl="0">
              <a:buNone/>
            </a:pP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}</a:t>
            </a:r>
            <a:endParaRPr lang="en-GB" sz="1200" b="0" dirty="0">
              <a:effectLst/>
            </a:endParaRP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7E9CDA46-C227-1AD6-D21C-0E1F083A9E93}"/>
              </a:ext>
            </a:extLst>
          </p:cNvPr>
          <p:cNvSpPr txBox="1">
            <a:spLocks/>
          </p:cNvSpPr>
          <p:nvPr/>
        </p:nvSpPr>
        <p:spPr>
          <a:xfrm>
            <a:off x="6172202" y="3429000"/>
            <a:ext cx="5181600" cy="3429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3B1F79B-23A6-539F-8918-E6122ED65C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7618" y="3584134"/>
            <a:ext cx="5124359" cy="1133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10494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BC8DD5-5FE7-9FD8-8EF9-16E16FB1B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634836F0-1D60-CE96-F5DE-81EBC228CC9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Thực </a:t>
                </a:r>
                <a:r>
                  <a:rPr lang="en-US" dirty="0" err="1"/>
                  <a:t>nghiệm</a:t>
                </a:r>
                <a:r>
                  <a:rPr lang="en-US" dirty="0"/>
                  <a:t> </a:t>
                </a:r>
                <a:r>
                  <a:rPr lang="en-US" dirty="0" err="1"/>
                  <a:t>với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p>
                    </m:sSup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1000</m:t>
                    </m:r>
                  </m:oMath>
                </a14:m>
                <a:r>
                  <a:rPr lang="en-GB" dirty="0"/>
                  <a:t> </a:t>
                </a:r>
                <a:r>
                  <a:rPr lang="en-GB" dirty="0" err="1"/>
                  <a:t>lần</a:t>
                </a:r>
                <a:r>
                  <a:rPr lang="en-GB" dirty="0"/>
                  <a:t> </a:t>
                </a:r>
                <a:r>
                  <a:rPr lang="en-GB" dirty="0" err="1"/>
                  <a:t>chạy</a:t>
                </a:r>
                <a:br>
                  <a:rPr lang="en-GB" dirty="0"/>
                </a:br>
                <a:r>
                  <a:rPr lang="en-GB" dirty="0" err="1"/>
                  <a:t>Độ</a:t>
                </a:r>
                <a:r>
                  <a:rPr lang="en-GB" dirty="0"/>
                  <a:t> </a:t>
                </a:r>
                <a:r>
                  <a:rPr lang="en-GB" dirty="0" err="1"/>
                  <a:t>phức</a:t>
                </a:r>
                <a:r>
                  <a:rPr lang="en-GB" dirty="0"/>
                  <a:t> </a:t>
                </a:r>
                <a:r>
                  <a:rPr lang="en-GB" dirty="0" err="1"/>
                  <a:t>tạp</a:t>
                </a:r>
                <a:r>
                  <a:rPr lang="en-GB" dirty="0"/>
                  <a:t> </a:t>
                </a:r>
                <a:r>
                  <a:rPr lang="en-GB" dirty="0" err="1"/>
                  <a:t>trung</a:t>
                </a:r>
                <a:r>
                  <a:rPr lang="en-GB" dirty="0"/>
                  <a:t> </a:t>
                </a:r>
                <a:r>
                  <a:rPr lang="en-GB" dirty="0" err="1"/>
                  <a:t>bình</a:t>
                </a:r>
                <a:r>
                  <a:rPr lang="en-GB" dirty="0"/>
                  <a:t> </a:t>
                </a:r>
                <a:r>
                  <a:rPr lang="en-GB" dirty="0" err="1"/>
                  <a:t>xấp</a:t>
                </a:r>
                <a:r>
                  <a:rPr lang="en-GB" dirty="0"/>
                  <a:t> </a:t>
                </a:r>
                <a:r>
                  <a:rPr lang="en-GB" dirty="0" err="1"/>
                  <a:t>xỉ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1.33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634836F0-1D60-CE96-F5DE-81EBC228CC9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2442" b="-2212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6760B009-AB69-3361-E0E9-3F7B277190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071" y="1690688"/>
            <a:ext cx="10621857" cy="5982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87962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9B9A6-9638-82FF-FB03-4F29C24B5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213C7-C247-7345-DE3E-414BFADFE2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6. Các </a:t>
            </a:r>
            <a:r>
              <a:rPr lang="en-US" dirty="0" err="1"/>
              <a:t>dãy</a:t>
            </a:r>
            <a:r>
              <a:rPr lang="en-US" dirty="0"/>
              <a:t> </a:t>
            </a:r>
            <a:r>
              <a:rPr lang="en-US" dirty="0" err="1"/>
              <a:t>khoảng</a:t>
            </a:r>
            <a:r>
              <a:rPr lang="en-US" dirty="0"/>
              <a:t> </a:t>
            </a:r>
            <a:r>
              <a:rPr lang="en-US" dirty="0" err="1"/>
              <a:t>cách</a:t>
            </a:r>
            <a:r>
              <a:rPr lang="en-US" dirty="0"/>
              <a:t> </a:t>
            </a:r>
            <a:r>
              <a:rPr lang="en-US" dirty="0" err="1"/>
              <a:t>cổ</a:t>
            </a:r>
            <a:r>
              <a:rPr lang="en-US" dirty="0"/>
              <a:t> </a:t>
            </a:r>
            <a:r>
              <a:rPr lang="en-US" dirty="0" err="1"/>
              <a:t>điển</a:t>
            </a:r>
            <a:br>
              <a:rPr lang="en-US" dirty="0"/>
            </a:br>
            <a:r>
              <a:rPr lang="en-US" dirty="0"/>
              <a:t>6.3. Pratt (1971)</a:t>
            </a:r>
            <a:endParaRPr lang="en-GB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DCFE6702-04FE-E03D-FC10-89EB16789A41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34250"/>
                <a:ext cx="5181600" cy="5023749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Dãy </a:t>
                </a:r>
                <a:r>
                  <a:rPr lang="en-US" dirty="0" err="1"/>
                  <a:t>của</a:t>
                </a:r>
                <a:r>
                  <a:rPr lang="en-US" dirty="0"/>
                  <a:t> Pratt </a:t>
                </a:r>
                <a:r>
                  <a:rPr lang="en-US" dirty="0" err="1"/>
                  <a:t>biểu</a:t>
                </a:r>
                <a:r>
                  <a:rPr lang="en-US" dirty="0"/>
                  <a:t> </a:t>
                </a:r>
                <a:r>
                  <a:rPr lang="en-US" dirty="0" err="1"/>
                  <a:t>diễn</a:t>
                </a:r>
                <a:r>
                  <a:rPr lang="en-US" dirty="0"/>
                  <a:t> </a:t>
                </a:r>
                <a:r>
                  <a:rPr lang="en-US" dirty="0" err="1"/>
                  <a:t>theo</a:t>
                </a:r>
                <a:r>
                  <a:rPr lang="en-US" dirty="0"/>
                  <a:t> chu </a:t>
                </a:r>
                <a:r>
                  <a:rPr lang="en-US" dirty="0" err="1"/>
                  <a:t>kỳ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</m:sSup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≥0)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 err="1"/>
                  <a:t>Độ</a:t>
                </a:r>
                <a:r>
                  <a:rPr lang="en-US" dirty="0"/>
                  <a:t> </a:t>
                </a:r>
                <a:r>
                  <a:rPr lang="en-US" dirty="0" err="1"/>
                  <a:t>phức</a:t>
                </a:r>
                <a:r>
                  <a:rPr lang="en-US" dirty="0"/>
                  <a:t> </a:t>
                </a:r>
                <a:r>
                  <a:rPr lang="en-US" dirty="0" err="1"/>
                  <a:t>tạp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O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𝑁𝑙𝑜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 err="1"/>
                  <a:t>Dãy</a:t>
                </a:r>
                <a:r>
                  <a:rPr lang="en-US" dirty="0"/>
                  <a:t> </a:t>
                </a:r>
                <a:r>
                  <a:rPr lang="en-US" dirty="0" err="1"/>
                  <a:t>của</a:t>
                </a:r>
                <a:r>
                  <a:rPr lang="en-US" dirty="0"/>
                  <a:t> Pratt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quá</a:t>
                </a:r>
                <a:r>
                  <a:rPr lang="en-US" dirty="0"/>
                  <a:t> </a:t>
                </a:r>
                <a:r>
                  <a:rPr lang="en-US" dirty="0" err="1"/>
                  <a:t>nhiều</a:t>
                </a:r>
                <a:r>
                  <a:rPr lang="en-US" dirty="0"/>
                  <a:t> </a:t>
                </a:r>
                <a:r>
                  <a:rPr lang="en-US" dirty="0" err="1"/>
                  <a:t>khoảng</a:t>
                </a:r>
                <a:r>
                  <a:rPr lang="en-US" dirty="0"/>
                  <a:t> </a:t>
                </a:r>
                <a:r>
                  <a:rPr lang="en-US" dirty="0" err="1"/>
                  <a:t>cách</a:t>
                </a:r>
                <a:r>
                  <a:rPr lang="en-US" dirty="0"/>
                  <a:t> </a:t>
                </a:r>
                <a:r>
                  <a:rPr lang="en-US" dirty="0" err="1"/>
                  <a:t>khác</a:t>
                </a:r>
                <a:r>
                  <a:rPr lang="en-US" dirty="0"/>
                  <a:t> </a:t>
                </a:r>
                <a:r>
                  <a:rPr lang="en-US" dirty="0" err="1"/>
                  <a:t>nhau</a:t>
                </a:r>
                <a:r>
                  <a:rPr lang="en-US" dirty="0"/>
                  <a:t>, </a:t>
                </a:r>
                <a:r>
                  <a:rPr lang="en-US" dirty="0" err="1"/>
                  <a:t>khiến</a:t>
                </a:r>
                <a:r>
                  <a:rPr lang="en-US" dirty="0"/>
                  <a:t> </a:t>
                </a:r>
                <a:r>
                  <a:rPr lang="en-US" dirty="0" err="1"/>
                  <a:t>cho</a:t>
                </a:r>
                <a:r>
                  <a:rPr lang="en-US" dirty="0"/>
                  <a:t> </a:t>
                </a:r>
                <a:r>
                  <a:rPr lang="en-US" dirty="0" err="1"/>
                  <a:t>độ</a:t>
                </a:r>
                <a:r>
                  <a:rPr lang="en-US" dirty="0"/>
                  <a:t> </a:t>
                </a:r>
                <a:r>
                  <a:rPr lang="en-US" dirty="0" err="1"/>
                  <a:t>phức</a:t>
                </a:r>
                <a:r>
                  <a:rPr lang="en-US" dirty="0"/>
                  <a:t> </a:t>
                </a:r>
                <a:r>
                  <a:rPr lang="en-US" dirty="0" err="1"/>
                  <a:t>tạp</a:t>
                </a:r>
                <a:r>
                  <a:rPr lang="en-US" dirty="0"/>
                  <a:t> </a:t>
                </a:r>
                <a:r>
                  <a:rPr lang="en-US" dirty="0" err="1"/>
                  <a:t>quanh</a:t>
                </a:r>
                <a:r>
                  <a:rPr lang="en-US" dirty="0"/>
                  <a:t> </a:t>
                </a:r>
                <a:r>
                  <a:rPr lang="en-US" dirty="0" err="1"/>
                  <a:t>quẩn</a:t>
                </a:r>
                <a:r>
                  <a:rPr lang="en-US" dirty="0"/>
                  <a:t> ở </a:t>
                </a:r>
                <a:r>
                  <a:rPr lang="en-US" dirty="0" err="1"/>
                  <a:t>mức</a:t>
                </a:r>
                <a:r>
                  <a:rPr lang="en-US" dirty="0"/>
                  <a:t> </a:t>
                </a:r>
                <a:r>
                  <a:rPr lang="en-US" dirty="0" err="1"/>
                  <a:t>trên</a:t>
                </a:r>
                <a:r>
                  <a:rPr lang="en-US" dirty="0"/>
                  <a:t>, </a:t>
                </a:r>
                <a:r>
                  <a:rPr lang="en-US" dirty="0" err="1"/>
                  <a:t>dù</a:t>
                </a:r>
                <a:r>
                  <a:rPr lang="en-US" dirty="0"/>
                  <a:t> </a:t>
                </a:r>
                <a:r>
                  <a:rPr lang="en-US" dirty="0" err="1"/>
                  <a:t>dữ</a:t>
                </a:r>
                <a:r>
                  <a:rPr lang="en-US" dirty="0"/>
                  <a:t> </a:t>
                </a:r>
                <a:r>
                  <a:rPr lang="en-US" dirty="0" err="1"/>
                  <a:t>liệu</a:t>
                </a:r>
                <a:r>
                  <a:rPr lang="en-US" dirty="0"/>
                  <a:t> </a:t>
                </a:r>
                <a:r>
                  <a:rPr lang="en-US" dirty="0" err="1"/>
                  <a:t>nhập</a:t>
                </a:r>
                <a:r>
                  <a:rPr lang="en-US" dirty="0"/>
                  <a:t> </a:t>
                </a:r>
                <a:r>
                  <a:rPr lang="en-US" dirty="0" err="1"/>
                  <a:t>vào</a:t>
                </a:r>
                <a:r>
                  <a:rPr lang="en-US" dirty="0"/>
                  <a:t>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tốt</a:t>
                </a:r>
                <a:r>
                  <a:rPr lang="en-US" dirty="0"/>
                  <a:t> hay </a:t>
                </a:r>
                <a:r>
                  <a:rPr lang="en-US" dirty="0" err="1"/>
                  <a:t>xấu</a:t>
                </a:r>
                <a:r>
                  <a:rPr lang="en-US" dirty="0"/>
                  <a:t>.</a:t>
                </a:r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DCFE6702-04FE-E03D-FC10-89EB16789A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34250"/>
                <a:ext cx="5181600" cy="5023749"/>
              </a:xfrm>
              <a:blipFill>
                <a:blip r:embed="rId3"/>
                <a:stretch>
                  <a:fillRect l="-2118" t="-2184" r="-47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E48E4625-86AB-2A09-FE61-70F1435441DD}"/>
              </a:ext>
            </a:extLst>
          </p:cNvPr>
          <p:cNvSpPr txBox="1">
            <a:spLocks/>
          </p:cNvSpPr>
          <p:nvPr/>
        </p:nvSpPr>
        <p:spPr>
          <a:xfrm>
            <a:off x="6172202" y="3429000"/>
            <a:ext cx="5181600" cy="3429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45828C5-0AA5-7E02-E9C2-A7504BBCFD0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2072" b="6953"/>
          <a:stretch>
            <a:fillRect/>
          </a:stretch>
        </p:blipFill>
        <p:spPr>
          <a:xfrm>
            <a:off x="6172201" y="3448744"/>
            <a:ext cx="5119775" cy="338951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95769C6-A124-976A-A6E2-0DD5CC633914}"/>
              </a:ext>
            </a:extLst>
          </p:cNvPr>
          <p:cNvSpPr txBox="1"/>
          <p:nvPr/>
        </p:nvSpPr>
        <p:spPr>
          <a:xfrm>
            <a:off x="6172200" y="1205274"/>
            <a:ext cx="5119775" cy="224676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algn="just" rtl="0">
              <a:buNone/>
            </a:pPr>
            <a:r>
              <a:rPr lang="vi-VN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static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vi-VN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 </a:t>
            </a:r>
            <a:r>
              <a:rPr lang="vi-VN" sz="1400" b="0" i="0" u="none" strike="noStrike" dirty="0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Pratt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vi-VN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size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vi-VN" sz="1400" b="0" dirty="0">
              <a:effectLst/>
            </a:endParaRPr>
          </a:p>
          <a:p>
            <a:pPr algn="just" rtl="0">
              <a:buNone/>
            </a:pP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{</a:t>
            </a:r>
            <a:endParaRPr lang="vi-VN" sz="1400" b="0" dirty="0">
              <a:effectLst/>
            </a:endParaRPr>
          </a:p>
          <a:p>
            <a:pPr algn="just" rtl="0">
              <a:buNone/>
            </a:pP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vi-VN" sz="14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vi-VN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new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vi-VN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&gt;();</a:t>
            </a:r>
            <a:endParaRPr lang="vi-VN" sz="1400" b="0" dirty="0">
              <a:effectLst/>
            </a:endParaRPr>
          </a:p>
          <a:p>
            <a:pPr algn="just" rtl="0">
              <a:buNone/>
            </a:pP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vi-VN" sz="14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for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vi-VN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size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*=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2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vi-VN" sz="1400" b="0" dirty="0">
              <a:effectLst/>
            </a:endParaRPr>
          </a:p>
          <a:p>
            <a:pPr algn="just" rtl="0">
              <a:buNone/>
            </a:pP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</a:t>
            </a:r>
            <a:r>
              <a:rPr lang="vi-VN" sz="14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for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vi-VN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size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*=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3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vi-VN" sz="1400" b="0" dirty="0">
              <a:effectLst/>
            </a:endParaRPr>
          </a:p>
          <a:p>
            <a:pPr algn="just" rtl="0">
              <a:buNone/>
            </a:pP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    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vi-VN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vi-VN" sz="1400" b="0" i="0" u="none" strike="noStrike" dirty="0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Add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);</a:t>
            </a:r>
            <a:endParaRPr lang="vi-VN" sz="1400" b="0" dirty="0">
              <a:effectLst/>
            </a:endParaRPr>
          </a:p>
          <a:p>
            <a:pPr algn="just" rtl="0">
              <a:buNone/>
            </a:pP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vi-VN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vi-VN" sz="1400" b="0" i="0" u="none" strike="noStrike" dirty="0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Sort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((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b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 </a:t>
            </a:r>
            <a:r>
              <a:rPr lang="vi-VN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=&gt;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b</a:t>
            </a:r>
            <a:r>
              <a:rPr lang="vi-VN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vi-VN" sz="1400" b="0" i="0" u="none" strike="noStrike" dirty="0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CompareTo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));</a:t>
            </a:r>
            <a:endParaRPr lang="vi-VN" sz="1400" b="0" dirty="0">
              <a:effectLst/>
            </a:endParaRPr>
          </a:p>
          <a:p>
            <a:pPr algn="just" rtl="0">
              <a:buNone/>
            </a:pPr>
            <a:r>
              <a:rPr lang="vi-VN" sz="1400" b="0" i="0" u="none" strike="noStrike" dirty="0">
                <a:solidFill>
                  <a:srgbClr val="6A9955"/>
                </a:solidFill>
                <a:effectLst/>
                <a:latin typeface="Courier New" panose="02070309020205020404" pitchFamily="49" charset="0"/>
              </a:rPr>
              <a:t>    // sắp xếp ngược dãy số</a:t>
            </a:r>
            <a:endParaRPr lang="vi-VN" sz="1400" b="0" dirty="0">
              <a:effectLst/>
            </a:endParaRPr>
          </a:p>
          <a:p>
            <a:pPr algn="just" rtl="0">
              <a:buNone/>
            </a:pP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vi-VN" sz="14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return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vi-VN" sz="1400" b="0" dirty="0">
              <a:effectLst/>
            </a:endParaRPr>
          </a:p>
          <a:p>
            <a:pPr algn="just" rtl="0">
              <a:buNone/>
            </a:pP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}</a:t>
            </a:r>
            <a:endParaRPr lang="vi-VN" sz="1400" b="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02364271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E65E19-984F-708E-3AC9-0120AFEDD5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462F725D-5314-C39A-6AE5-6CC782A0F68C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en-US" dirty="0"/>
                  <a:t>Thực </a:t>
                </a:r>
                <a:r>
                  <a:rPr lang="en-US" dirty="0" err="1"/>
                  <a:t>nghiệm</a:t>
                </a:r>
                <a:r>
                  <a:rPr lang="en-US" dirty="0"/>
                  <a:t> </a:t>
                </a:r>
                <a:r>
                  <a:rPr lang="en-US" dirty="0" err="1"/>
                  <a:t>với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20</m:t>
                        </m:r>
                      </m:sup>
                    </m:sSup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1000</m:t>
                    </m:r>
                  </m:oMath>
                </a14:m>
                <a:r>
                  <a:rPr lang="en-GB" dirty="0"/>
                  <a:t> </a:t>
                </a:r>
                <a:r>
                  <a:rPr lang="en-GB" dirty="0" err="1"/>
                  <a:t>lần</a:t>
                </a:r>
                <a:r>
                  <a:rPr lang="en-GB" dirty="0"/>
                  <a:t> </a:t>
                </a:r>
                <a:r>
                  <a:rPr lang="en-GB" dirty="0" err="1"/>
                  <a:t>chạy</a:t>
                </a:r>
                <a:br>
                  <a:rPr lang="en-GB" dirty="0"/>
                </a:br>
                <a:r>
                  <a:rPr lang="en-GB" dirty="0" err="1"/>
                  <a:t>Độ</a:t>
                </a:r>
                <a:r>
                  <a:rPr lang="en-GB" dirty="0"/>
                  <a:t> </a:t>
                </a:r>
                <a:r>
                  <a:rPr lang="en-GB" dirty="0" err="1"/>
                  <a:t>phức</a:t>
                </a:r>
                <a:r>
                  <a:rPr lang="en-GB" dirty="0"/>
                  <a:t> </a:t>
                </a:r>
                <a:r>
                  <a:rPr lang="en-GB" dirty="0" err="1"/>
                  <a:t>tạp</a:t>
                </a:r>
                <a:r>
                  <a:rPr lang="en-GB" dirty="0"/>
                  <a:t> </a:t>
                </a:r>
                <a:r>
                  <a:rPr lang="en-GB" dirty="0" err="1"/>
                  <a:t>xấp</a:t>
                </a:r>
                <a:r>
                  <a:rPr lang="en-GB" dirty="0"/>
                  <a:t> </a:t>
                </a:r>
                <a:r>
                  <a:rPr lang="en-GB" dirty="0" err="1"/>
                  <a:t>xỉ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𝑙𝑜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462F725D-5314-C39A-6AE5-6CC782A0F6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087" t="-19816" b="-184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9B96B7A3-4D02-2A94-8A0F-CDAAEBC450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071" y="1797692"/>
            <a:ext cx="10621857" cy="5982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909773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79BAC-152A-3DFD-2C83-332B01099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C76A54-4D0B-7C68-EB12-1F021D92E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6. Các </a:t>
            </a:r>
            <a:r>
              <a:rPr lang="en-US" dirty="0" err="1"/>
              <a:t>dãy</a:t>
            </a:r>
            <a:r>
              <a:rPr lang="en-US" dirty="0"/>
              <a:t> </a:t>
            </a:r>
            <a:r>
              <a:rPr lang="en-US" dirty="0" err="1"/>
              <a:t>khoảng</a:t>
            </a:r>
            <a:r>
              <a:rPr lang="en-US" dirty="0"/>
              <a:t> </a:t>
            </a:r>
            <a:r>
              <a:rPr lang="en-US" dirty="0" err="1"/>
              <a:t>cách</a:t>
            </a:r>
            <a:r>
              <a:rPr lang="en-US" dirty="0"/>
              <a:t> </a:t>
            </a:r>
            <a:r>
              <a:rPr lang="en-US" dirty="0" err="1"/>
              <a:t>cổ</a:t>
            </a:r>
            <a:r>
              <a:rPr lang="en-US" dirty="0"/>
              <a:t> </a:t>
            </a:r>
            <a:r>
              <a:rPr lang="en-US" dirty="0" err="1"/>
              <a:t>điển</a:t>
            </a:r>
            <a:br>
              <a:rPr lang="en-US" dirty="0"/>
            </a:br>
            <a:r>
              <a:rPr lang="en-US" dirty="0"/>
              <a:t>6.4. Sedgewick (1982)</a:t>
            </a:r>
            <a:endParaRPr lang="en-GB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718FF56-AA19-20D4-EB28-9B4A3E4EE96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47928" y="1834250"/>
                <a:ext cx="5181600" cy="5023749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Dãy </a:t>
                </a:r>
                <a:r>
                  <a:rPr lang="en-US" dirty="0" err="1"/>
                  <a:t>của</a:t>
                </a:r>
                <a:r>
                  <a:rPr lang="en-US" dirty="0"/>
                  <a:t> Sedgewick </a:t>
                </a:r>
                <a:r>
                  <a:rPr lang="en-US" dirty="0" err="1"/>
                  <a:t>biểu</a:t>
                </a:r>
                <a:r>
                  <a:rPr lang="en-US" dirty="0"/>
                  <a:t> </a:t>
                </a:r>
                <a:r>
                  <a:rPr lang="en-US" dirty="0" err="1"/>
                  <a:t>diễn</a:t>
                </a:r>
                <a:r>
                  <a:rPr lang="en-US" dirty="0"/>
                  <a:t> </a:t>
                </a:r>
                <a:r>
                  <a:rPr lang="en-US" dirty="0" err="1"/>
                  <a:t>bằng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+3∙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≥1)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và</a:t>
                </a:r>
                <a:r>
                  <a:rPr lang="en-US" dirty="0"/>
                  <a:t> </a:t>
                </a:r>
                <a:r>
                  <a:rPr lang="en-US" dirty="0" err="1"/>
                  <a:t>bắt</a:t>
                </a:r>
                <a:r>
                  <a:rPr lang="en-US" dirty="0"/>
                  <a:t> </a:t>
                </a:r>
                <a:r>
                  <a:rPr lang="en-US" dirty="0" err="1"/>
                  <a:t>đầu</a:t>
                </a:r>
                <a:r>
                  <a:rPr lang="en-US" dirty="0"/>
                  <a:t> </a:t>
                </a:r>
                <a:r>
                  <a:rPr lang="en-US" dirty="0" err="1"/>
                  <a:t>từ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 err="1"/>
                  <a:t>Độ</a:t>
                </a:r>
                <a:r>
                  <a:rPr lang="en-US" dirty="0"/>
                  <a:t> </a:t>
                </a:r>
                <a:r>
                  <a:rPr lang="en-US" dirty="0" err="1"/>
                  <a:t>phức</a:t>
                </a:r>
                <a:r>
                  <a:rPr lang="en-US" dirty="0"/>
                  <a:t> </a:t>
                </a:r>
                <a:r>
                  <a:rPr lang="en-US" dirty="0" err="1"/>
                  <a:t>tạp</a:t>
                </a:r>
                <a:r>
                  <a:rPr lang="en-US" dirty="0"/>
                  <a:t> </a:t>
                </a:r>
                <a:r>
                  <a:rPr lang="en-US" dirty="0" err="1"/>
                  <a:t>tệ</a:t>
                </a:r>
                <a:r>
                  <a:rPr lang="en-US" dirty="0"/>
                  <a:t> </a:t>
                </a:r>
                <a:r>
                  <a:rPr lang="en-US" dirty="0" err="1"/>
                  <a:t>nhất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O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f>
                          <m:fPr>
                            <m:type m:val="li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Sedgewick </a:t>
                </a:r>
                <a:r>
                  <a:rPr lang="en-US" dirty="0" err="1"/>
                  <a:t>đã</a:t>
                </a:r>
                <a:r>
                  <a:rPr lang="en-US" dirty="0"/>
                  <a:t> </a:t>
                </a:r>
                <a:r>
                  <a:rPr lang="en-US" dirty="0" err="1"/>
                  <a:t>chứng</a:t>
                </a:r>
                <a:r>
                  <a:rPr lang="en-US" dirty="0"/>
                  <a:t> </a:t>
                </a:r>
                <a:r>
                  <a:rPr lang="en-US" dirty="0" err="1"/>
                  <a:t>minh</a:t>
                </a:r>
                <a:r>
                  <a:rPr lang="en-US" dirty="0"/>
                  <a:t> </a:t>
                </a:r>
                <a:r>
                  <a:rPr lang="en-US" dirty="0" err="1"/>
                  <a:t>cận</a:t>
                </a:r>
                <a:r>
                  <a:rPr lang="en-US" dirty="0"/>
                  <a:t> </a:t>
                </a:r>
                <a:r>
                  <a:rPr lang="en-US" dirty="0" err="1"/>
                  <a:t>trên</a:t>
                </a:r>
                <a:r>
                  <a:rPr lang="en-US" dirty="0"/>
                  <a:t> </a:t>
                </a:r>
                <a:r>
                  <a:rPr lang="en-US" dirty="0" err="1"/>
                  <a:t>vào</a:t>
                </a:r>
                <a:r>
                  <a:rPr lang="en-US" dirty="0"/>
                  <a:t> 1986 </a:t>
                </a:r>
                <a:r>
                  <a:rPr lang="en-US" dirty="0" err="1"/>
                  <a:t>bằng</a:t>
                </a:r>
                <a:r>
                  <a:rPr lang="en-US" dirty="0"/>
                  <a:t> </a:t>
                </a:r>
                <a:r>
                  <a:rPr lang="en-US" dirty="0" err="1"/>
                  <a:t>toán</a:t>
                </a:r>
                <a:r>
                  <a:rPr lang="en-US" dirty="0"/>
                  <a:t> </a:t>
                </a:r>
                <a:r>
                  <a:rPr lang="en-US" dirty="0" err="1"/>
                  <a:t>học</a:t>
                </a:r>
                <a:r>
                  <a:rPr lang="en-US" dirty="0"/>
                  <a:t>. </a:t>
                </a:r>
                <a:r>
                  <a:rPr lang="en-US" dirty="0" err="1"/>
                  <a:t>Thế</a:t>
                </a:r>
                <a:r>
                  <a:rPr lang="en-US" dirty="0"/>
                  <a:t> </a:t>
                </a:r>
                <a:r>
                  <a:rPr lang="en-US" dirty="0" err="1"/>
                  <a:t>nhưng</a:t>
                </a:r>
                <a:r>
                  <a:rPr lang="en-US" dirty="0"/>
                  <a:t> </a:t>
                </a:r>
                <a:r>
                  <a:rPr lang="en-US" dirty="0" err="1"/>
                  <a:t>trong</a:t>
                </a:r>
                <a:r>
                  <a:rPr lang="en-US" dirty="0"/>
                  <a:t> </a:t>
                </a:r>
                <a:r>
                  <a:rPr lang="en-US" dirty="0" err="1"/>
                  <a:t>quá</a:t>
                </a:r>
                <a:r>
                  <a:rPr lang="en-US" dirty="0"/>
                  <a:t> </a:t>
                </a:r>
                <a:r>
                  <a:rPr lang="en-US" dirty="0" err="1"/>
                  <a:t>trình</a:t>
                </a:r>
                <a:r>
                  <a:rPr lang="en-US" dirty="0"/>
                  <a:t> </a:t>
                </a:r>
                <a:r>
                  <a:rPr lang="en-US" dirty="0" err="1"/>
                  <a:t>tìm</a:t>
                </a:r>
                <a:r>
                  <a:rPr lang="en-US" dirty="0"/>
                  <a:t> </a:t>
                </a:r>
                <a:r>
                  <a:rPr lang="en-US" dirty="0" err="1"/>
                  <a:t>kiếm</a:t>
                </a:r>
                <a:r>
                  <a:rPr lang="en-US" dirty="0"/>
                  <a:t> </a:t>
                </a:r>
                <a:r>
                  <a:rPr lang="en-US" dirty="0" err="1"/>
                  <a:t>thông</a:t>
                </a:r>
                <a:r>
                  <a:rPr lang="en-US" dirty="0"/>
                  <a:t> tin </a:t>
                </a:r>
                <a:r>
                  <a:rPr lang="en-US" dirty="0" err="1"/>
                  <a:t>thì</a:t>
                </a:r>
                <a:r>
                  <a:rPr lang="en-US" dirty="0"/>
                  <a:t> </a:t>
                </a:r>
                <a:r>
                  <a:rPr lang="en-US" dirty="0" err="1"/>
                  <a:t>cũng</a:t>
                </a:r>
                <a:r>
                  <a:rPr lang="en-US" dirty="0"/>
                  <a:t> </a:t>
                </a:r>
                <a:r>
                  <a:rPr lang="en-US" dirty="0" err="1"/>
                  <a:t>rất</a:t>
                </a:r>
                <a:r>
                  <a:rPr lang="en-US" dirty="0"/>
                  <a:t> </a:t>
                </a:r>
                <a:r>
                  <a:rPr lang="en-US" dirty="0" err="1"/>
                  <a:t>khó</a:t>
                </a:r>
                <a:r>
                  <a:rPr lang="en-US" dirty="0"/>
                  <a:t> </a:t>
                </a:r>
                <a:r>
                  <a:rPr lang="en-US" dirty="0" err="1"/>
                  <a:t>để</a:t>
                </a:r>
                <a:r>
                  <a:rPr lang="en-US" dirty="0"/>
                  <a:t> </a:t>
                </a:r>
                <a:r>
                  <a:rPr lang="en-US" dirty="0" err="1"/>
                  <a:t>tìm</a:t>
                </a:r>
                <a:r>
                  <a:rPr lang="en-US" dirty="0"/>
                  <a:t> </a:t>
                </a:r>
                <a:r>
                  <a:rPr lang="en-US" dirty="0" err="1"/>
                  <a:t>kiếm</a:t>
                </a:r>
                <a:r>
                  <a:rPr lang="en-US" dirty="0"/>
                  <a:t> </a:t>
                </a:r>
                <a:r>
                  <a:rPr lang="en-US" dirty="0" err="1"/>
                  <a:t>một</a:t>
                </a:r>
                <a:r>
                  <a:rPr lang="en-US" dirty="0"/>
                  <a:t> </a:t>
                </a:r>
                <a:r>
                  <a:rPr lang="en-US" dirty="0" err="1"/>
                  <a:t>mảng</a:t>
                </a:r>
                <a:r>
                  <a:rPr lang="en-US" dirty="0"/>
                  <a:t> </a:t>
                </a:r>
                <a:r>
                  <a:rPr lang="en-US" dirty="0" err="1"/>
                  <a:t>cụ</a:t>
                </a:r>
                <a:r>
                  <a:rPr lang="en-US" dirty="0"/>
                  <a:t> </a:t>
                </a:r>
                <a:r>
                  <a:rPr lang="en-US" dirty="0" err="1"/>
                  <a:t>thể</a:t>
                </a:r>
                <a:r>
                  <a:rPr lang="en-US" dirty="0"/>
                  <a:t> </a:t>
                </a:r>
                <a:r>
                  <a:rPr lang="en-US" dirty="0" err="1"/>
                  <a:t>đưa</a:t>
                </a:r>
                <a:r>
                  <a:rPr lang="en-US" dirty="0"/>
                  <a:t> </a:t>
                </a:r>
                <a:r>
                  <a:rPr lang="en-US" dirty="0" err="1"/>
                  <a:t>độ</a:t>
                </a:r>
                <a:r>
                  <a:rPr lang="en-US" dirty="0"/>
                  <a:t> </a:t>
                </a:r>
                <a:r>
                  <a:rPr lang="en-US" dirty="0" err="1"/>
                  <a:t>phức</a:t>
                </a:r>
                <a:r>
                  <a:rPr lang="en-US" dirty="0"/>
                  <a:t> </a:t>
                </a:r>
                <a:r>
                  <a:rPr lang="en-US" dirty="0" err="1"/>
                  <a:t>tạp</a:t>
                </a:r>
                <a:r>
                  <a:rPr lang="en-US" dirty="0"/>
                  <a:t> </a:t>
                </a:r>
                <a:r>
                  <a:rPr lang="en-US" dirty="0" err="1"/>
                  <a:t>lên</a:t>
                </a:r>
                <a:r>
                  <a:rPr lang="en-US" dirty="0"/>
                  <a:t> </a:t>
                </a:r>
                <a:r>
                  <a:rPr lang="en-US" dirty="0" err="1"/>
                  <a:t>mức</a:t>
                </a:r>
                <a:r>
                  <a:rPr lang="en-US" dirty="0"/>
                  <a:t> </a:t>
                </a:r>
                <a:r>
                  <a:rPr lang="en-US" dirty="0" err="1"/>
                  <a:t>này</a:t>
                </a:r>
                <a:r>
                  <a:rPr lang="en-US" dirty="0"/>
                  <a:t>.</a:t>
                </a:r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718FF56-AA19-20D4-EB28-9B4A3E4EE9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47928" y="1834250"/>
                <a:ext cx="5181600" cy="5023749"/>
              </a:xfrm>
              <a:blipFill>
                <a:blip r:embed="rId3"/>
                <a:stretch>
                  <a:fillRect l="-2118" t="-2184" r="-11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D68E3D2F-6093-B859-41A2-3846EE8AAFD2}"/>
              </a:ext>
            </a:extLst>
          </p:cNvPr>
          <p:cNvSpPr txBox="1">
            <a:spLocks/>
          </p:cNvSpPr>
          <p:nvPr/>
        </p:nvSpPr>
        <p:spPr>
          <a:xfrm>
            <a:off x="6172202" y="3429000"/>
            <a:ext cx="5181600" cy="3429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C95F5B-E325-FC0E-0262-B681CAE94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2474" y="3450077"/>
            <a:ext cx="6029526" cy="148797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3CD642C-F090-BFD5-59B5-C22CB2B5826C}"/>
              </a:ext>
            </a:extLst>
          </p:cNvPr>
          <p:cNvSpPr txBox="1"/>
          <p:nvPr/>
        </p:nvSpPr>
        <p:spPr>
          <a:xfrm>
            <a:off x="6162474" y="1834250"/>
            <a:ext cx="6029526" cy="161582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algn="just" rtl="0">
              <a:buNone/>
            </a:pPr>
            <a:r>
              <a:rPr lang="en-GB" sz="11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static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1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 </a:t>
            </a:r>
            <a:r>
              <a:rPr lang="en-GB" sz="1100" b="0" i="0" u="none" strike="noStrike" dirty="0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Sedgewick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GB" sz="11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size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GB" sz="1100" b="0" dirty="0">
              <a:effectLst/>
            </a:endParaRPr>
          </a:p>
          <a:p>
            <a:pPr algn="just"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{</a:t>
            </a:r>
            <a:endParaRPr lang="en-GB" sz="1100" b="0" dirty="0">
              <a:effectLst/>
            </a:endParaRPr>
          </a:p>
          <a:p>
            <a:pPr algn="just"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1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1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new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1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&gt;();</a:t>
            </a:r>
            <a:endParaRPr lang="en-GB" sz="1100" b="0" dirty="0">
              <a:effectLst/>
            </a:endParaRPr>
          </a:p>
          <a:p>
            <a:pPr algn="just"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1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100" b="0" i="0" u="none" strike="noStrike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GB" sz="1100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Add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);</a:t>
            </a:r>
            <a:endParaRPr lang="en-GB" sz="1100" b="0" dirty="0">
              <a:effectLst/>
            </a:endParaRPr>
          </a:p>
          <a:p>
            <a:pPr algn="just"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1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for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en-GB" sz="11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(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&lt;&lt;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2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*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3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*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&lt;&lt;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-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size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++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GB" sz="1100" b="0" dirty="0">
              <a:effectLst/>
            </a:endParaRPr>
          </a:p>
          <a:p>
            <a:pPr algn="just"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</a:t>
            </a:r>
            <a:r>
              <a:rPr lang="en-GB" sz="11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100" b="0" i="0" u="none" strike="noStrike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GB" sz="1100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Add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((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&lt;&lt;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2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*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3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*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&lt;&lt;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-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);</a:t>
            </a:r>
            <a:endParaRPr lang="en-GB" sz="1100" b="0" dirty="0">
              <a:effectLst/>
            </a:endParaRPr>
          </a:p>
          <a:p>
            <a:pPr algn="just"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1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100" b="0" i="0" u="none" strike="noStrike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GB" sz="1100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Reverse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();</a:t>
            </a:r>
            <a:endParaRPr lang="en-GB" sz="1100" b="0" dirty="0">
              <a:effectLst/>
            </a:endParaRPr>
          </a:p>
          <a:p>
            <a:pPr algn="just"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1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return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en-GB" sz="1100" b="0" dirty="0">
              <a:effectLst/>
            </a:endParaRPr>
          </a:p>
          <a:p>
            <a:pPr algn="just"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}</a:t>
            </a:r>
            <a:endParaRPr lang="en-GB" sz="1100" b="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79553788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F0281-43DA-B12E-DA41-78892CABE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95F9341-1690-094C-5C84-26E76B4171E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Thực </a:t>
                </a:r>
                <a:r>
                  <a:rPr lang="en-US" dirty="0" err="1"/>
                  <a:t>nghiệm</a:t>
                </a:r>
                <a:r>
                  <a:rPr lang="en-US" dirty="0"/>
                  <a:t> </a:t>
                </a:r>
                <a:r>
                  <a:rPr lang="en-US" dirty="0" err="1"/>
                  <a:t>với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+3∙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9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1000</m:t>
                    </m:r>
                  </m:oMath>
                </a14:m>
                <a:r>
                  <a:rPr lang="en-GB" dirty="0"/>
                  <a:t> </a:t>
                </a:r>
                <a:r>
                  <a:rPr lang="en-GB" dirty="0" err="1"/>
                  <a:t>lần</a:t>
                </a:r>
                <a:r>
                  <a:rPr lang="en-GB" dirty="0"/>
                  <a:t> </a:t>
                </a:r>
                <a:r>
                  <a:rPr lang="en-GB" dirty="0" err="1"/>
                  <a:t>chạy</a:t>
                </a:r>
                <a:r>
                  <a:rPr lang="en-GB" dirty="0"/>
                  <a:t>. </a:t>
                </a:r>
                <a:r>
                  <a:rPr lang="en-GB" dirty="0" err="1"/>
                  <a:t>Độ</a:t>
                </a:r>
                <a:r>
                  <a:rPr lang="en-GB" dirty="0"/>
                  <a:t> </a:t>
                </a:r>
                <a:r>
                  <a:rPr lang="en-GB" dirty="0" err="1"/>
                  <a:t>phức</a:t>
                </a:r>
                <a:r>
                  <a:rPr lang="en-GB" dirty="0"/>
                  <a:t> </a:t>
                </a:r>
                <a:r>
                  <a:rPr lang="en-GB" dirty="0" err="1"/>
                  <a:t>tạp</a:t>
                </a:r>
                <a:r>
                  <a:rPr lang="en-GB" dirty="0"/>
                  <a:t> </a:t>
                </a:r>
                <a:r>
                  <a:rPr lang="en-GB" dirty="0" err="1"/>
                  <a:t>xấp</a:t>
                </a:r>
                <a:r>
                  <a:rPr lang="en-GB" dirty="0"/>
                  <a:t> </a:t>
                </a:r>
                <a:r>
                  <a:rPr lang="en-GB" dirty="0" err="1"/>
                  <a:t>xỉ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1.25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95F9341-1690-094C-5C84-26E76B4171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2903" b="-225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FB34B34D-2783-A615-3E01-809CE01EDD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071" y="1690688"/>
            <a:ext cx="10621857" cy="5982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169739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3E900-45CF-D353-A261-A6B2B4697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497807-0D0C-931B-BE3E-63EB23F397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7. </a:t>
            </a:r>
            <a:r>
              <a:rPr lang="en-US" dirty="0" err="1"/>
              <a:t>Một</a:t>
            </a:r>
            <a:r>
              <a:rPr lang="en-US" dirty="0"/>
              <a:t> </a:t>
            </a:r>
            <a:r>
              <a:rPr lang="en-US" dirty="0" err="1"/>
              <a:t>trong</a:t>
            </a:r>
            <a:r>
              <a:rPr lang="en-US" dirty="0"/>
              <a:t> </a:t>
            </a:r>
            <a:r>
              <a:rPr lang="en-US" dirty="0" err="1"/>
              <a:t>những</a:t>
            </a:r>
            <a:r>
              <a:rPr lang="en-US" dirty="0"/>
              <a:t> </a:t>
            </a:r>
            <a:r>
              <a:rPr lang="en-US" dirty="0" err="1"/>
              <a:t>dãy</a:t>
            </a:r>
            <a:r>
              <a:rPr lang="en-US" dirty="0"/>
              <a:t> </a:t>
            </a:r>
            <a:r>
              <a:rPr lang="en-US" dirty="0" err="1"/>
              <a:t>khoảng</a:t>
            </a:r>
            <a:r>
              <a:rPr lang="en-US" dirty="0"/>
              <a:t> </a:t>
            </a:r>
            <a:r>
              <a:rPr lang="en-US" dirty="0" err="1"/>
              <a:t>cách</a:t>
            </a:r>
            <a:r>
              <a:rPr lang="en-US" dirty="0"/>
              <a:t> </a:t>
            </a:r>
            <a:r>
              <a:rPr lang="en-US" dirty="0" err="1"/>
              <a:t>hiện</a:t>
            </a:r>
            <a:r>
              <a:rPr lang="en-US" dirty="0"/>
              <a:t> </a:t>
            </a:r>
            <a:r>
              <a:rPr lang="en-US" dirty="0" err="1"/>
              <a:t>đại</a:t>
            </a:r>
            <a:r>
              <a:rPr lang="en-US" dirty="0"/>
              <a:t> – Ciura </a:t>
            </a:r>
            <a:r>
              <a:rPr lang="en-US" dirty="0" err="1"/>
              <a:t>mở</a:t>
            </a:r>
            <a:r>
              <a:rPr lang="en-US" dirty="0"/>
              <a:t> </a:t>
            </a:r>
            <a:r>
              <a:rPr lang="en-US" dirty="0" err="1"/>
              <a:t>rộng</a:t>
            </a:r>
            <a:r>
              <a:rPr lang="en-US" dirty="0"/>
              <a:t> (2001)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1EBD3E46-58B2-65CF-F1E4-C0784536FB1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47928" y="1834249"/>
                <a:ext cx="5181600" cy="5179393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Dãy </a:t>
                </a:r>
                <a:r>
                  <a:rPr lang="en-US" dirty="0" err="1"/>
                  <a:t>của</a:t>
                </a:r>
                <a:r>
                  <a:rPr lang="en-US" dirty="0"/>
                  <a:t> Ciura </a:t>
                </a:r>
                <a:r>
                  <a:rPr lang="en-US" dirty="0" err="1"/>
                  <a:t>là</a:t>
                </a:r>
                <a:r>
                  <a:rPr lang="en-US" dirty="0"/>
                  <a:t> </a:t>
                </a:r>
                <a:r>
                  <a:rPr lang="en-US" dirty="0" err="1"/>
                  <a:t>một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 </a:t>
                </a:r>
                <a:r>
                  <a:rPr lang="en-US" dirty="0" err="1"/>
                  <a:t>thực</a:t>
                </a:r>
                <a:r>
                  <a:rPr lang="en-US" dirty="0"/>
                  <a:t> </a:t>
                </a:r>
                <a:r>
                  <a:rPr lang="en-US" dirty="0" err="1"/>
                  <a:t>nghiệm</a:t>
                </a:r>
                <a:r>
                  <a:rPr lang="en-US" dirty="0"/>
                  <a:t>. Các </a:t>
                </a:r>
                <a:r>
                  <a:rPr lang="en-US" dirty="0" err="1"/>
                  <a:t>dãy</a:t>
                </a:r>
                <a:r>
                  <a:rPr lang="en-US" dirty="0"/>
                  <a:t> </a:t>
                </a:r>
                <a:r>
                  <a:rPr lang="en-US" dirty="0" err="1"/>
                  <a:t>đầu</a:t>
                </a:r>
                <a:r>
                  <a:rPr lang="en-US" dirty="0"/>
                  <a:t> </a:t>
                </a:r>
                <a:r>
                  <a:rPr lang="en-US" dirty="0" err="1"/>
                  <a:t>tiên</a:t>
                </a:r>
                <a:r>
                  <a:rPr lang="en-US" dirty="0"/>
                  <a:t> </a:t>
                </a:r>
                <a:r>
                  <a:rPr lang="en-US" dirty="0" err="1"/>
                  <a:t>không</a:t>
                </a:r>
                <a:r>
                  <a:rPr lang="en-US" dirty="0"/>
                  <a:t>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một</a:t>
                </a:r>
                <a:r>
                  <a:rPr lang="en-US" dirty="0"/>
                  <a:t> </a:t>
                </a:r>
                <a:r>
                  <a:rPr lang="en-US" dirty="0" err="1"/>
                  <a:t>công</a:t>
                </a:r>
                <a:r>
                  <a:rPr lang="en-US" dirty="0"/>
                  <a:t> </a:t>
                </a:r>
                <a:r>
                  <a:rPr lang="en-US" dirty="0" err="1"/>
                  <a:t>thức</a:t>
                </a:r>
                <a:r>
                  <a:rPr lang="en-US" dirty="0"/>
                  <a:t> </a:t>
                </a:r>
                <a:r>
                  <a:rPr lang="en-US" dirty="0" err="1"/>
                  <a:t>cố</a:t>
                </a:r>
                <a:r>
                  <a:rPr lang="en-US" dirty="0"/>
                  <a:t> </a:t>
                </a:r>
                <a:r>
                  <a:rPr lang="en-US" dirty="0" err="1"/>
                  <a:t>định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{1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4, 10, 23, 57, 132, 301, 701}</m:t>
                    </m:r>
                  </m:oMath>
                </a14:m>
                <a:endParaRPr lang="en-US" dirty="0"/>
              </a:p>
              <a:p>
                <a:r>
                  <a:rPr lang="en-US" dirty="0"/>
                  <a:t>Sau </a:t>
                </a:r>
                <a:r>
                  <a:rPr lang="en-US" dirty="0" err="1"/>
                  <a:t>đó</a:t>
                </a:r>
                <a:r>
                  <a:rPr lang="en-US" dirty="0"/>
                  <a:t> </a:t>
                </a:r>
                <a:r>
                  <a:rPr lang="en-US" dirty="0" err="1"/>
                  <a:t>được</a:t>
                </a:r>
                <a:r>
                  <a:rPr lang="en-US" dirty="0"/>
                  <a:t> </a:t>
                </a:r>
                <a:r>
                  <a:rPr lang="en-US" dirty="0" err="1"/>
                  <a:t>cộng</a:t>
                </a:r>
                <a:r>
                  <a:rPr lang="en-US" dirty="0"/>
                  <a:t> </a:t>
                </a:r>
                <a:r>
                  <a:rPr lang="en-US" dirty="0" err="1"/>
                  <a:t>đồng</a:t>
                </a:r>
                <a:r>
                  <a:rPr lang="en-US" dirty="0"/>
                  <a:t> </a:t>
                </a:r>
                <a:r>
                  <a:rPr lang="en-US" dirty="0" err="1"/>
                  <a:t>mở</a:t>
                </a:r>
                <a:r>
                  <a:rPr lang="en-US" dirty="0"/>
                  <a:t> </a:t>
                </a:r>
                <a:r>
                  <a:rPr lang="en-US" dirty="0" err="1"/>
                  <a:t>rộng</a:t>
                </a:r>
                <a:r>
                  <a:rPr lang="en-US" dirty="0"/>
                  <a:t> </a:t>
                </a:r>
                <a:r>
                  <a:rPr lang="en-US" dirty="0" err="1"/>
                  <a:t>bằng</a:t>
                </a:r>
                <a:r>
                  <a:rPr lang="en-US" dirty="0"/>
                  <a:t> </a:t>
                </a:r>
                <a:r>
                  <a:rPr lang="en-US" dirty="0" err="1"/>
                  <a:t>công</a:t>
                </a:r>
                <a:r>
                  <a:rPr lang="en-US" dirty="0"/>
                  <a:t> </a:t>
                </a:r>
                <a:r>
                  <a:rPr lang="en-US" dirty="0" err="1"/>
                  <a:t>thức</a:t>
                </a:r>
                <a:r>
                  <a:rPr lang="en-US" dirty="0"/>
                  <a:t>: </a:t>
                </a: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=2.25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Trường </a:t>
                </a:r>
                <a:r>
                  <a:rPr lang="en-US" dirty="0" err="1"/>
                  <a:t>hợp</a:t>
                </a:r>
                <a:r>
                  <a:rPr lang="en-US" dirty="0"/>
                  <a:t> </a:t>
                </a:r>
                <a:r>
                  <a:rPr lang="en-US" dirty="0" err="1"/>
                  <a:t>trung</a:t>
                </a:r>
                <a:r>
                  <a:rPr lang="en-US" dirty="0"/>
                  <a:t> </a:t>
                </a:r>
                <a:r>
                  <a:rPr lang="en-US" dirty="0" err="1"/>
                  <a:t>bình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O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1.25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 err="1"/>
                  <a:t>Hiện</a:t>
                </a:r>
                <a:r>
                  <a:rPr lang="en-US" dirty="0"/>
                  <a:t> </a:t>
                </a:r>
                <a:r>
                  <a:rPr lang="en-US" dirty="0" err="1"/>
                  <a:t>tại</a:t>
                </a:r>
                <a:r>
                  <a:rPr lang="en-US" dirty="0"/>
                  <a:t> </a:t>
                </a:r>
                <a:r>
                  <a:rPr lang="en-US" dirty="0" err="1"/>
                  <a:t>chưa</a:t>
                </a:r>
                <a:r>
                  <a:rPr lang="en-US" dirty="0"/>
                  <a:t>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chứng</a:t>
                </a:r>
                <a:r>
                  <a:rPr lang="en-US" dirty="0"/>
                  <a:t> </a:t>
                </a:r>
                <a:r>
                  <a:rPr lang="en-US" dirty="0" err="1"/>
                  <a:t>minh</a:t>
                </a:r>
                <a:r>
                  <a:rPr lang="en-US" dirty="0"/>
                  <a:t> </a:t>
                </a:r>
                <a:r>
                  <a:rPr lang="en-US" dirty="0" err="1"/>
                  <a:t>cụ</a:t>
                </a:r>
                <a:r>
                  <a:rPr lang="en-US" dirty="0"/>
                  <a:t> </a:t>
                </a:r>
                <a:r>
                  <a:rPr lang="en-US" dirty="0" err="1"/>
                  <a:t>thể</a:t>
                </a:r>
                <a:r>
                  <a:rPr lang="en-US" dirty="0"/>
                  <a:t> </a:t>
                </a:r>
                <a:r>
                  <a:rPr lang="en-US" dirty="0" err="1"/>
                  <a:t>cho</a:t>
                </a:r>
                <a:r>
                  <a:rPr lang="en-US" dirty="0"/>
                  <a:t> </a:t>
                </a:r>
                <a:r>
                  <a:rPr lang="en-US" dirty="0" err="1"/>
                  <a:t>trường</a:t>
                </a:r>
                <a:r>
                  <a:rPr lang="en-US" dirty="0"/>
                  <a:t> </a:t>
                </a:r>
                <a:r>
                  <a:rPr lang="en-US" dirty="0" err="1"/>
                  <a:t>hợp</a:t>
                </a:r>
                <a:r>
                  <a:rPr lang="en-US" dirty="0"/>
                  <a:t> </a:t>
                </a:r>
                <a:r>
                  <a:rPr lang="en-US" dirty="0" err="1"/>
                  <a:t>tệ</a:t>
                </a:r>
                <a:r>
                  <a:rPr lang="en-US" dirty="0"/>
                  <a:t> </a:t>
                </a:r>
                <a:r>
                  <a:rPr lang="en-US" dirty="0" err="1"/>
                  <a:t>nhất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1EBD3E46-58B2-65CF-F1E4-C0784536FB1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47928" y="1834249"/>
                <a:ext cx="5181600" cy="5179393"/>
              </a:xfrm>
              <a:blipFill>
                <a:blip r:embed="rId3"/>
                <a:stretch>
                  <a:fillRect l="-2118" t="-2118" b="-141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14E281E2-A563-67B3-7D6C-0C38FD666677}"/>
              </a:ext>
            </a:extLst>
          </p:cNvPr>
          <p:cNvSpPr txBox="1">
            <a:spLocks/>
          </p:cNvSpPr>
          <p:nvPr/>
        </p:nvSpPr>
        <p:spPr>
          <a:xfrm>
            <a:off x="6172202" y="3429000"/>
            <a:ext cx="5181600" cy="3429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A8C31EF-71E4-99CD-FFF9-D06A1305758B}"/>
              </a:ext>
            </a:extLst>
          </p:cNvPr>
          <p:cNvSpPr txBox="1"/>
          <p:nvPr/>
        </p:nvSpPr>
        <p:spPr>
          <a:xfrm>
            <a:off x="6162474" y="1834249"/>
            <a:ext cx="5393986" cy="263149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GB" sz="11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static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1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 </a:t>
            </a:r>
            <a:r>
              <a:rPr lang="en-GB" sz="1100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CiuraEx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GB" sz="11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size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GB" sz="1100" b="0" dirty="0">
              <a:effectLst/>
            </a:endParaRPr>
          </a:p>
          <a:p>
            <a:pPr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{</a:t>
            </a:r>
            <a:endParaRPr lang="en-GB" sz="1100" b="0" dirty="0">
              <a:effectLst/>
            </a:endParaRPr>
          </a:p>
          <a:p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1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1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[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4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10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23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57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132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301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701</a:t>
            </a:r>
            <a:r>
              <a:rPr lang="en-GB" sz="1100" dirty="0">
                <a:solidFill>
                  <a:srgbClr val="CCCCCC"/>
                </a:solidFill>
                <a:latin typeface="Courier New" panose="02070309020205020404" pitchFamily="49" charset="0"/>
              </a:rPr>
              <a:t>, </a:t>
            </a:r>
            <a:r>
              <a:rPr lang="en-GB" sz="1100" dirty="0">
                <a:solidFill>
                  <a:srgbClr val="B5CEA8"/>
                </a:solidFill>
                <a:latin typeface="Courier New" panose="02070309020205020404" pitchFamily="49" charset="0"/>
              </a:rPr>
              <a:t>1750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];</a:t>
            </a:r>
            <a:endParaRPr lang="en-GB" sz="1100" b="0" dirty="0">
              <a:effectLst/>
            </a:endParaRPr>
          </a:p>
          <a:p>
            <a:pPr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   </a:t>
            </a:r>
            <a:endParaRPr lang="en-GB" sz="1100" b="0" dirty="0">
              <a:effectLst/>
            </a:endParaRPr>
          </a:p>
          <a:p>
            <a:pPr rtl="0">
              <a:buNone/>
            </a:pPr>
            <a:r>
              <a:rPr lang="en-GB" sz="1100" b="0" i="0" u="none" strike="noStrike" dirty="0">
                <a:solidFill>
                  <a:srgbClr val="6A9955"/>
                </a:solidFill>
                <a:effectLst/>
                <a:latin typeface="Courier New" panose="02070309020205020404" pitchFamily="49" charset="0"/>
              </a:rPr>
              <a:t>    // </a:t>
            </a:r>
            <a:r>
              <a:rPr lang="en-GB" sz="1100" b="0" i="0" u="none" strike="noStrike" dirty="0" err="1">
                <a:solidFill>
                  <a:srgbClr val="6A9955"/>
                </a:solidFill>
                <a:effectLst/>
                <a:latin typeface="Courier New" panose="02070309020205020404" pitchFamily="49" charset="0"/>
              </a:rPr>
              <a:t>phần</a:t>
            </a:r>
            <a:r>
              <a:rPr lang="en-GB" sz="1100" b="0" i="0" u="none" strike="noStrike" dirty="0">
                <a:solidFill>
                  <a:srgbClr val="6A9955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 err="1">
                <a:solidFill>
                  <a:srgbClr val="6A9955"/>
                </a:solidFill>
                <a:effectLst/>
                <a:latin typeface="Courier New" panose="02070309020205020404" pitchFamily="49" charset="0"/>
              </a:rPr>
              <a:t>mở</a:t>
            </a:r>
            <a:r>
              <a:rPr lang="en-GB" sz="1100" b="0" i="0" u="none" strike="noStrike" dirty="0">
                <a:solidFill>
                  <a:srgbClr val="6A9955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 err="1">
                <a:solidFill>
                  <a:srgbClr val="6A9955"/>
                </a:solidFill>
                <a:effectLst/>
                <a:latin typeface="Courier New" panose="02070309020205020404" pitchFamily="49" charset="0"/>
              </a:rPr>
              <a:t>rộng</a:t>
            </a:r>
            <a:endParaRPr lang="en-GB" sz="1100" b="0" dirty="0">
              <a:effectLst/>
            </a:endParaRPr>
          </a:p>
          <a:p>
            <a:pPr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1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double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maxgap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1750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en-GB" sz="1100" b="0" dirty="0">
              <a:effectLst/>
            </a:endParaRPr>
          </a:p>
          <a:p>
            <a:pPr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1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while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((</a:t>
            </a:r>
            <a:r>
              <a:rPr lang="en-GB" sz="11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maxgap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*=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2.25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size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 rtl="0">
              <a:buNone/>
            </a:pPr>
            <a:r>
              <a:rPr lang="en-GB" sz="1100" dirty="0">
                <a:solidFill>
                  <a:srgbClr val="CCCCCC"/>
                </a:solidFill>
                <a:latin typeface="Courier New" panose="02070309020205020404" pitchFamily="49" charset="0"/>
              </a:rPr>
              <a:t>    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{</a:t>
            </a:r>
            <a:endParaRPr lang="en-GB" sz="1100" b="0" dirty="0">
              <a:effectLst/>
            </a:endParaRPr>
          </a:p>
          <a:p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</a:t>
            </a:r>
            <a:r>
              <a:rPr lang="en-GB" sz="1100" dirty="0">
                <a:solidFill>
                  <a:srgbClr val="569CD6"/>
                </a:solidFill>
                <a:latin typeface="Courier New" panose="02070309020205020404" pitchFamily="49" charset="0"/>
              </a:rPr>
              <a:t>int </a:t>
            </a:r>
            <a:r>
              <a:rPr lang="en-GB" sz="1100" dirty="0">
                <a:solidFill>
                  <a:srgbClr val="9CDCFE"/>
                </a:solidFill>
                <a:latin typeface="Courier New" panose="02070309020205020404" pitchFamily="49" charset="0"/>
              </a:rPr>
              <a:t>floor </a:t>
            </a:r>
            <a:r>
              <a:rPr lang="en-GB" sz="1100" dirty="0">
                <a:solidFill>
                  <a:srgbClr val="D4D4D4"/>
                </a:solidFill>
                <a:latin typeface="Courier New" panose="02070309020205020404" pitchFamily="49" charset="0"/>
              </a:rPr>
              <a:t>= </a:t>
            </a:r>
            <a:r>
              <a:rPr lang="en-GB" sz="1100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en-GB" sz="1100" dirty="0">
                <a:solidFill>
                  <a:srgbClr val="569CD6"/>
                </a:solidFill>
                <a:latin typeface="Courier New" panose="02070309020205020404" pitchFamily="49" charset="0"/>
              </a:rPr>
              <a:t>int</a:t>
            </a:r>
            <a:r>
              <a:rPr lang="en-GB" sz="1100" dirty="0">
                <a:solidFill>
                  <a:srgbClr val="CCCCCC"/>
                </a:solidFill>
                <a:latin typeface="Courier New" panose="02070309020205020404" pitchFamily="49" charset="0"/>
              </a:rPr>
              <a:t>)</a:t>
            </a:r>
            <a:r>
              <a:rPr lang="en-GB" sz="1100" dirty="0" err="1">
                <a:solidFill>
                  <a:srgbClr val="4EC9B0"/>
                </a:solidFill>
                <a:latin typeface="Courier New" panose="02070309020205020404" pitchFamily="49" charset="0"/>
              </a:rPr>
              <a:t>Math</a:t>
            </a:r>
            <a:r>
              <a:rPr lang="en-GB" sz="1100" dirty="0" err="1">
                <a:solidFill>
                  <a:srgbClr val="D4D4D4"/>
                </a:solidFill>
                <a:latin typeface="Courier New" panose="02070309020205020404" pitchFamily="49" charset="0"/>
              </a:rPr>
              <a:t>.</a:t>
            </a:r>
            <a:r>
              <a:rPr lang="en-GB" sz="1100" dirty="0" err="1">
                <a:solidFill>
                  <a:srgbClr val="DCDCAA"/>
                </a:solidFill>
                <a:latin typeface="Courier New" panose="02070309020205020404" pitchFamily="49" charset="0"/>
              </a:rPr>
              <a:t>Round</a:t>
            </a:r>
            <a:r>
              <a:rPr lang="en-GB" sz="1100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en-GB" sz="1100" dirty="0" err="1">
                <a:solidFill>
                  <a:srgbClr val="9CDCFE"/>
                </a:solidFill>
                <a:latin typeface="Courier New" panose="02070309020205020404" pitchFamily="49" charset="0"/>
              </a:rPr>
              <a:t>maxgap</a:t>
            </a:r>
            <a:r>
              <a:rPr lang="en-GB" sz="1100" dirty="0">
                <a:solidFill>
                  <a:srgbClr val="CCCCCC"/>
                </a:solidFill>
                <a:latin typeface="Courier New" panose="02070309020205020404" pitchFamily="49" charset="0"/>
              </a:rPr>
              <a:t>);</a:t>
            </a:r>
            <a:endParaRPr lang="en-GB" sz="1100" b="0" i="0" u="none" strike="noStrike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  <a:p>
            <a:r>
              <a:rPr lang="en-GB" sz="1100" dirty="0">
                <a:solidFill>
                  <a:srgbClr val="CCCCCC"/>
                </a:solidFill>
                <a:latin typeface="Courier New" panose="02070309020205020404" pitchFamily="49" charset="0"/>
              </a:rPr>
              <a:t>        </a:t>
            </a:r>
            <a:r>
              <a:rPr lang="en-GB" sz="11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100" b="0" i="0" u="none" strike="noStrike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GB" sz="1100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Add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GB" sz="1100" dirty="0">
                <a:solidFill>
                  <a:srgbClr val="9CDCFE"/>
                </a:solidFill>
                <a:latin typeface="Courier New" panose="02070309020205020404" pitchFamily="49" charset="0"/>
              </a:rPr>
              <a:t>floor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);</a:t>
            </a:r>
            <a:endParaRPr lang="en-GB" sz="1100" b="0" dirty="0">
              <a:effectLst/>
            </a:endParaRPr>
          </a:p>
          <a:p>
            <a:r>
              <a:rPr lang="en-GB" sz="1100" dirty="0">
                <a:solidFill>
                  <a:srgbClr val="CCCCCC"/>
                </a:solidFill>
                <a:latin typeface="Courier New" panose="02070309020205020404" pitchFamily="49" charset="0"/>
              </a:rPr>
              <a:t>    }</a:t>
            </a:r>
            <a:endParaRPr lang="en-GB" sz="1100" b="0" i="0" u="none" strike="noStrike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  <a:p>
            <a:pPr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</a:t>
            </a:r>
            <a:endParaRPr lang="en-GB" sz="1100" b="0" dirty="0">
              <a:effectLst/>
            </a:endParaRPr>
          </a:p>
          <a:p>
            <a:pPr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1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100" b="0" i="0" u="none" strike="noStrike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GB" sz="1100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Reverse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();</a:t>
            </a:r>
            <a:endParaRPr lang="en-GB" sz="1100" b="0" dirty="0">
              <a:effectLst/>
            </a:endParaRPr>
          </a:p>
          <a:p>
            <a:pPr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1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return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en-GB" sz="1100" b="0" dirty="0">
              <a:effectLst/>
            </a:endParaRPr>
          </a:p>
          <a:p>
            <a:pPr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}</a:t>
            </a:r>
            <a:endParaRPr lang="en-GB" sz="1100" b="0" dirty="0">
              <a:effectLst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E12CBA-FC69-164B-92DC-125E7EDA389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68607"/>
          <a:stretch>
            <a:fillRect/>
          </a:stretch>
        </p:blipFill>
        <p:spPr>
          <a:xfrm>
            <a:off x="6162475" y="4423945"/>
            <a:ext cx="5393986" cy="1011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528217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D30C4-9C86-3E59-DB8D-4131E3A22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7EEE7A7-1FD1-C9C4-BE4D-C45E54BEA1D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Thực </a:t>
                </a:r>
                <a:r>
                  <a:rPr lang="en-US" dirty="0" err="1"/>
                  <a:t>nghiệm</a:t>
                </a:r>
                <a:r>
                  <a:rPr lang="en-US" dirty="0"/>
                  <a:t> </a:t>
                </a:r>
                <a:r>
                  <a:rPr lang="en-US" dirty="0" err="1"/>
                  <a:t>với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=1149471</m:t>
                    </m:r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1000</m:t>
                    </m:r>
                  </m:oMath>
                </a14:m>
                <a:r>
                  <a:rPr lang="en-GB" dirty="0"/>
                  <a:t> </a:t>
                </a:r>
                <a:r>
                  <a:rPr lang="en-GB" dirty="0" err="1"/>
                  <a:t>lần</a:t>
                </a:r>
                <a:r>
                  <a:rPr lang="en-GB" dirty="0"/>
                  <a:t> </a:t>
                </a:r>
                <a:r>
                  <a:rPr lang="en-GB" dirty="0" err="1"/>
                  <a:t>chạy</a:t>
                </a:r>
                <a:r>
                  <a:rPr lang="en-GB" dirty="0"/>
                  <a:t>. </a:t>
                </a:r>
                <a:r>
                  <a:rPr lang="en-GB" dirty="0" err="1"/>
                  <a:t>Độ</a:t>
                </a:r>
                <a:r>
                  <a:rPr lang="en-GB" dirty="0"/>
                  <a:t> </a:t>
                </a:r>
                <a:r>
                  <a:rPr lang="en-GB" dirty="0" err="1"/>
                  <a:t>phức</a:t>
                </a:r>
                <a:r>
                  <a:rPr lang="en-GB" dirty="0"/>
                  <a:t> </a:t>
                </a:r>
                <a:r>
                  <a:rPr lang="en-GB" dirty="0" err="1"/>
                  <a:t>tạp</a:t>
                </a:r>
                <a:r>
                  <a:rPr lang="en-GB" dirty="0"/>
                  <a:t> </a:t>
                </a:r>
                <a:r>
                  <a:rPr lang="en-GB" dirty="0" err="1"/>
                  <a:t>xấp</a:t>
                </a:r>
                <a:r>
                  <a:rPr lang="en-GB" dirty="0"/>
                  <a:t> </a:t>
                </a:r>
                <a:r>
                  <a:rPr lang="en-GB" dirty="0" err="1"/>
                  <a:t>xỉ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1.25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7EEE7A7-1FD1-C9C4-BE4D-C45E54BEA1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3364" b="-225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1A944728-10FB-04C7-33FF-7C38B69BE1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071" y="1690688"/>
            <a:ext cx="10621857" cy="5982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71437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BFF1962-8CB2-34D5-7ACA-3D7258D259C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Thống </a:t>
                </a:r>
                <a:r>
                  <a:rPr lang="en-US" dirty="0" err="1"/>
                  <a:t>kê</a:t>
                </a:r>
                <a:r>
                  <a:rPr lang="en-US" dirty="0"/>
                  <a:t> </a:t>
                </a:r>
                <a:r>
                  <a:rPr lang="en-US" dirty="0" err="1"/>
                  <a:t>độ</a:t>
                </a:r>
                <a:r>
                  <a:rPr lang="en-US" dirty="0"/>
                  <a:t> </a:t>
                </a:r>
                <a:r>
                  <a:rPr lang="en-US" dirty="0" err="1"/>
                  <a:t>phức</a:t>
                </a:r>
                <a:r>
                  <a:rPr lang="en-US" dirty="0"/>
                  <a:t> </a:t>
                </a:r>
                <a:r>
                  <a:rPr lang="en-US" dirty="0" err="1"/>
                  <a:t>tạp</a:t>
                </a:r>
                <a:r>
                  <a:rPr lang="en-US" dirty="0"/>
                  <a:t> </a:t>
                </a:r>
                <a:r>
                  <a:rPr lang="en-US" dirty="0" err="1"/>
                  <a:t>trung</a:t>
                </a:r>
                <a:r>
                  <a:rPr lang="en-US" dirty="0"/>
                  <a:t> </a:t>
                </a:r>
                <a:r>
                  <a:rPr lang="en-US" dirty="0" err="1"/>
                  <a:t>bình</a:t>
                </a:r>
                <a:r>
                  <a:rPr lang="en-US" dirty="0"/>
                  <a:t> </a:t>
                </a:r>
                <a:r>
                  <a:rPr lang="en-US" dirty="0" err="1"/>
                  <a:t>các</a:t>
                </a:r>
                <a:r>
                  <a:rPr lang="en-US" dirty="0"/>
                  <a:t> </a:t>
                </a:r>
                <a:r>
                  <a:rPr lang="en-US" dirty="0" err="1"/>
                  <a:t>phần</a:t>
                </a:r>
                <a:r>
                  <a:rPr lang="en-US" dirty="0"/>
                  <a:t> </a:t>
                </a:r>
                <a:r>
                  <a:rPr lang="en-US" dirty="0" err="1"/>
                  <a:t>tử</a:t>
                </a:r>
                <a:r>
                  <a:rPr lang="en-US" dirty="0"/>
                  <a:t>	</a:t>
                </a:r>
                <a:r>
                  <a:rPr lang="en-GB" dirty="0"/>
                  <a:t> </a:t>
                </a:r>
                <a:r>
                  <a:rPr lang="en-GB" dirty="0" err="1"/>
                  <a:t>chạy</a:t>
                </a:r>
                <a:r>
                  <a:rPr lang="en-GB" dirty="0"/>
                  <a:t> </a:t>
                </a:r>
                <a:r>
                  <a:rPr lang="en-GB" dirty="0" err="1"/>
                  <a:t>trên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1000</m:t>
                    </m:r>
                  </m:oMath>
                </a14:m>
                <a:r>
                  <a:rPr lang="en-GB" dirty="0"/>
                  <a:t> </a:t>
                </a:r>
                <a:r>
                  <a:rPr lang="en-GB" dirty="0" err="1"/>
                  <a:t>lần</a:t>
                </a:r>
                <a:r>
                  <a:rPr lang="en-GB" dirty="0"/>
                  <a:t> (</a:t>
                </a:r>
                <a:r>
                  <a:rPr lang="en-GB" dirty="0" err="1"/>
                  <a:t>từ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13</m:t>
                        </m:r>
                      </m:sup>
                    </m:sSup>
                  </m:oMath>
                </a14:m>
                <a:r>
                  <a:rPr lang="en-GB" dirty="0"/>
                  <a:t> </a:t>
                </a:r>
                <a:r>
                  <a:rPr lang="en-GB" dirty="0" err="1"/>
                  <a:t>đến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19</m:t>
                        </m:r>
                      </m:sup>
                    </m:sSup>
                  </m:oMath>
                </a14:m>
                <a:r>
                  <a:rPr lang="en-GB" dirty="0"/>
                  <a:t> </a:t>
                </a:r>
                <a:r>
                  <a:rPr lang="en-GB" dirty="0" err="1"/>
                  <a:t>phần</a:t>
                </a:r>
                <a:r>
                  <a:rPr lang="en-GB" dirty="0"/>
                  <a:t> </a:t>
                </a:r>
                <a:r>
                  <a:rPr lang="en-GB" dirty="0" err="1"/>
                  <a:t>tử</a:t>
                </a:r>
                <a:r>
                  <a:rPr lang="en-GB" dirty="0"/>
                  <a:t>):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BFF1962-8CB2-34D5-7ACA-3D7258D259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2903" b="-2212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E44575F5-88B0-4059-1D62-E12FA597B94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76577222"/>
              </p:ext>
            </p:extLst>
          </p:nvPr>
        </p:nvGraphicFramePr>
        <p:xfrm>
          <a:off x="2943225" y="1690689"/>
          <a:ext cx="6305550" cy="51673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58504361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941EC4-09AC-3A5D-DD97-C9CEE975B1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DDC5D-0618-4F96-2804-1233F933E8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8. </a:t>
            </a:r>
            <a:r>
              <a:rPr lang="en-US" dirty="0" err="1"/>
              <a:t>Tính</a:t>
            </a:r>
            <a:r>
              <a:rPr lang="en-US" dirty="0"/>
              <a:t> </a:t>
            </a:r>
            <a:r>
              <a:rPr lang="en-US" dirty="0" err="1"/>
              <a:t>ổn</a:t>
            </a:r>
            <a:r>
              <a:rPr lang="en-US" dirty="0"/>
              <a:t> </a:t>
            </a:r>
            <a:r>
              <a:rPr lang="en-US" dirty="0" err="1"/>
              <a:t>định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BD7B063-C285-EA16-0C68-AAD3AED50E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Shell Sort </a:t>
                </a:r>
                <a:r>
                  <a:rPr lang="en-US" dirty="0" err="1"/>
                  <a:t>không</a:t>
                </a:r>
                <a:r>
                  <a:rPr lang="en-US" dirty="0"/>
                  <a:t> </a:t>
                </a:r>
                <a:r>
                  <a:rPr lang="en-US" dirty="0" err="1"/>
                  <a:t>ổn</a:t>
                </a:r>
                <a:r>
                  <a:rPr lang="en-US" dirty="0"/>
                  <a:t> </a:t>
                </a:r>
                <a:r>
                  <a:rPr lang="en-US" dirty="0" err="1"/>
                  <a:t>định</a:t>
                </a:r>
                <a:r>
                  <a:rPr lang="en-US" dirty="0"/>
                  <a:t>: </a:t>
                </a:r>
                <a:r>
                  <a:rPr lang="en-US" dirty="0" err="1"/>
                  <a:t>Không</a:t>
                </a:r>
                <a:r>
                  <a:rPr lang="en-US" dirty="0"/>
                  <a:t> </a:t>
                </a:r>
                <a:r>
                  <a:rPr lang="en-US" dirty="0" err="1"/>
                  <a:t>duy</a:t>
                </a:r>
                <a:r>
                  <a:rPr lang="en-US" dirty="0"/>
                  <a:t> </a:t>
                </a:r>
                <a:r>
                  <a:rPr lang="en-US" dirty="0" err="1"/>
                  <a:t>trì</a:t>
                </a:r>
                <a:r>
                  <a:rPr lang="en-US" dirty="0"/>
                  <a:t> </a:t>
                </a:r>
                <a:r>
                  <a:rPr lang="en-US" dirty="0" err="1"/>
                  <a:t>được</a:t>
                </a:r>
                <a:r>
                  <a:rPr lang="en-US" dirty="0"/>
                  <a:t> </a:t>
                </a:r>
                <a:r>
                  <a:rPr lang="en-US" dirty="0" err="1"/>
                  <a:t>thứ</a:t>
                </a:r>
                <a:r>
                  <a:rPr lang="en-US" dirty="0"/>
                  <a:t> </a:t>
                </a:r>
                <a:r>
                  <a:rPr lang="en-US" dirty="0" err="1"/>
                  <a:t>tự</a:t>
                </a:r>
                <a:r>
                  <a:rPr lang="en-US" dirty="0"/>
                  <a:t> </a:t>
                </a:r>
                <a:r>
                  <a:rPr lang="en-US" dirty="0" err="1"/>
                  <a:t>của</a:t>
                </a:r>
                <a:r>
                  <a:rPr lang="en-US" dirty="0"/>
                  <a:t> </a:t>
                </a:r>
                <a:r>
                  <a:rPr lang="en-US" dirty="0" err="1"/>
                  <a:t>các</a:t>
                </a:r>
                <a:r>
                  <a:rPr lang="en-US" dirty="0"/>
                  <a:t> </a:t>
                </a:r>
                <a:r>
                  <a:rPr lang="en-US" dirty="0" err="1"/>
                  <a:t>giá</a:t>
                </a:r>
                <a:r>
                  <a:rPr lang="en-US" dirty="0"/>
                  <a:t> </a:t>
                </a:r>
                <a:r>
                  <a:rPr lang="en-US" dirty="0" err="1"/>
                  <a:t>trị</a:t>
                </a:r>
                <a:r>
                  <a:rPr lang="en-US" dirty="0"/>
                  <a:t> </a:t>
                </a:r>
                <a:r>
                  <a:rPr lang="en-US" dirty="0" err="1"/>
                  <a:t>bằng</a:t>
                </a:r>
                <a:r>
                  <a:rPr lang="en-US" dirty="0"/>
                  <a:t> </a:t>
                </a:r>
                <a:r>
                  <a:rPr lang="en-US" dirty="0" err="1"/>
                  <a:t>nhau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Ví</a:t>
                </a:r>
                <a:r>
                  <a:rPr lang="en-US" dirty="0"/>
                  <a:t> </a:t>
                </a:r>
                <a:r>
                  <a:rPr lang="en-US" dirty="0" err="1"/>
                  <a:t>dụ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3, 2,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1]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r>
                  <a:rPr lang="en-US" dirty="0"/>
                  <a:t>Với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lang="en-US" dirty="0"/>
                  <a:t>. </a:t>
                </a:r>
              </a:p>
              <a:p>
                <a:pPr marL="0" indent="0">
                  <a:buNone/>
                </a:pPr>
                <a:r>
                  <a:rPr lang="en-US" dirty="0"/>
                  <a:t>Ta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[4]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chèn</a:t>
                </a:r>
                <a:r>
                  <a:rPr lang="en-US" dirty="0"/>
                  <a:t> </a:t>
                </a:r>
                <a:r>
                  <a:rPr lang="en-US" dirty="0" err="1"/>
                  <a:t>vào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en-US" dirty="0"/>
                  <a:t>. </a:t>
                </a:r>
                <a:r>
                  <a:rPr lang="en-US" dirty="0" err="1"/>
                  <a:t>Mảng</a:t>
                </a:r>
                <a:r>
                  <a:rPr lang="en-US" dirty="0"/>
                  <a:t> </a:t>
                </a:r>
                <a:r>
                  <a:rPr lang="en-US" dirty="0" err="1"/>
                  <a:t>lúc</a:t>
                </a:r>
                <a:r>
                  <a:rPr lang="en-US" dirty="0"/>
                  <a:t> </a:t>
                </a:r>
                <a:r>
                  <a:rPr lang="en-US" dirty="0" err="1"/>
                  <a:t>này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dirty="0"/>
                  <a:t>: 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=[1, 3, 2,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5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r>
                  <a:rPr lang="en-US" dirty="0"/>
                  <a:t>Sau </a:t>
                </a:r>
                <a:r>
                  <a:rPr lang="en-US" dirty="0" err="1"/>
                  <a:t>khi</a:t>
                </a:r>
                <a:r>
                  <a:rPr lang="en-US" dirty="0"/>
                  <a:t> </a:t>
                </a:r>
                <a:r>
                  <a:rPr lang="en-US" dirty="0" err="1"/>
                  <a:t>sắp</a:t>
                </a:r>
                <a:r>
                  <a:rPr lang="en-US" dirty="0"/>
                  <a:t> </a:t>
                </a:r>
                <a:r>
                  <a:rPr lang="en-US" dirty="0" err="1"/>
                  <a:t>xếp</a:t>
                </a:r>
                <a:r>
                  <a:rPr lang="en-US" dirty="0"/>
                  <a:t> ta </a:t>
                </a:r>
                <a:r>
                  <a:rPr lang="en-US" dirty="0" err="1"/>
                  <a:t>được</a:t>
                </a:r>
                <a:r>
                  <a:rPr lang="en-US" dirty="0"/>
                  <a:t> </a:t>
                </a:r>
                <a:r>
                  <a:rPr lang="en-US" dirty="0" err="1"/>
                  <a:t>mảng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=[1, 2, 3,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5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5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Như </a:t>
                </a:r>
                <a:r>
                  <a:rPr lang="en-US" dirty="0" err="1"/>
                  <a:t>vậy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dirty="0"/>
                  <a:t> </a:t>
                </a:r>
                <a:r>
                  <a:rPr lang="en-US" dirty="0" err="1"/>
                  <a:t>để</a:t>
                </a:r>
                <a:r>
                  <a:rPr lang="en-US" dirty="0"/>
                  <a:t> </a:t>
                </a:r>
                <a:r>
                  <a:rPr lang="en-US" dirty="0" err="1"/>
                  <a:t>đánh</a:t>
                </a:r>
                <a:r>
                  <a:rPr lang="en-US" dirty="0"/>
                  <a:t> </a:t>
                </a:r>
                <a:r>
                  <a:rPr lang="en-US" dirty="0" err="1"/>
                  <a:t>đổi</a:t>
                </a:r>
                <a:r>
                  <a:rPr lang="en-US" dirty="0"/>
                  <a:t> </a:t>
                </a:r>
                <a:r>
                  <a:rPr lang="en-US" dirty="0" err="1"/>
                  <a:t>hiệu</a:t>
                </a:r>
                <a:r>
                  <a:rPr lang="en-US" dirty="0"/>
                  <a:t> </a:t>
                </a:r>
                <a:r>
                  <a:rPr lang="en-US" dirty="0" err="1"/>
                  <a:t>năng</a:t>
                </a:r>
                <a:r>
                  <a:rPr lang="en-US" dirty="0"/>
                  <a:t> </a:t>
                </a:r>
                <a:r>
                  <a:rPr lang="en-US" dirty="0" err="1"/>
                  <a:t>thì</a:t>
                </a:r>
                <a:r>
                  <a:rPr lang="en-US" dirty="0"/>
                  <a:t> Shell Sort </a:t>
                </a:r>
                <a:r>
                  <a:rPr lang="en-US" dirty="0" err="1"/>
                  <a:t>sẽ</a:t>
                </a:r>
                <a:r>
                  <a:rPr lang="en-US" dirty="0"/>
                  <a:t>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thể</a:t>
                </a:r>
                <a:r>
                  <a:rPr lang="en-US" dirty="0"/>
                  <a:t> </a:t>
                </a:r>
                <a:r>
                  <a:rPr lang="en-US" dirty="0" err="1"/>
                  <a:t>xáo</a:t>
                </a:r>
                <a:r>
                  <a:rPr lang="en-US" dirty="0"/>
                  <a:t> </a:t>
                </a:r>
                <a:r>
                  <a:rPr lang="en-US" dirty="0" err="1"/>
                  <a:t>trộn</a:t>
                </a:r>
                <a:r>
                  <a:rPr lang="en-US" dirty="0"/>
                  <a:t> </a:t>
                </a:r>
                <a:r>
                  <a:rPr lang="en-US" dirty="0" err="1"/>
                  <a:t>các</a:t>
                </a:r>
                <a:r>
                  <a:rPr lang="en-US" dirty="0"/>
                  <a:t> </a:t>
                </a:r>
                <a:r>
                  <a:rPr lang="en-US" dirty="0" err="1"/>
                  <a:t>phần</a:t>
                </a:r>
                <a:r>
                  <a:rPr lang="en-US" dirty="0"/>
                  <a:t> </a:t>
                </a:r>
                <a:r>
                  <a:rPr lang="en-US" dirty="0" err="1"/>
                  <a:t>tử</a:t>
                </a:r>
                <a:r>
                  <a:rPr lang="en-US" dirty="0"/>
                  <a:t> </a:t>
                </a:r>
                <a:r>
                  <a:rPr lang="en-US" dirty="0" err="1"/>
                  <a:t>khiến</a:t>
                </a:r>
                <a:r>
                  <a:rPr lang="en-US" dirty="0"/>
                  <a:t> </a:t>
                </a:r>
                <a:r>
                  <a:rPr lang="en-US" dirty="0" err="1"/>
                  <a:t>cho</a:t>
                </a:r>
                <a:r>
                  <a:rPr lang="en-US" dirty="0"/>
                  <a:t> </a:t>
                </a:r>
                <a:r>
                  <a:rPr lang="en-US" dirty="0" err="1"/>
                  <a:t>chúng</a:t>
                </a:r>
                <a:r>
                  <a:rPr lang="en-US" dirty="0"/>
                  <a:t> </a:t>
                </a:r>
                <a:r>
                  <a:rPr lang="en-US" dirty="0" err="1"/>
                  <a:t>lệch</a:t>
                </a:r>
                <a:r>
                  <a:rPr lang="en-US" dirty="0"/>
                  <a:t> </a:t>
                </a:r>
                <a:r>
                  <a:rPr lang="en-US" dirty="0" err="1"/>
                  <a:t>với</a:t>
                </a:r>
                <a:r>
                  <a:rPr lang="en-US" dirty="0"/>
                  <a:t> </a:t>
                </a:r>
                <a:r>
                  <a:rPr lang="en-US" dirty="0" err="1"/>
                  <a:t>thứ</a:t>
                </a:r>
                <a:r>
                  <a:rPr lang="en-US" dirty="0"/>
                  <a:t> </a:t>
                </a:r>
                <a:r>
                  <a:rPr lang="en-US" dirty="0" err="1"/>
                  <a:t>tự</a:t>
                </a:r>
                <a:r>
                  <a:rPr lang="en-US" dirty="0"/>
                  <a:t> </a:t>
                </a:r>
                <a:r>
                  <a:rPr lang="en-US" dirty="0" err="1"/>
                  <a:t>khi</a:t>
                </a:r>
                <a:r>
                  <a:rPr lang="en-US" dirty="0"/>
                  <a:t> ban </a:t>
                </a:r>
                <a:r>
                  <a:rPr lang="en-US" dirty="0" err="1"/>
                  <a:t>đầu</a:t>
                </a:r>
                <a:r>
                  <a:rPr lang="en-US" dirty="0"/>
                  <a:t> </a:t>
                </a:r>
                <a:r>
                  <a:rPr lang="en-US" dirty="0" err="1"/>
                  <a:t>chưa</a:t>
                </a:r>
                <a:r>
                  <a:rPr lang="en-US" dirty="0"/>
                  <a:t> </a:t>
                </a:r>
                <a:r>
                  <a:rPr lang="en-US" dirty="0" err="1"/>
                  <a:t>sắp</a:t>
                </a:r>
                <a:r>
                  <a:rPr lang="en-US" dirty="0"/>
                  <a:t> </a:t>
                </a:r>
                <a:r>
                  <a:rPr lang="en-US" dirty="0" err="1"/>
                  <a:t>xếp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BD7B063-C285-EA16-0C68-AAD3AED50E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71929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A4D2C5-66E4-DBB6-26CE-A38B5BD7B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9. </a:t>
            </a:r>
            <a:r>
              <a:rPr lang="en-US" dirty="0" err="1"/>
              <a:t>Tổng</a:t>
            </a:r>
            <a:r>
              <a:rPr lang="en-US" dirty="0"/>
              <a:t> </a:t>
            </a:r>
            <a:r>
              <a:rPr lang="en-US" dirty="0" err="1"/>
              <a:t>kết</a:t>
            </a:r>
            <a:br>
              <a:rPr lang="en-US" dirty="0"/>
            </a:br>
            <a:r>
              <a:rPr lang="en-US" dirty="0"/>
              <a:t>9.1. </a:t>
            </a:r>
            <a:r>
              <a:rPr lang="en-US" dirty="0" err="1"/>
              <a:t>Ưu</a:t>
            </a:r>
            <a:r>
              <a:rPr lang="en-US" dirty="0"/>
              <a:t> </a:t>
            </a:r>
            <a:r>
              <a:rPr lang="en-US" dirty="0" err="1"/>
              <a:t>điểm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DC8A41A-CE4D-49BD-A1F0-FB8E5A5074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Nhanh </a:t>
                </a:r>
                <a:r>
                  <a:rPr lang="en-US" dirty="0" err="1"/>
                  <a:t>hơn</a:t>
                </a:r>
                <a:r>
                  <a:rPr lang="en-US" dirty="0"/>
                  <a:t> </a:t>
                </a:r>
                <a:r>
                  <a:rPr lang="en-US" dirty="0" err="1"/>
                  <a:t>các</a:t>
                </a:r>
                <a:r>
                  <a:rPr lang="en-US" dirty="0"/>
                  <a:t> </a:t>
                </a:r>
                <a:r>
                  <a:rPr lang="en-US" dirty="0" err="1"/>
                  <a:t>thuật</a:t>
                </a:r>
                <a:r>
                  <a:rPr lang="en-US" dirty="0"/>
                  <a:t> </a:t>
                </a:r>
                <a:r>
                  <a:rPr lang="en-US" dirty="0" err="1"/>
                  <a:t>toán</a:t>
                </a:r>
                <a:r>
                  <a:rPr lang="en-US" dirty="0"/>
                  <a:t> </a:t>
                </a:r>
                <a:r>
                  <a:rPr lang="en-US" dirty="0" err="1"/>
                  <a:t>cổ</a:t>
                </a:r>
                <a:r>
                  <a:rPr lang="en-US" dirty="0"/>
                  <a:t> </a:t>
                </a:r>
                <a:r>
                  <a:rPr lang="en-US" dirty="0" err="1"/>
                  <a:t>điển</a:t>
                </a:r>
                <a:r>
                  <a:rPr lang="en-US" dirty="0"/>
                  <a:t> </a:t>
                </a:r>
                <a:r>
                  <a:rPr lang="en-US" dirty="0" err="1"/>
                  <a:t>khác</a:t>
                </a:r>
                <a:r>
                  <a:rPr lang="en-US" dirty="0"/>
                  <a:t> </a:t>
                </a:r>
                <a:r>
                  <a:rPr lang="en-US" dirty="0" err="1"/>
                  <a:t>như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dirty="0"/>
                  <a:t> Insertion Sort, Bubble Sort, Selection Sort.</a:t>
                </a:r>
              </a:p>
              <a:p>
                <a:r>
                  <a:rPr lang="en-US" dirty="0" err="1"/>
                  <a:t>Độ</a:t>
                </a:r>
                <a:r>
                  <a:rPr lang="en-US" dirty="0"/>
                  <a:t> </a:t>
                </a:r>
                <a:r>
                  <a:rPr lang="en-US" dirty="0" err="1"/>
                  <a:t>phức</a:t>
                </a:r>
                <a:r>
                  <a:rPr lang="en-US" dirty="0"/>
                  <a:t> </a:t>
                </a:r>
                <a:r>
                  <a:rPr lang="en-US" dirty="0" err="1"/>
                  <a:t>tạp</a:t>
                </a:r>
                <a:r>
                  <a:rPr lang="en-US" dirty="0"/>
                  <a:t> </a:t>
                </a:r>
                <a:r>
                  <a:rPr lang="en-US" dirty="0" err="1"/>
                  <a:t>không</a:t>
                </a:r>
                <a:r>
                  <a:rPr lang="en-US" dirty="0"/>
                  <a:t> </a:t>
                </a:r>
                <a:r>
                  <a:rPr lang="en-US" dirty="0" err="1"/>
                  <a:t>gian</a:t>
                </a:r>
                <a:r>
                  <a:rPr lang="en-US" dirty="0"/>
                  <a:t> </a:t>
                </a:r>
                <a:r>
                  <a:rPr lang="en-US" dirty="0" err="1"/>
                  <a:t>hằng</a:t>
                </a:r>
                <a:r>
                  <a:rPr lang="en-US" dirty="0"/>
                  <a:t> </a:t>
                </a:r>
                <a:r>
                  <a:rPr lang="en-US" dirty="0" err="1"/>
                  <a:t>số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dirty="0"/>
                  <a:t> – </a:t>
                </a:r>
                <a:r>
                  <a:rPr lang="en-US" dirty="0" err="1"/>
                  <a:t>không</a:t>
                </a:r>
                <a:r>
                  <a:rPr lang="en-US" dirty="0"/>
                  <a:t> </a:t>
                </a:r>
                <a:r>
                  <a:rPr lang="en-US" dirty="0" err="1"/>
                  <a:t>cấp</a:t>
                </a:r>
                <a:r>
                  <a:rPr lang="en-US" dirty="0"/>
                  <a:t> </a:t>
                </a:r>
                <a:r>
                  <a:rPr lang="en-US" dirty="0" err="1"/>
                  <a:t>phát</a:t>
                </a:r>
                <a:r>
                  <a:rPr lang="en-US" dirty="0"/>
                  <a:t> </a:t>
                </a:r>
                <a:r>
                  <a:rPr lang="en-US" dirty="0" err="1"/>
                  <a:t>bộ</a:t>
                </a:r>
                <a:r>
                  <a:rPr lang="en-US" dirty="0"/>
                  <a:t> </a:t>
                </a:r>
                <a:r>
                  <a:rPr lang="en-US" dirty="0" err="1"/>
                  <a:t>nhớ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Dễ</a:t>
                </a:r>
                <a:r>
                  <a:rPr lang="en-US" dirty="0"/>
                  <a:t> </a:t>
                </a:r>
                <a:r>
                  <a:rPr lang="en-US" dirty="0" err="1"/>
                  <a:t>cài</a:t>
                </a:r>
                <a:r>
                  <a:rPr lang="en-US" dirty="0"/>
                  <a:t> </a:t>
                </a:r>
                <a:r>
                  <a:rPr lang="en-US" dirty="0" err="1"/>
                  <a:t>đặt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DC8A41A-CE4D-49BD-A1F0-FB8E5A5074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D696156E-3897-9788-DD60-8E149872D952}"/>
              </a:ext>
            </a:extLst>
          </p:cNvPr>
          <p:cNvSpPr txBox="1">
            <a:spLocks/>
          </p:cNvSpPr>
          <p:nvPr/>
        </p:nvSpPr>
        <p:spPr>
          <a:xfrm>
            <a:off x="838200" y="342900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9.2. </a:t>
            </a:r>
            <a:r>
              <a:rPr lang="en-US" dirty="0" err="1"/>
              <a:t>Nhược</a:t>
            </a:r>
            <a:r>
              <a:rPr lang="en-US" dirty="0"/>
              <a:t> </a:t>
            </a:r>
            <a:r>
              <a:rPr lang="en-US" dirty="0" err="1"/>
              <a:t>điểm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755822A8-7408-2EC2-2D7A-AFED037AD0C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4578215"/>
                <a:ext cx="10515600" cy="435133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Chậm </a:t>
                </a:r>
                <a:r>
                  <a:rPr lang="en-US" dirty="0" err="1"/>
                  <a:t>hơn</a:t>
                </a:r>
                <a:r>
                  <a:rPr lang="en-US" dirty="0"/>
                  <a:t> so </a:t>
                </a:r>
                <a:r>
                  <a:rPr lang="en-US" dirty="0" err="1"/>
                  <a:t>với</a:t>
                </a:r>
                <a:r>
                  <a:rPr lang="en-US" dirty="0"/>
                  <a:t> </a:t>
                </a:r>
                <a:r>
                  <a:rPr lang="en-US" dirty="0" err="1"/>
                  <a:t>các</a:t>
                </a:r>
                <a:r>
                  <a:rPr lang="en-US" dirty="0"/>
                  <a:t> </a:t>
                </a:r>
                <a:r>
                  <a:rPr lang="en-US" dirty="0" err="1"/>
                  <a:t>thuật</a:t>
                </a:r>
                <a:r>
                  <a:rPr lang="en-US" dirty="0"/>
                  <a:t> </a:t>
                </a:r>
                <a:r>
                  <a:rPr lang="en-US" dirty="0" err="1"/>
                  <a:t>toán</a:t>
                </a:r>
                <a:r>
                  <a:rPr lang="en-US" dirty="0"/>
                  <a:t> </a:t>
                </a:r>
                <a:r>
                  <a:rPr lang="en-US" dirty="0" err="1"/>
                  <a:t>kinh</a:t>
                </a:r>
                <a:r>
                  <a:rPr lang="en-US" dirty="0"/>
                  <a:t> </a:t>
                </a:r>
                <a:r>
                  <a:rPr lang="en-US" dirty="0" err="1"/>
                  <a:t>điển</a:t>
                </a:r>
                <a:r>
                  <a:rPr lang="en-US" dirty="0"/>
                  <a:t> </a:t>
                </a:r>
                <a:r>
                  <a:rPr lang="en-US" dirty="0" err="1"/>
                  <a:t>như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dirty="0"/>
                  <a:t> Quick Sort, Merge Sort </a:t>
                </a:r>
                <a:r>
                  <a:rPr lang="en-US" dirty="0" err="1"/>
                  <a:t>và</a:t>
                </a:r>
                <a:r>
                  <a:rPr lang="en-US" dirty="0"/>
                  <a:t> Heap Sort</a:t>
                </a:r>
              </a:p>
              <a:p>
                <a:r>
                  <a:rPr lang="en-US" dirty="0" err="1"/>
                  <a:t>Chọn</a:t>
                </a:r>
                <a:r>
                  <a:rPr lang="en-US" dirty="0"/>
                  <a:t> </a:t>
                </a:r>
                <a:r>
                  <a:rPr lang="en-US" dirty="0" err="1"/>
                  <a:t>sai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thể</a:t>
                </a:r>
                <a:r>
                  <a:rPr lang="en-US" dirty="0"/>
                  <a:t> </a:t>
                </a:r>
                <a:r>
                  <a:rPr lang="en-US" dirty="0" err="1"/>
                  <a:t>đẩy</a:t>
                </a:r>
                <a:r>
                  <a:rPr lang="en-US" dirty="0"/>
                  <a:t> </a:t>
                </a:r>
                <a:r>
                  <a:rPr lang="en-US" dirty="0" err="1"/>
                  <a:t>độ</a:t>
                </a:r>
                <a:r>
                  <a:rPr lang="en-US" dirty="0"/>
                  <a:t> </a:t>
                </a:r>
                <a:r>
                  <a:rPr lang="en-US" dirty="0" err="1"/>
                  <a:t>phức</a:t>
                </a:r>
                <a:r>
                  <a:rPr lang="en-US" dirty="0"/>
                  <a:t> </a:t>
                </a:r>
                <a:r>
                  <a:rPr lang="en-US" dirty="0" err="1"/>
                  <a:t>tạp</a:t>
                </a:r>
                <a:r>
                  <a:rPr lang="en-US" dirty="0"/>
                  <a:t> </a:t>
                </a:r>
                <a:r>
                  <a:rPr lang="en-US" dirty="0" err="1"/>
                  <a:t>lên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 err="1"/>
                  <a:t>Không</a:t>
                </a:r>
                <a:r>
                  <a:rPr lang="en-US" dirty="0"/>
                  <a:t> </a:t>
                </a:r>
                <a:r>
                  <a:rPr lang="en-US" dirty="0" err="1"/>
                  <a:t>ổn</a:t>
                </a:r>
                <a:r>
                  <a:rPr lang="en-US" dirty="0"/>
                  <a:t> </a:t>
                </a:r>
                <a:r>
                  <a:rPr lang="en-US" dirty="0" err="1"/>
                  <a:t>định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755822A8-7408-2EC2-2D7A-AFED037AD0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578215"/>
                <a:ext cx="10515600" cy="4351338"/>
              </a:xfrm>
              <a:prstGeom prst="rect">
                <a:avLst/>
              </a:prstGeom>
              <a:blipFill>
                <a:blip r:embed="rId3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3802386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D6C46-804C-716C-CA47-A4E367EA5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26BF92-90D0-0BA5-5808-9C7AE2A0A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9. </a:t>
            </a:r>
            <a:r>
              <a:rPr lang="en-US" dirty="0" err="1"/>
              <a:t>Tổng</a:t>
            </a:r>
            <a:r>
              <a:rPr lang="en-US" dirty="0"/>
              <a:t> </a:t>
            </a:r>
            <a:r>
              <a:rPr lang="en-US" dirty="0" err="1"/>
              <a:t>kết</a:t>
            </a:r>
            <a:br>
              <a:rPr lang="en-US" dirty="0"/>
            </a:br>
            <a:r>
              <a:rPr lang="en-US" dirty="0"/>
              <a:t>9.3. </a:t>
            </a:r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luận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044CA5-A8FB-4AB3-3929-35F8711BDB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Shell Sort </a:t>
                </a:r>
                <a:r>
                  <a:rPr lang="en-US" dirty="0" err="1"/>
                  <a:t>là</a:t>
                </a:r>
                <a:r>
                  <a:rPr lang="en-US" dirty="0"/>
                  <a:t> </a:t>
                </a:r>
                <a:r>
                  <a:rPr lang="en-US" dirty="0" err="1"/>
                  <a:t>thuật</a:t>
                </a:r>
                <a:r>
                  <a:rPr lang="en-US" dirty="0"/>
                  <a:t> </a:t>
                </a:r>
                <a:r>
                  <a:rPr lang="en-US" dirty="0" err="1"/>
                  <a:t>toán</a:t>
                </a:r>
                <a:r>
                  <a:rPr lang="en-US" dirty="0"/>
                  <a:t> </a:t>
                </a:r>
                <a:r>
                  <a:rPr lang="en-US" dirty="0" err="1"/>
                  <a:t>sắp</a:t>
                </a:r>
                <a:r>
                  <a:rPr lang="en-US" dirty="0"/>
                  <a:t> </a:t>
                </a:r>
                <a:r>
                  <a:rPr lang="en-US" dirty="0" err="1"/>
                  <a:t>xếp</a:t>
                </a:r>
                <a:r>
                  <a:rPr lang="en-US" dirty="0"/>
                  <a:t> </a:t>
                </a:r>
                <a:r>
                  <a:rPr lang="en-US" dirty="0" err="1"/>
                  <a:t>đầu</a:t>
                </a:r>
                <a:r>
                  <a:rPr lang="en-US" dirty="0"/>
                  <a:t> </a:t>
                </a:r>
                <a:r>
                  <a:rPr lang="en-US" dirty="0" err="1"/>
                  <a:t>tiên</a:t>
                </a:r>
                <a:r>
                  <a:rPr lang="en-US" dirty="0"/>
                  <a:t> </a:t>
                </a:r>
                <a:r>
                  <a:rPr lang="en-US" dirty="0" err="1"/>
                  <a:t>loại</a:t>
                </a:r>
                <a:r>
                  <a:rPr lang="en-US" dirty="0"/>
                  <a:t> </a:t>
                </a:r>
                <a:r>
                  <a:rPr lang="en-US" dirty="0" err="1"/>
                  <a:t>bỏ</a:t>
                </a:r>
                <a:r>
                  <a:rPr lang="en-US" dirty="0"/>
                  <a:t> </a:t>
                </a:r>
                <a:r>
                  <a:rPr lang="en-US" dirty="0" err="1"/>
                  <a:t>được</a:t>
                </a:r>
                <a:r>
                  <a:rPr lang="en-US" dirty="0"/>
                  <a:t> </a:t>
                </a:r>
                <a:r>
                  <a:rPr lang="en-US" dirty="0" err="1"/>
                  <a:t>giới</a:t>
                </a:r>
                <a:r>
                  <a:rPr lang="en-US" dirty="0"/>
                  <a:t> </a:t>
                </a:r>
                <a:r>
                  <a:rPr lang="en-US" dirty="0" err="1"/>
                  <a:t>hạ</a:t>
                </a:r>
                <a:r>
                  <a:rPr lang="en-US" dirty="0"/>
                  <a:t>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O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Shell Sort </a:t>
                </a:r>
                <a:r>
                  <a:rPr lang="en-US" dirty="0" err="1"/>
                  <a:t>vẫn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dirty="0"/>
                  <a:t> </a:t>
                </a:r>
                <a:r>
                  <a:rPr lang="en-US" dirty="0" err="1"/>
                  <a:t>một</a:t>
                </a:r>
                <a:r>
                  <a:rPr lang="en-US" dirty="0"/>
                  <a:t> </a:t>
                </a:r>
                <a:r>
                  <a:rPr lang="en-US" dirty="0" err="1"/>
                  <a:t>thuật</a:t>
                </a:r>
                <a:r>
                  <a:rPr lang="en-US" dirty="0"/>
                  <a:t> </a:t>
                </a:r>
                <a:r>
                  <a:rPr lang="en-US" dirty="0" err="1"/>
                  <a:t>toán</a:t>
                </a:r>
                <a:r>
                  <a:rPr lang="en-US" dirty="0"/>
                  <a:t> </a:t>
                </a:r>
                <a:r>
                  <a:rPr lang="en-US" dirty="0" err="1"/>
                  <a:t>mở</a:t>
                </a:r>
                <a:r>
                  <a:rPr lang="en-US" dirty="0"/>
                  <a:t>, </a:t>
                </a:r>
                <a:r>
                  <a:rPr lang="en-US" dirty="0" err="1"/>
                  <a:t>cho</a:t>
                </a:r>
                <a:r>
                  <a:rPr lang="en-US" dirty="0"/>
                  <a:t> </a:t>
                </a:r>
                <a:r>
                  <a:rPr lang="en-US" dirty="0" err="1"/>
                  <a:t>đến</a:t>
                </a:r>
                <a:r>
                  <a:rPr lang="en-US" dirty="0"/>
                  <a:t> nay </a:t>
                </a:r>
                <a:r>
                  <a:rPr lang="en-US" dirty="0" err="1"/>
                  <a:t>vẫn</a:t>
                </a:r>
                <a:r>
                  <a:rPr lang="en-US" dirty="0"/>
                  <a:t>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nhiều</a:t>
                </a:r>
                <a:r>
                  <a:rPr lang="en-US" dirty="0"/>
                  <a:t> </a:t>
                </a:r>
                <a:r>
                  <a:rPr lang="en-US" dirty="0" err="1"/>
                  <a:t>nghiên</a:t>
                </a:r>
                <a:r>
                  <a:rPr lang="en-US" dirty="0"/>
                  <a:t> </a:t>
                </a:r>
                <a:r>
                  <a:rPr lang="en-US" dirty="0" err="1"/>
                  <a:t>cứu</a:t>
                </a:r>
                <a:r>
                  <a:rPr lang="en-US" dirty="0"/>
                  <a:t> </a:t>
                </a:r>
                <a:r>
                  <a:rPr lang="en-US" dirty="0" err="1"/>
                  <a:t>mới</a:t>
                </a:r>
                <a:r>
                  <a:rPr lang="en-US" dirty="0"/>
                  <a:t> </a:t>
                </a:r>
                <a:r>
                  <a:rPr lang="en-US" dirty="0" err="1"/>
                  <a:t>nhất</a:t>
                </a:r>
                <a:r>
                  <a:rPr lang="en-US" dirty="0"/>
                  <a:t> </a:t>
                </a:r>
                <a:r>
                  <a:rPr lang="en-US" dirty="0" err="1"/>
                  <a:t>cho</a:t>
                </a:r>
                <a:r>
                  <a:rPr lang="en-US" dirty="0"/>
                  <a:t> </a:t>
                </a:r>
                <a:r>
                  <a:rPr lang="en-US" dirty="0" err="1"/>
                  <a:t>thuật</a:t>
                </a:r>
                <a:r>
                  <a:rPr lang="en-US" dirty="0"/>
                  <a:t> </a:t>
                </a:r>
                <a:r>
                  <a:rPr lang="en-US" dirty="0" err="1"/>
                  <a:t>toán</a:t>
                </a:r>
                <a:r>
                  <a:rPr lang="en-US" dirty="0"/>
                  <a:t> </a:t>
                </a:r>
                <a:r>
                  <a:rPr lang="en-US" dirty="0" err="1"/>
                  <a:t>này</a:t>
                </a:r>
                <a:r>
                  <a:rPr lang="en-US" dirty="0"/>
                  <a:t> </a:t>
                </a:r>
                <a:r>
                  <a:rPr lang="en-US" dirty="0" err="1"/>
                  <a:t>về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 </a:t>
                </a:r>
                <a:r>
                  <a:rPr lang="en-US" dirty="0" err="1"/>
                  <a:t>số</a:t>
                </a:r>
                <a:r>
                  <a:rPr lang="en-US" dirty="0"/>
                  <a:t> </a:t>
                </a:r>
                <a:r>
                  <a:rPr lang="en-US" dirty="0" err="1"/>
                  <a:t>tối</a:t>
                </a:r>
                <a:r>
                  <a:rPr lang="en-US" dirty="0"/>
                  <a:t> </a:t>
                </a:r>
                <a:r>
                  <a:rPr lang="en-US" dirty="0" err="1"/>
                  <a:t>ưu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r>
                  <a:rPr lang="en-US" dirty="0" err="1"/>
                  <a:t>Độ</a:t>
                </a:r>
                <a:r>
                  <a:rPr lang="en-US" dirty="0"/>
                  <a:t> </a:t>
                </a:r>
                <a:r>
                  <a:rPr lang="en-US" dirty="0" err="1"/>
                  <a:t>phức</a:t>
                </a:r>
                <a:r>
                  <a:rPr lang="en-US" dirty="0"/>
                  <a:t> </a:t>
                </a:r>
                <a:r>
                  <a:rPr lang="en-US" dirty="0" err="1"/>
                  <a:t>tạp</a:t>
                </a:r>
                <a:r>
                  <a:rPr lang="en-US" dirty="0"/>
                  <a:t> </a:t>
                </a:r>
                <a:r>
                  <a:rPr lang="en-US" dirty="0" err="1"/>
                  <a:t>của</a:t>
                </a:r>
                <a:r>
                  <a:rPr lang="en-US" dirty="0"/>
                  <a:t> </a:t>
                </a:r>
                <a:r>
                  <a:rPr lang="en-US" dirty="0" err="1"/>
                  <a:t>thuật</a:t>
                </a:r>
                <a:r>
                  <a:rPr lang="en-US" dirty="0"/>
                  <a:t> </a:t>
                </a:r>
                <a:r>
                  <a:rPr lang="en-US" dirty="0" err="1"/>
                  <a:t>toán</a:t>
                </a:r>
                <a:r>
                  <a:rPr lang="en-US" dirty="0"/>
                  <a:t> (</a:t>
                </a:r>
                <a:r>
                  <a:rPr lang="en-US" dirty="0" err="1"/>
                  <a:t>vẫn</a:t>
                </a:r>
                <a:r>
                  <a:rPr lang="en-US" dirty="0"/>
                  <a:t> </a:t>
                </a:r>
                <a:r>
                  <a:rPr lang="en-US" dirty="0" err="1"/>
                  <a:t>phụ</a:t>
                </a:r>
                <a:r>
                  <a:rPr lang="en-US" dirty="0"/>
                  <a:t> </a:t>
                </a:r>
                <a:r>
                  <a:rPr lang="en-US" dirty="0" err="1"/>
                  <a:t>thuộc</a:t>
                </a:r>
                <a:r>
                  <a:rPr lang="en-US" dirty="0"/>
                  <a:t> </a:t>
                </a:r>
                <a:r>
                  <a:rPr lang="en-US" dirty="0" err="1"/>
                  <a:t>vào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 </a:t>
                </a:r>
                <a:r>
                  <a:rPr lang="en-US" dirty="0" err="1"/>
                  <a:t>số</a:t>
                </a:r>
                <a:r>
                  <a:rPr lang="en-US" dirty="0"/>
                  <a:t> </a:t>
                </a:r>
                <a:r>
                  <a:rPr lang="en-US" dirty="0" err="1"/>
                  <a:t>cần</a:t>
                </a:r>
                <a:r>
                  <a:rPr lang="en-US" dirty="0"/>
                  <a:t> </a:t>
                </a:r>
                <a:r>
                  <a:rPr lang="en-US" dirty="0" err="1"/>
                  <a:t>chọn</a:t>
                </a:r>
                <a:r>
                  <a:rPr lang="en-US" dirty="0"/>
                  <a:t>):</a:t>
                </a:r>
              </a:p>
              <a:p>
                <a:r>
                  <a:rPr lang="en-US" dirty="0" err="1"/>
                  <a:t>Tốt</a:t>
                </a:r>
                <a:r>
                  <a:rPr lang="en-US" dirty="0"/>
                  <a:t> </a:t>
                </a:r>
                <a:r>
                  <a:rPr lang="en-US" dirty="0" err="1"/>
                  <a:t>nhất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O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𝑁𝑙𝑜𝑔𝑁</m:t>
                        </m:r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Trung </a:t>
                </a:r>
                <a:r>
                  <a:rPr lang="en-US" dirty="0" err="1"/>
                  <a:t>bình</a:t>
                </a:r>
                <a:r>
                  <a:rPr lang="en-US" dirty="0"/>
                  <a:t> (</a:t>
                </a:r>
                <a:r>
                  <a:rPr lang="en-US" dirty="0" err="1"/>
                  <a:t>thực</a:t>
                </a:r>
                <a:r>
                  <a:rPr lang="en-US" dirty="0"/>
                  <a:t> </a:t>
                </a:r>
                <a:r>
                  <a:rPr lang="en-US" dirty="0" err="1"/>
                  <a:t>nghiệm</a:t>
                </a:r>
                <a:r>
                  <a:rPr lang="en-US" dirty="0"/>
                  <a:t>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O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1.25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 err="1"/>
                  <a:t>Tệ</a:t>
                </a:r>
                <a:r>
                  <a:rPr lang="en-US" dirty="0"/>
                  <a:t> </a:t>
                </a:r>
                <a:r>
                  <a:rPr lang="en-US" dirty="0" err="1"/>
                  <a:t>nhất</a:t>
                </a:r>
                <a:r>
                  <a:rPr lang="en-US" dirty="0"/>
                  <a:t> (</a:t>
                </a:r>
                <a:r>
                  <a:rPr lang="en-US" dirty="0" err="1"/>
                  <a:t>toán</a:t>
                </a:r>
                <a:r>
                  <a:rPr lang="en-US" dirty="0"/>
                  <a:t> </a:t>
                </a:r>
                <a:r>
                  <a:rPr lang="en-US" dirty="0" err="1"/>
                  <a:t>học</a:t>
                </a:r>
                <a:r>
                  <a:rPr lang="en-US" dirty="0"/>
                  <a:t>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O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f>
                          <m:fPr>
                            <m:type m:val="li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044CA5-A8FB-4AB3-3929-35F8711BDB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701117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25E28-5987-EFF6-BA8A-04A1DCAB40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Danh </a:t>
            </a:r>
            <a:r>
              <a:rPr lang="en-US" dirty="0" err="1"/>
              <a:t>mục</a:t>
            </a:r>
            <a:r>
              <a:rPr lang="en-US" dirty="0"/>
              <a:t> </a:t>
            </a:r>
            <a:r>
              <a:rPr lang="en-US" dirty="0" err="1"/>
              <a:t>tham</a:t>
            </a:r>
            <a:r>
              <a:rPr lang="en-US" dirty="0"/>
              <a:t> </a:t>
            </a:r>
            <a:r>
              <a:rPr lang="en-US" dirty="0" err="1"/>
              <a:t>khảo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E99657-2281-C648-90BF-5AA7412A1B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The worst case in Shell Sort and Related Algorithms – Bjorn </a:t>
            </a:r>
            <a:r>
              <a:rPr lang="en-US" dirty="0" err="1"/>
              <a:t>Poonen</a:t>
            </a:r>
            <a:endParaRPr lang="en-US" dirty="0"/>
          </a:p>
          <a:p>
            <a:r>
              <a:rPr lang="en-US" dirty="0" err="1"/>
              <a:t>Giải</a:t>
            </a:r>
            <a:r>
              <a:rPr lang="en-US" dirty="0"/>
              <a:t> </a:t>
            </a:r>
            <a:r>
              <a:rPr lang="en-US" dirty="0" err="1"/>
              <a:t>thuật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lập</a:t>
            </a:r>
            <a:r>
              <a:rPr lang="en-US" dirty="0"/>
              <a:t> </a:t>
            </a:r>
            <a:r>
              <a:rPr lang="en-US" dirty="0" err="1"/>
              <a:t>trình</a:t>
            </a:r>
            <a:r>
              <a:rPr lang="en-US" dirty="0"/>
              <a:t> – Lê Minh Hoàng</a:t>
            </a:r>
          </a:p>
          <a:p>
            <a:r>
              <a:rPr lang="en-US" dirty="0" err="1"/>
              <a:t>GeeksforGeeks</a:t>
            </a:r>
            <a:r>
              <a:rPr lang="en-US" dirty="0"/>
              <a:t> – Shell Sort, Insertion Sort</a:t>
            </a:r>
          </a:p>
          <a:p>
            <a:r>
              <a:rPr lang="en-US" dirty="0"/>
              <a:t>Wikipedia – </a:t>
            </a:r>
            <a:r>
              <a:rPr lang="en-US" dirty="0" err="1"/>
              <a:t>Shellsort</a:t>
            </a:r>
            <a:endParaRPr lang="en-US" dirty="0"/>
          </a:p>
          <a:p>
            <a:r>
              <a:rPr lang="en-US" dirty="0"/>
              <a:t>Hibbard – Communications of the ACM Volume 6, Issue 5 – An Empirical Study of Minimal Storage Sorting</a:t>
            </a:r>
          </a:p>
          <a:p>
            <a:r>
              <a:rPr lang="en-US" dirty="0"/>
              <a:t>Knuth – The Art of Computer Programming Vol 3</a:t>
            </a:r>
          </a:p>
          <a:p>
            <a:r>
              <a:rPr lang="en-US" dirty="0"/>
              <a:t>Robert Sedgewick – A New Upper Bound for </a:t>
            </a:r>
            <a:r>
              <a:rPr lang="en-US" dirty="0" err="1"/>
              <a:t>Shellsort</a:t>
            </a:r>
            <a:endParaRPr lang="en-GB" dirty="0"/>
          </a:p>
          <a:p>
            <a:r>
              <a:rPr lang="en-US" dirty="0"/>
              <a:t>Robert Sedgewick – Improving Upper Bound for </a:t>
            </a:r>
            <a:r>
              <a:rPr lang="en-US" dirty="0" err="1"/>
              <a:t>Shellsort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14216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2038</TotalTime>
  <Words>3854</Words>
  <Application>Microsoft Office PowerPoint</Application>
  <PresentationFormat>Widescreen</PresentationFormat>
  <Paragraphs>969</Paragraphs>
  <Slides>82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82</vt:i4>
      </vt:variant>
    </vt:vector>
  </HeadingPairs>
  <TitlesOfParts>
    <vt:vector size="89" baseType="lpstr">
      <vt:lpstr>Aptos</vt:lpstr>
      <vt:lpstr>Aptos Display</vt:lpstr>
      <vt:lpstr>Arial</vt:lpstr>
      <vt:lpstr>Cambria Math</vt:lpstr>
      <vt:lpstr>Courier New</vt:lpstr>
      <vt:lpstr>Times New Roman</vt:lpstr>
      <vt:lpstr>Office Theme</vt:lpstr>
      <vt:lpstr>Sắp xếp chèn với độ dài bước giảm dần – Shell Sort</vt:lpstr>
      <vt:lpstr>1. Insertion Sort 1.1. Tóm tắt ý tưởng và thuật toán</vt:lpstr>
      <vt:lpstr>Cài đặt Insertion Sort tăng dần (mảng chạy trong đoạn [left, right]):</vt:lpstr>
      <vt:lpstr>1.2. Ưu điểm:</vt:lpstr>
      <vt:lpstr>2. Sự ra đời của Shell Sort</vt:lpstr>
      <vt:lpstr>2. THUẬT TOÁN SHELL SORT 2.1. Tư tưởng thuật toán</vt:lpstr>
      <vt:lpstr>Ví dụ: dãy [62, 83, 18, 53, 7, 17, 95, 86, 47, 69, 25, 28], n=12. Chọn h=5 ta có 2 dãy con: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4. Cài đặt tổng quát (Generic)</vt:lpstr>
      <vt:lpstr>Output</vt:lpstr>
      <vt:lpstr>5. Trường hợp tốt nhất cho mọi dãy khoảng cách</vt:lpstr>
      <vt:lpstr>Sử dụng dãy của Sedgewick 1982, lấy  N=4^9+3∙2^8+2, chạy 1000 lần.</vt:lpstr>
      <vt:lpstr>6. Các dãy khoảng cách cổ điển 6.1. Shell (1959)</vt:lpstr>
      <vt:lpstr>Trường hợp tệ nhất với N=2^20, 1 lần chạy. Độ phức tạp là O(N^2).</vt:lpstr>
      <vt:lpstr>Thực nghiệm với N=2^20, 1000 lần chạy Độ phức tạp xấp xỉ O(N^1.6 ).</vt:lpstr>
      <vt:lpstr>6. Các dãy khoảng cách cổ điển 6.2. Hibbard (1963)</vt:lpstr>
      <vt:lpstr>Thực nghiệm với N=10^6, 1000 lần chạy Độ phức tạp trung bình xấp xỉ O(N^1.33).</vt:lpstr>
      <vt:lpstr>6. Các dãy khoảng cách cổ điển 6.3. Pratt (1971)</vt:lpstr>
      <vt:lpstr>Thực nghiệm với N=2^20, 1000 lần chạy Độ phức tạp xấp xỉ O(N (log^2 N)/2)</vt:lpstr>
      <vt:lpstr>6. Các dãy khoảng cách cổ điển 6.4. Sedgewick (1982)</vt:lpstr>
      <vt:lpstr>Thực nghiệm với N=4^10+3∙2^9+1, 1000 lần chạy. Độ phức tạp xấp xỉ O(N^1.25).</vt:lpstr>
      <vt:lpstr>7. Một trong những dãy khoảng cách hiện đại – Ciura mở rộng (2001)</vt:lpstr>
      <vt:lpstr>Thực nghiệm với N=1149471, 1000 lần chạy. Độ phức tạp xấp xỉ O(N^1.25).</vt:lpstr>
      <vt:lpstr>Thống kê độ phức tạp trung bình các phần tử  chạy trên 1000 lần (từ 2^13 đến 2^19 phần tử):</vt:lpstr>
      <vt:lpstr>8. Tính ổn định</vt:lpstr>
      <vt:lpstr>9. Tổng kết 9.1. Ưu điểm</vt:lpstr>
      <vt:lpstr>9. Tổng kết 9.3. Kết luận</vt:lpstr>
      <vt:lpstr>Danh mục tham khảo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Minh Le Van</dc:creator>
  <cp:lastModifiedBy>Minh Le Van</cp:lastModifiedBy>
  <cp:revision>13</cp:revision>
  <dcterms:created xsi:type="dcterms:W3CDTF">2026-02-09T06:18:02Z</dcterms:created>
  <dcterms:modified xsi:type="dcterms:W3CDTF">2026-02-23T16:24:01Z</dcterms:modified>
</cp:coreProperties>
</file>